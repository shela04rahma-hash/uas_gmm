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4" r:id="rId9"/>
    <p:sldId id="265" r:id="rId10"/>
    <p:sldId id="266" r:id="rId11"/>
    <p:sldId id="277" r:id="rId12"/>
    <p:sldId id="278" r:id="rId13"/>
    <p:sldId id="279" r:id="rId14"/>
    <p:sldId id="280" r:id="rId15"/>
    <p:sldId id="281" r:id="rId16"/>
    <p:sldId id="282" r:id="rId17"/>
    <p:sldId id="283" r:id="rId18"/>
    <p:sldId id="284" r:id="rId19"/>
    <p:sldId id="274" r:id="rId20"/>
    <p:sldId id="275" r:id="rId21"/>
    <p:sldId id="276" r:id="rId22"/>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2" name="Shape 0"/>
          <p:cNvSpPr/>
          <p:nvPr/>
        </p:nvSpPr>
        <p:spPr>
          <a:xfrm>
            <a:off x="-1371600" y="-1371600"/>
            <a:ext cx="6400800" cy="6400800"/>
          </a:xfrm>
          <a:prstGeom prst="ellipse">
            <a:avLst/>
          </a:prstGeom>
          <a:solidFill>
            <a:srgbClr val="4C1D95">
              <a:alpha val="25000"/>
            </a:srgbClr>
          </a:solidFill>
          <a:ln w="12700">
            <a:solidFill>
              <a:srgbClr val="000000">
                <a:alpha val="0"/>
              </a:srgbClr>
            </a:solidFill>
            <a:prstDash val="solid"/>
          </a:ln>
        </p:spPr>
      </p:sp>
      <p:sp>
        <p:nvSpPr>
          <p:cNvPr id="3" name="Shape 1"/>
          <p:cNvSpPr/>
          <p:nvPr/>
        </p:nvSpPr>
        <p:spPr>
          <a:xfrm>
            <a:off x="5486400" y="1828800"/>
            <a:ext cx="4572000" cy="4572000"/>
          </a:xfrm>
          <a:prstGeom prst="ellipse">
            <a:avLst/>
          </a:prstGeom>
          <a:solidFill>
            <a:srgbClr val="7C3AED">
              <a:alpha val="15000"/>
            </a:srgbClr>
          </a:solidFill>
          <a:ln w="12700">
            <a:solidFill>
              <a:srgbClr val="000000">
                <a:alpha val="0"/>
              </a:srgbClr>
            </a:solidFill>
            <a:prstDash val="solid"/>
          </a:ln>
        </p:spPr>
      </p:sp>
      <p:sp>
        <p:nvSpPr>
          <p:cNvPr id="4" name="Text 2"/>
          <p:cNvSpPr/>
          <p:nvPr/>
        </p:nvSpPr>
        <p:spPr>
          <a:xfrm>
            <a:off x="457200" y="274320"/>
            <a:ext cx="8229600" cy="274320"/>
          </a:xfrm>
          <a:prstGeom prst="rect">
            <a:avLst/>
          </a:prstGeom>
          <a:noFill/>
        </p:spPr>
        <p:txBody>
          <a:bodyPr wrap="square" lIns="0" tIns="0" rIns="0" bIns="0" rtlCol="0" anchor="ctr"/>
          <a:lstStyle/>
          <a:p>
            <a:pPr marL="0" indent="0" algn="ctr">
              <a:buNone/>
            </a:pPr>
            <a:r>
              <a:rPr lang="en-US" sz="900" kern="0" spc="300" dirty="0">
                <a:solidFill>
                  <a:srgbClr val="A78BFA"/>
                </a:solidFill>
                <a:latin typeface="Calibri" panose="020F0502020204030204" pitchFamily="34" charset="0"/>
                <a:ea typeface="Calibri" panose="020F0502020204030204" pitchFamily="34" charset="-122"/>
                <a:cs typeface="Calibri" panose="020F0502020204030204" pitchFamily="34" charset="-120"/>
              </a:rPr>
              <a:t>SIDANG SKRIPSI · PROGRAM STUDI TEKNIK INFORMATIKA</a:t>
            </a:r>
            <a:endParaRPr lang="en-US" sz="900" dirty="0"/>
          </a:p>
        </p:txBody>
      </p:sp>
      <p:sp>
        <p:nvSpPr>
          <p:cNvPr id="5" name="Shape 3"/>
          <p:cNvSpPr/>
          <p:nvPr/>
        </p:nvSpPr>
        <p:spPr>
          <a:xfrm>
            <a:off x="4114800" y="640080"/>
            <a:ext cx="1005840" cy="1005840"/>
          </a:xfrm>
          <a:prstGeom prst="roundRect">
            <a:avLst>
              <a:gd name="adj" fmla="val 50000"/>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6" name="Text 4"/>
          <p:cNvSpPr/>
          <p:nvPr/>
        </p:nvSpPr>
        <p:spPr>
          <a:xfrm>
            <a:off x="4114800" y="640080"/>
            <a:ext cx="1005840" cy="1005840"/>
          </a:xfrm>
          <a:prstGeom prst="rect">
            <a:avLst/>
          </a:prstGeom>
          <a:noFill/>
        </p:spPr>
        <p:txBody>
          <a:bodyPr wrap="square" lIns="0" tIns="0" rIns="0" bIns="0" rtlCol="0" anchor="ctr"/>
          <a:lstStyle/>
          <a:p>
            <a:pPr marL="0" indent="0" algn="ctr">
              <a:buNone/>
            </a:pPr>
            <a:r>
              <a:rPr lang="en-US" sz="3600" b="1" dirty="0">
                <a:solidFill>
                  <a:srgbClr val="A78BFA"/>
                </a:solidFill>
                <a:latin typeface="Cambria" panose="02040503050406030204" pitchFamily="34" charset="0"/>
                <a:ea typeface="Cambria" panose="02040503050406030204" pitchFamily="34" charset="-122"/>
                <a:cs typeface="Cambria" panose="02040503050406030204" pitchFamily="34" charset="-120"/>
              </a:rPr>
              <a:t>U</a:t>
            </a:r>
            <a:endParaRPr lang="en-US" sz="3600" dirty="0"/>
          </a:p>
        </p:txBody>
      </p:sp>
      <p:sp>
        <p:nvSpPr>
          <p:cNvPr id="7" name="Text 5"/>
          <p:cNvSpPr/>
          <p:nvPr/>
        </p:nvSpPr>
        <p:spPr>
          <a:xfrm>
            <a:off x="457200" y="1828800"/>
            <a:ext cx="8229600" cy="594360"/>
          </a:xfrm>
          <a:prstGeom prst="rect">
            <a:avLst/>
          </a:prstGeom>
          <a:noFill/>
        </p:spPr>
        <p:txBody>
          <a:bodyPr wrap="square" lIns="0" tIns="0" rIns="0" bIns="0" rtlCol="0" anchor="ctr"/>
          <a:lstStyle/>
          <a:p>
            <a:pPr marL="0" indent="0" algn="ctr">
              <a:buNone/>
            </a:pPr>
            <a:r>
              <a:rPr lang="en-US" sz="3000" b="1" dirty="0">
                <a:solidFill>
                  <a:srgbClr val="F5F3FF"/>
                </a:solidFill>
                <a:latin typeface="Cambria" panose="02040503050406030204" pitchFamily="34" charset="0"/>
                <a:ea typeface="Cambria" panose="02040503050406030204" pitchFamily="34" charset="-122"/>
                <a:cs typeface="Cambria" panose="02040503050406030204" pitchFamily="34" charset="-120"/>
              </a:rPr>
              <a:t>SEGMENTASI PELANGGAN MALL</a:t>
            </a:r>
            <a:endParaRPr lang="en-US" sz="3000" dirty="0"/>
          </a:p>
        </p:txBody>
      </p:sp>
      <p:sp>
        <p:nvSpPr>
          <p:cNvPr id="8" name="Text 6"/>
          <p:cNvSpPr/>
          <p:nvPr/>
        </p:nvSpPr>
        <p:spPr>
          <a:xfrm>
            <a:off x="457200" y="2395728"/>
            <a:ext cx="8229600" cy="457200"/>
          </a:xfrm>
          <a:prstGeom prst="rect">
            <a:avLst/>
          </a:prstGeom>
          <a:noFill/>
        </p:spPr>
        <p:txBody>
          <a:bodyPr wrap="square" lIns="0" tIns="0" rIns="0" bIns="0" rtlCol="0" anchor="ctr"/>
          <a:lstStyle/>
          <a:p>
            <a:pPr marL="0" indent="0" algn="ctr">
              <a:buNone/>
            </a:pPr>
            <a:r>
              <a:rPr lang="en-US" sz="2200" b="1" dirty="0">
                <a:solidFill>
                  <a:srgbClr val="A78BFA"/>
                </a:solidFill>
                <a:latin typeface="Cambria" panose="02040503050406030204" pitchFamily="34" charset="0"/>
                <a:ea typeface="Cambria" panose="02040503050406030204" pitchFamily="34" charset="-122"/>
                <a:cs typeface="Cambria" panose="02040503050406030204" pitchFamily="34" charset="-120"/>
              </a:rPr>
              <a:t>MENGGUNAKAN GAUSSIAN MIXTURE MODEL (GMM)</a:t>
            </a:r>
            <a:endParaRPr lang="en-US" sz="2200" dirty="0"/>
          </a:p>
        </p:txBody>
      </p:sp>
      <p:sp>
        <p:nvSpPr>
          <p:cNvPr id="9" name="Text 7"/>
          <p:cNvSpPr/>
          <p:nvPr/>
        </p:nvSpPr>
        <p:spPr>
          <a:xfrm>
            <a:off x="457200" y="2852928"/>
            <a:ext cx="8229600" cy="320040"/>
          </a:xfrm>
          <a:prstGeom prst="rect">
            <a:avLst/>
          </a:prstGeom>
          <a:noFill/>
        </p:spPr>
        <p:txBody>
          <a:bodyPr wrap="square" lIns="0" tIns="0" rIns="0" bIns="0" rtlCol="0" anchor="ctr"/>
          <a:lstStyle/>
          <a:p>
            <a:pPr marL="0" indent="0" algn="ctr">
              <a:buNone/>
            </a:pPr>
            <a:r>
              <a:rPr lang="en-US" sz="1300" i="1" dirty="0">
                <a:solidFill>
                  <a:srgbClr val="6D6D8A"/>
                </a:solidFill>
                <a:latin typeface="Calibri" panose="020F0502020204030204" pitchFamily="34" charset="0"/>
                <a:ea typeface="Calibri" panose="020F0502020204030204" pitchFamily="34" charset="-122"/>
                <a:cs typeface="Calibri" panose="020F0502020204030204" pitchFamily="34" charset="-120"/>
              </a:rPr>
              <a:t>Berdasarkan Usia, Pendapatan Tahunan, dan Skor Pengeluaran</a:t>
            </a:r>
            <a:endParaRPr lang="en-US" sz="1300" dirty="0"/>
          </a:p>
        </p:txBody>
      </p:sp>
      <p:sp>
        <p:nvSpPr>
          <p:cNvPr id="10" name="Shape 8"/>
          <p:cNvSpPr/>
          <p:nvPr/>
        </p:nvSpPr>
        <p:spPr>
          <a:xfrm>
            <a:off x="2286000" y="3291840"/>
            <a:ext cx="4572000" cy="27432"/>
          </a:xfrm>
          <a:prstGeom prst="rect">
            <a:avLst/>
          </a:prstGeom>
          <a:solidFill>
            <a:srgbClr val="7C3AED">
              <a:alpha val="70000"/>
            </a:srgbClr>
          </a:solidFill>
          <a:ln w="12700">
            <a:solidFill>
              <a:srgbClr val="000000">
                <a:alpha val="0"/>
              </a:srgbClr>
            </a:solidFill>
            <a:prstDash val="solid"/>
          </a:ln>
        </p:spPr>
      </p:sp>
      <p:sp>
        <p:nvSpPr>
          <p:cNvPr id="11" name="Shape 9"/>
          <p:cNvSpPr/>
          <p:nvPr/>
        </p:nvSpPr>
        <p:spPr>
          <a:xfrm>
            <a:off x="2103120" y="3456432"/>
            <a:ext cx="4937760" cy="1234440"/>
          </a:xfrm>
          <a:prstGeom prst="roundRect">
            <a:avLst>
              <a:gd name="adj" fmla="val 7407"/>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2" name="Text 10"/>
          <p:cNvSpPr/>
          <p:nvPr/>
        </p:nvSpPr>
        <p:spPr>
          <a:xfrm>
            <a:off x="2103120" y="3456432"/>
            <a:ext cx="4937760" cy="1234440"/>
          </a:xfrm>
          <a:prstGeom prst="rect">
            <a:avLst/>
          </a:prstGeom>
          <a:noFill/>
        </p:spPr>
        <p:txBody>
          <a:bodyPr wrap="square" rtlCol="0" anchor="ctr"/>
          <a:lstStyle/>
          <a:p>
            <a:pPr marL="0" indent="0" algn="ctr">
              <a:buNone/>
            </a:pPr>
            <a:r>
              <a:rPr lang="en-US" sz="1100" b="1" dirty="0">
                <a:solidFill>
                  <a:srgbClr val="F5F3FF"/>
                </a:solidFill>
                <a:latin typeface="Calibri" panose="020F0502020204030204" pitchFamily="34" charset="0"/>
                <a:ea typeface="Calibri" panose="020F0502020204030204" pitchFamily="34" charset="-122"/>
                <a:cs typeface="Calibri" panose="020F0502020204030204" pitchFamily="34" charset="-120"/>
              </a:rPr>
              <a:t>Shela Rahma Fitri</a:t>
            </a:r>
            <a:endParaRPr lang="en-US" sz="1100" dirty="0"/>
          </a:p>
          <a:p>
            <a:pPr marL="0" indent="0" algn="ctr">
              <a:buNone/>
            </a:pPr>
            <a:r>
              <a:rPr lang="en-US" sz="1100" dirty="0">
                <a:solidFill>
                  <a:srgbClr val="A78BFA"/>
                </a:solidFill>
                <a:latin typeface="Calibri" panose="020F0502020204030204" pitchFamily="34" charset="0"/>
                <a:ea typeface="Calibri" panose="020F0502020204030204" pitchFamily="34" charset="-122"/>
                <a:cs typeface="Calibri" panose="020F0502020204030204" pitchFamily="34" charset="-120"/>
              </a:rPr>
              <a:t>NIM: 24260012</a:t>
            </a:r>
            <a:endParaRPr lang="en-US" sz="1100" dirty="0"/>
          </a:p>
          <a:p>
            <a:pPr marL="0" indent="0" algn="ctr">
              <a:buNone/>
            </a:pPr>
            <a:r>
              <a:rPr lang="en-US" sz="1100" dirty="0">
                <a:solidFill>
                  <a:srgbClr val="6D6D8A"/>
                </a:solidFill>
                <a:latin typeface="Calibri" panose="020F0502020204030204" pitchFamily="34" charset="0"/>
                <a:ea typeface="Calibri" panose="020F0502020204030204" pitchFamily="34" charset="-122"/>
                <a:cs typeface="Calibri" panose="020F0502020204030204" pitchFamily="34" charset="-120"/>
              </a:rPr>
              <a:t>Teknik Informatika · Fakultas Teknik dan Ilmu Komputer</a:t>
            </a:r>
            <a:endParaRPr lang="en-US" sz="1100" dirty="0"/>
          </a:p>
          <a:p>
            <a:pPr marL="0" indent="0" algn="ctr">
              <a:buNone/>
            </a:pPr>
            <a:r>
              <a:rPr lang="en-US" sz="1100" dirty="0">
                <a:solidFill>
                  <a:srgbClr val="6D6D8A"/>
                </a:solidFill>
                <a:latin typeface="Calibri" panose="020F0502020204030204" pitchFamily="34" charset="0"/>
                <a:ea typeface="Calibri" panose="020F0502020204030204" pitchFamily="34" charset="-122"/>
                <a:cs typeface="Calibri" panose="020F0502020204030204" pitchFamily="34" charset="-120"/>
              </a:rPr>
              <a:t>Universitas Nahdlatul Ulama Indonesia · Bogor· 2026</a:t>
            </a:r>
            <a:endParaRPr lang="en-US" sz="1100" dirty="0"/>
          </a:p>
        </p:txBody>
      </p:sp>
      <p:sp>
        <p:nvSpPr>
          <p:cNvPr id="13" name="Shape 11"/>
          <p:cNvSpPr/>
          <p:nvPr/>
        </p:nvSpPr>
        <p:spPr>
          <a:xfrm>
            <a:off x="8503920" y="182880"/>
            <a:ext cx="54864" cy="54864"/>
          </a:xfrm>
          <a:prstGeom prst="ellipse">
            <a:avLst/>
          </a:prstGeom>
          <a:solidFill>
            <a:srgbClr val="A78BFA">
              <a:alpha val="60000"/>
            </a:srgbClr>
          </a:solidFill>
          <a:ln w="12700">
            <a:solidFill>
              <a:srgbClr val="000000">
                <a:alpha val="0"/>
              </a:srgbClr>
            </a:solidFill>
            <a:prstDash val="solid"/>
          </a:ln>
        </p:spPr>
      </p:sp>
      <p:sp>
        <p:nvSpPr>
          <p:cNvPr id="14" name="Shape 12"/>
          <p:cNvSpPr/>
          <p:nvPr/>
        </p:nvSpPr>
        <p:spPr>
          <a:xfrm>
            <a:off x="8686800" y="457200"/>
            <a:ext cx="54864" cy="54864"/>
          </a:xfrm>
          <a:prstGeom prst="ellipse">
            <a:avLst/>
          </a:prstGeom>
          <a:solidFill>
            <a:srgbClr val="A78BFA">
              <a:alpha val="60000"/>
            </a:srgbClr>
          </a:solidFill>
          <a:ln w="12700">
            <a:solidFill>
              <a:srgbClr val="000000">
                <a:alpha val="0"/>
              </a:srgbClr>
            </a:solidFill>
            <a:prstDash val="solid"/>
          </a:ln>
        </p:spPr>
      </p:sp>
      <p:sp>
        <p:nvSpPr>
          <p:cNvPr id="15" name="Shape 13"/>
          <p:cNvSpPr/>
          <p:nvPr/>
        </p:nvSpPr>
        <p:spPr>
          <a:xfrm>
            <a:off x="8321040" y="502920"/>
            <a:ext cx="54864" cy="54864"/>
          </a:xfrm>
          <a:prstGeom prst="ellipse">
            <a:avLst/>
          </a:prstGeom>
          <a:solidFill>
            <a:srgbClr val="A78BFA">
              <a:alpha val="60000"/>
            </a:srgbClr>
          </a:solidFill>
          <a:ln w="12700">
            <a:solidFill>
              <a:srgbClr val="000000">
                <a:alpha val="0"/>
              </a:srgbClr>
            </a:solidFill>
            <a:prstDash val="solid"/>
          </a:ln>
        </p:spPr>
      </p:sp>
      <p:sp>
        <p:nvSpPr>
          <p:cNvPr id="16" name="Shape 14"/>
          <p:cNvSpPr/>
          <p:nvPr/>
        </p:nvSpPr>
        <p:spPr>
          <a:xfrm>
            <a:off x="274320" y="4572000"/>
            <a:ext cx="54864" cy="54864"/>
          </a:xfrm>
          <a:prstGeom prst="ellipse">
            <a:avLst/>
          </a:prstGeom>
          <a:solidFill>
            <a:srgbClr val="A78BFA">
              <a:alpha val="60000"/>
            </a:srgbClr>
          </a:solidFill>
          <a:ln w="12700">
            <a:solidFill>
              <a:srgbClr val="000000">
                <a:alpha val="0"/>
              </a:srgbClr>
            </a:solidFill>
            <a:prstDash val="solid"/>
          </a:ln>
        </p:spPr>
      </p:sp>
      <p:sp>
        <p:nvSpPr>
          <p:cNvPr id="17" name="Shape 15"/>
          <p:cNvSpPr/>
          <p:nvPr/>
        </p:nvSpPr>
        <p:spPr>
          <a:xfrm>
            <a:off x="137160" y="4846320"/>
            <a:ext cx="54864" cy="54864"/>
          </a:xfrm>
          <a:prstGeom prst="ellipse">
            <a:avLst/>
          </a:prstGeom>
          <a:solidFill>
            <a:srgbClr val="A78BFA">
              <a:alpha val="60000"/>
            </a:srgbClr>
          </a:solidFill>
          <a:ln w="12700">
            <a:solidFill>
              <a:srgbClr val="000000">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3" name="Shape 1"/>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4" name="Text 2"/>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Outline Presentasi</a:t>
            </a:r>
            <a:endParaRPr lang="en-US" sz="2200" dirty="0"/>
          </a:p>
        </p:txBody>
      </p:sp>
      <p:sp>
        <p:nvSpPr>
          <p:cNvPr id="5" name="Shape 3"/>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6" name="Shape 4"/>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7" name="Text 5"/>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750" dirty="0"/>
          </a:p>
        </p:txBody>
      </p:sp>
      <p:sp>
        <p:nvSpPr>
          <p:cNvPr id="8" name="Text 6"/>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2</a:t>
            </a:r>
            <a:endParaRPr lang="en-US" sz="750" dirty="0"/>
          </a:p>
        </p:txBody>
      </p:sp>
      <p:sp>
        <p:nvSpPr>
          <p:cNvPr id="9" name="Shape 7"/>
          <p:cNvSpPr/>
          <p:nvPr/>
        </p:nvSpPr>
        <p:spPr>
          <a:xfrm>
            <a:off x="365760" y="868680"/>
            <a:ext cx="4206240" cy="804672"/>
          </a:xfrm>
          <a:prstGeom prst="roundRect">
            <a:avLst>
              <a:gd name="adj" fmla="val 11364"/>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0" name="Text 8"/>
          <p:cNvSpPr/>
          <p:nvPr/>
        </p:nvSpPr>
        <p:spPr>
          <a:xfrm>
            <a:off x="475488" y="868680"/>
            <a:ext cx="502920" cy="804672"/>
          </a:xfrm>
          <a:prstGeom prst="rect">
            <a:avLst/>
          </a:prstGeom>
          <a:noFill/>
        </p:spPr>
        <p:txBody>
          <a:bodyPr wrap="square" lIns="0" tIns="0" rIns="0" bIns="0" rtlCol="0" anchor="ctr"/>
          <a:lstStyle/>
          <a:p>
            <a:pPr marL="0" indent="0" algn="ctr">
              <a:buNone/>
            </a:pPr>
            <a:r>
              <a:rPr lang="en-US" sz="1800" b="1" dirty="0">
                <a:solidFill>
                  <a:srgbClr val="7C3AED"/>
                </a:solidFill>
                <a:latin typeface="Cambria" panose="02040503050406030204" pitchFamily="34" charset="0"/>
                <a:ea typeface="Cambria" panose="02040503050406030204" pitchFamily="34" charset="-122"/>
                <a:cs typeface="Cambria" panose="02040503050406030204" pitchFamily="34" charset="-120"/>
              </a:rPr>
              <a:t>01</a:t>
            </a:r>
            <a:endParaRPr lang="en-US" sz="1800" dirty="0"/>
          </a:p>
        </p:txBody>
      </p:sp>
      <p:sp>
        <p:nvSpPr>
          <p:cNvPr id="11" name="Text 9"/>
          <p:cNvSpPr/>
          <p:nvPr/>
        </p:nvSpPr>
        <p:spPr>
          <a:xfrm>
            <a:off x="1024128" y="868680"/>
            <a:ext cx="3429000" cy="804672"/>
          </a:xfrm>
          <a:prstGeom prst="rect">
            <a:avLst/>
          </a:prstGeom>
          <a:noFill/>
        </p:spPr>
        <p:txBody>
          <a:bodyPr wrap="square" rtlCol="0" anchor="ctr"/>
          <a:lstStyle/>
          <a:p>
            <a:pPr marL="0" indent="0">
              <a:buNone/>
            </a:pPr>
            <a:r>
              <a:rPr lang="en-US" sz="1150" b="1" dirty="0">
                <a:solidFill>
                  <a:srgbClr val="F5F3FF"/>
                </a:solidFill>
                <a:latin typeface="Calibri" panose="020F0502020204030204" pitchFamily="34" charset="0"/>
                <a:ea typeface="Calibri" panose="020F0502020204030204" pitchFamily="34" charset="-122"/>
                <a:cs typeface="Calibri" panose="020F0502020204030204" pitchFamily="34" charset="-120"/>
              </a:rPr>
              <a:t>Pendahuluan</a:t>
            </a:r>
            <a:endParaRPr lang="en-US" sz="115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Latar belakang, rumusan &amp; tujuan</a:t>
            </a:r>
            <a:endParaRPr lang="en-US" sz="1150" dirty="0"/>
          </a:p>
        </p:txBody>
      </p:sp>
      <p:sp>
        <p:nvSpPr>
          <p:cNvPr id="12" name="Shape 10"/>
          <p:cNvSpPr/>
          <p:nvPr/>
        </p:nvSpPr>
        <p:spPr>
          <a:xfrm>
            <a:off x="365760" y="1828800"/>
            <a:ext cx="4206240" cy="804672"/>
          </a:xfrm>
          <a:prstGeom prst="roundRect">
            <a:avLst>
              <a:gd name="adj" fmla="val 11364"/>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3" name="Text 11"/>
          <p:cNvSpPr/>
          <p:nvPr/>
        </p:nvSpPr>
        <p:spPr>
          <a:xfrm>
            <a:off x="475488" y="1828800"/>
            <a:ext cx="502920" cy="804672"/>
          </a:xfrm>
          <a:prstGeom prst="rect">
            <a:avLst/>
          </a:prstGeom>
          <a:noFill/>
        </p:spPr>
        <p:txBody>
          <a:bodyPr wrap="square" lIns="0" tIns="0" rIns="0" bIns="0" rtlCol="0" anchor="ctr"/>
          <a:lstStyle/>
          <a:p>
            <a:pPr marL="0" indent="0" algn="ctr">
              <a:buNone/>
            </a:pPr>
            <a:r>
              <a:rPr lang="en-US" sz="1800" b="1" dirty="0">
                <a:solidFill>
                  <a:srgbClr val="7C3AED"/>
                </a:solidFill>
                <a:latin typeface="Cambria" panose="02040503050406030204" pitchFamily="34" charset="0"/>
                <a:ea typeface="Cambria" panose="02040503050406030204" pitchFamily="34" charset="-122"/>
                <a:cs typeface="Cambria" panose="02040503050406030204" pitchFamily="34" charset="-120"/>
              </a:rPr>
              <a:t>02</a:t>
            </a:r>
            <a:endParaRPr lang="en-US" sz="1800" dirty="0"/>
          </a:p>
        </p:txBody>
      </p:sp>
      <p:sp>
        <p:nvSpPr>
          <p:cNvPr id="14" name="Text 12"/>
          <p:cNvSpPr/>
          <p:nvPr/>
        </p:nvSpPr>
        <p:spPr>
          <a:xfrm>
            <a:off x="1024128" y="1828800"/>
            <a:ext cx="3429000" cy="804672"/>
          </a:xfrm>
          <a:prstGeom prst="rect">
            <a:avLst/>
          </a:prstGeom>
          <a:noFill/>
        </p:spPr>
        <p:txBody>
          <a:bodyPr wrap="square" rtlCol="0" anchor="ctr"/>
          <a:lstStyle/>
          <a:p>
            <a:pPr marL="0" indent="0">
              <a:buNone/>
            </a:pPr>
            <a:r>
              <a:rPr lang="en-US" sz="1150" b="1" dirty="0">
                <a:solidFill>
                  <a:srgbClr val="F5F3FF"/>
                </a:solidFill>
                <a:latin typeface="Calibri" panose="020F0502020204030204" pitchFamily="34" charset="0"/>
                <a:ea typeface="Calibri" panose="020F0502020204030204" pitchFamily="34" charset="-122"/>
                <a:cs typeface="Calibri" panose="020F0502020204030204" pitchFamily="34" charset="-120"/>
              </a:rPr>
              <a:t>Landasan Teori</a:t>
            </a:r>
            <a:endParaRPr lang="en-US" sz="115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Data Mining, GMM, BIC/AIC, Silhouette</a:t>
            </a:r>
            <a:endParaRPr lang="en-US" sz="1150" dirty="0"/>
          </a:p>
        </p:txBody>
      </p:sp>
      <p:sp>
        <p:nvSpPr>
          <p:cNvPr id="15" name="Shape 13"/>
          <p:cNvSpPr/>
          <p:nvPr/>
        </p:nvSpPr>
        <p:spPr>
          <a:xfrm>
            <a:off x="365760" y="2788920"/>
            <a:ext cx="4206240" cy="804672"/>
          </a:xfrm>
          <a:prstGeom prst="roundRect">
            <a:avLst>
              <a:gd name="adj" fmla="val 11364"/>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6" name="Text 14"/>
          <p:cNvSpPr/>
          <p:nvPr/>
        </p:nvSpPr>
        <p:spPr>
          <a:xfrm>
            <a:off x="475488" y="2788920"/>
            <a:ext cx="502920" cy="804672"/>
          </a:xfrm>
          <a:prstGeom prst="rect">
            <a:avLst/>
          </a:prstGeom>
          <a:noFill/>
        </p:spPr>
        <p:txBody>
          <a:bodyPr wrap="square" lIns="0" tIns="0" rIns="0" bIns="0" rtlCol="0" anchor="ctr"/>
          <a:lstStyle/>
          <a:p>
            <a:pPr marL="0" indent="0" algn="ctr">
              <a:buNone/>
            </a:pPr>
            <a:r>
              <a:rPr lang="en-US" sz="1800" b="1" dirty="0">
                <a:solidFill>
                  <a:srgbClr val="7C3AED"/>
                </a:solidFill>
                <a:latin typeface="Cambria" panose="02040503050406030204" pitchFamily="34" charset="0"/>
                <a:ea typeface="Cambria" panose="02040503050406030204" pitchFamily="34" charset="-122"/>
                <a:cs typeface="Cambria" panose="02040503050406030204" pitchFamily="34" charset="-120"/>
              </a:rPr>
              <a:t>03</a:t>
            </a:r>
            <a:endParaRPr lang="en-US" sz="1800" dirty="0"/>
          </a:p>
        </p:txBody>
      </p:sp>
      <p:sp>
        <p:nvSpPr>
          <p:cNvPr id="17" name="Text 15"/>
          <p:cNvSpPr/>
          <p:nvPr/>
        </p:nvSpPr>
        <p:spPr>
          <a:xfrm>
            <a:off x="1024128" y="2788920"/>
            <a:ext cx="3429000" cy="804672"/>
          </a:xfrm>
          <a:prstGeom prst="rect">
            <a:avLst/>
          </a:prstGeom>
          <a:noFill/>
        </p:spPr>
        <p:txBody>
          <a:bodyPr wrap="square" rtlCol="0" anchor="ctr"/>
          <a:lstStyle/>
          <a:p>
            <a:pPr marL="0" indent="0">
              <a:buNone/>
            </a:pPr>
            <a:r>
              <a:rPr lang="en-US" sz="1150" b="1" dirty="0">
                <a:solidFill>
                  <a:srgbClr val="F5F3FF"/>
                </a:solidFill>
                <a:latin typeface="Calibri" panose="020F0502020204030204" pitchFamily="34" charset="0"/>
                <a:ea typeface="Calibri" panose="020F0502020204030204" pitchFamily="34" charset="-122"/>
                <a:cs typeface="Calibri" panose="020F0502020204030204" pitchFamily="34" charset="-120"/>
              </a:rPr>
              <a:t>Dataset &amp; Library</a:t>
            </a:r>
            <a:endParaRPr lang="en-US" sz="115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Mall Customers, Python libraries</a:t>
            </a:r>
            <a:endParaRPr lang="en-US" sz="1150" dirty="0"/>
          </a:p>
        </p:txBody>
      </p:sp>
      <p:sp>
        <p:nvSpPr>
          <p:cNvPr id="18" name="Shape 16"/>
          <p:cNvSpPr/>
          <p:nvPr/>
        </p:nvSpPr>
        <p:spPr>
          <a:xfrm>
            <a:off x="365760" y="3749040"/>
            <a:ext cx="4206240" cy="804672"/>
          </a:xfrm>
          <a:prstGeom prst="roundRect">
            <a:avLst>
              <a:gd name="adj" fmla="val 11364"/>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9" name="Text 17"/>
          <p:cNvSpPr/>
          <p:nvPr/>
        </p:nvSpPr>
        <p:spPr>
          <a:xfrm>
            <a:off x="475488" y="3749040"/>
            <a:ext cx="502920" cy="804672"/>
          </a:xfrm>
          <a:prstGeom prst="rect">
            <a:avLst/>
          </a:prstGeom>
          <a:noFill/>
        </p:spPr>
        <p:txBody>
          <a:bodyPr wrap="square" lIns="0" tIns="0" rIns="0" bIns="0" rtlCol="0" anchor="ctr"/>
          <a:lstStyle/>
          <a:p>
            <a:pPr marL="0" indent="0" algn="ctr">
              <a:buNone/>
            </a:pPr>
            <a:r>
              <a:rPr lang="en-US" sz="1800" b="1" dirty="0">
                <a:solidFill>
                  <a:srgbClr val="7C3AED"/>
                </a:solidFill>
                <a:latin typeface="Cambria" panose="02040503050406030204" pitchFamily="34" charset="0"/>
                <a:ea typeface="Cambria" panose="02040503050406030204" pitchFamily="34" charset="-122"/>
                <a:cs typeface="Cambria" panose="02040503050406030204" pitchFamily="34" charset="-120"/>
              </a:rPr>
              <a:t>04</a:t>
            </a:r>
            <a:endParaRPr lang="en-US" sz="1800" dirty="0"/>
          </a:p>
        </p:txBody>
      </p:sp>
      <p:sp>
        <p:nvSpPr>
          <p:cNvPr id="20" name="Text 18"/>
          <p:cNvSpPr/>
          <p:nvPr/>
        </p:nvSpPr>
        <p:spPr>
          <a:xfrm>
            <a:off x="1024128" y="3749040"/>
            <a:ext cx="3429000" cy="804672"/>
          </a:xfrm>
          <a:prstGeom prst="rect">
            <a:avLst/>
          </a:prstGeom>
          <a:noFill/>
        </p:spPr>
        <p:txBody>
          <a:bodyPr wrap="square" rtlCol="0" anchor="ctr"/>
          <a:lstStyle/>
          <a:p>
            <a:pPr marL="0" indent="0">
              <a:buNone/>
            </a:pPr>
            <a:r>
              <a:rPr lang="en-US" sz="1150" b="1" dirty="0">
                <a:solidFill>
                  <a:srgbClr val="F5F3FF"/>
                </a:solidFill>
                <a:latin typeface="Calibri" panose="020F0502020204030204" pitchFamily="34" charset="0"/>
                <a:ea typeface="Calibri" panose="020F0502020204030204" pitchFamily="34" charset="-122"/>
                <a:cs typeface="Calibri" panose="020F0502020204030204" pitchFamily="34" charset="-120"/>
              </a:rPr>
              <a:t>Metodologi</a:t>
            </a:r>
            <a:endParaRPr lang="en-US" sz="115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Kerangka berpikir &amp; tahapan penelitian</a:t>
            </a:r>
            <a:endParaRPr lang="en-US" sz="1150" dirty="0"/>
          </a:p>
        </p:txBody>
      </p:sp>
      <p:sp>
        <p:nvSpPr>
          <p:cNvPr id="21" name="Shape 19"/>
          <p:cNvSpPr/>
          <p:nvPr/>
        </p:nvSpPr>
        <p:spPr>
          <a:xfrm>
            <a:off x="4754880" y="868680"/>
            <a:ext cx="4206240" cy="804672"/>
          </a:xfrm>
          <a:prstGeom prst="roundRect">
            <a:avLst>
              <a:gd name="adj" fmla="val 11364"/>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22" name="Text 20"/>
          <p:cNvSpPr/>
          <p:nvPr/>
        </p:nvSpPr>
        <p:spPr>
          <a:xfrm>
            <a:off x="4864608" y="868680"/>
            <a:ext cx="502920" cy="804672"/>
          </a:xfrm>
          <a:prstGeom prst="rect">
            <a:avLst/>
          </a:prstGeom>
          <a:noFill/>
        </p:spPr>
        <p:txBody>
          <a:bodyPr wrap="square" lIns="0" tIns="0" rIns="0" bIns="0" rtlCol="0" anchor="ctr"/>
          <a:lstStyle/>
          <a:p>
            <a:pPr marL="0" indent="0" algn="ctr">
              <a:buNone/>
            </a:pPr>
            <a:r>
              <a:rPr lang="en-US" sz="1800" b="1" dirty="0">
                <a:solidFill>
                  <a:srgbClr val="7C3AED"/>
                </a:solidFill>
                <a:latin typeface="Cambria" panose="02040503050406030204" pitchFamily="34" charset="0"/>
                <a:ea typeface="Cambria" panose="02040503050406030204" pitchFamily="34" charset="-122"/>
                <a:cs typeface="Cambria" panose="02040503050406030204" pitchFamily="34" charset="-120"/>
              </a:rPr>
              <a:t>05</a:t>
            </a:r>
            <a:endParaRPr lang="en-US" sz="1800" dirty="0"/>
          </a:p>
        </p:txBody>
      </p:sp>
      <p:sp>
        <p:nvSpPr>
          <p:cNvPr id="23" name="Text 21"/>
          <p:cNvSpPr/>
          <p:nvPr/>
        </p:nvSpPr>
        <p:spPr>
          <a:xfrm>
            <a:off x="5413248" y="868680"/>
            <a:ext cx="3429000" cy="804672"/>
          </a:xfrm>
          <a:prstGeom prst="rect">
            <a:avLst/>
          </a:prstGeom>
          <a:noFill/>
        </p:spPr>
        <p:txBody>
          <a:bodyPr wrap="square" rtlCol="0" anchor="ctr"/>
          <a:lstStyle/>
          <a:p>
            <a:pPr marL="0" indent="0">
              <a:buNone/>
            </a:pPr>
            <a:r>
              <a:rPr lang="en-US" sz="1150" b="1" dirty="0">
                <a:solidFill>
                  <a:srgbClr val="F5F3FF"/>
                </a:solidFill>
                <a:latin typeface="Calibri" panose="020F0502020204030204" pitchFamily="34" charset="0"/>
                <a:ea typeface="Calibri" panose="020F0502020204030204" pitchFamily="34" charset="-122"/>
                <a:cs typeface="Calibri" panose="020F0502020204030204" pitchFamily="34" charset="-120"/>
              </a:rPr>
              <a:t>Implementasi GMM (8 Tahap)</a:t>
            </a:r>
            <a:endParaRPr lang="en-US" sz="115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Notebook: import s.d. hasil GMM</a:t>
            </a:r>
            <a:endParaRPr lang="en-US" sz="1150" dirty="0"/>
          </a:p>
        </p:txBody>
      </p:sp>
      <p:sp>
        <p:nvSpPr>
          <p:cNvPr id="24" name="Shape 22"/>
          <p:cNvSpPr/>
          <p:nvPr/>
        </p:nvSpPr>
        <p:spPr>
          <a:xfrm>
            <a:off x="4754880" y="1828800"/>
            <a:ext cx="4206240" cy="804672"/>
          </a:xfrm>
          <a:prstGeom prst="roundRect">
            <a:avLst>
              <a:gd name="adj" fmla="val 11364"/>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25" name="Text 23"/>
          <p:cNvSpPr/>
          <p:nvPr/>
        </p:nvSpPr>
        <p:spPr>
          <a:xfrm>
            <a:off x="4864608" y="1828800"/>
            <a:ext cx="502920" cy="804672"/>
          </a:xfrm>
          <a:prstGeom prst="rect">
            <a:avLst/>
          </a:prstGeom>
          <a:noFill/>
        </p:spPr>
        <p:txBody>
          <a:bodyPr wrap="square" lIns="0" tIns="0" rIns="0" bIns="0" rtlCol="0" anchor="ctr"/>
          <a:lstStyle/>
          <a:p>
            <a:pPr marL="0" indent="0" algn="ctr">
              <a:buNone/>
            </a:pPr>
            <a:r>
              <a:rPr lang="en-US" sz="1800" b="1" dirty="0">
                <a:solidFill>
                  <a:srgbClr val="7C3AED"/>
                </a:solidFill>
                <a:latin typeface="Cambria" panose="02040503050406030204" pitchFamily="34" charset="0"/>
                <a:ea typeface="Cambria" panose="02040503050406030204" pitchFamily="34" charset="-122"/>
                <a:cs typeface="Cambria" panose="02040503050406030204" pitchFamily="34" charset="-120"/>
              </a:rPr>
              <a:t>06</a:t>
            </a:r>
            <a:endParaRPr lang="en-US" sz="1800" dirty="0"/>
          </a:p>
        </p:txBody>
      </p:sp>
      <p:sp>
        <p:nvSpPr>
          <p:cNvPr id="26" name="Text 24"/>
          <p:cNvSpPr/>
          <p:nvPr/>
        </p:nvSpPr>
        <p:spPr>
          <a:xfrm>
            <a:off x="5413248" y="1828800"/>
            <a:ext cx="3429000" cy="804672"/>
          </a:xfrm>
          <a:prstGeom prst="rect">
            <a:avLst/>
          </a:prstGeom>
          <a:noFill/>
        </p:spPr>
        <p:txBody>
          <a:bodyPr wrap="square" rtlCol="0" anchor="ctr"/>
          <a:lstStyle/>
          <a:p>
            <a:pPr marL="0" indent="0">
              <a:buNone/>
            </a:pPr>
            <a:r>
              <a:rPr lang="en-US" sz="1150" b="1" dirty="0">
                <a:solidFill>
                  <a:srgbClr val="F5F3FF"/>
                </a:solidFill>
                <a:latin typeface="Calibri" panose="020F0502020204030204" pitchFamily="34" charset="0"/>
                <a:ea typeface="Calibri" panose="020F0502020204030204" pitchFamily="34" charset="-122"/>
                <a:cs typeface="Calibri" panose="020F0502020204030204" pitchFamily="34" charset="-120"/>
              </a:rPr>
              <a:t>Hasil &amp; Analisis</a:t>
            </a:r>
            <a:endParaRPr lang="en-US" sz="115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Clustering, evaluasi, interpretasi</a:t>
            </a:r>
            <a:endParaRPr lang="en-US" sz="1150" dirty="0"/>
          </a:p>
        </p:txBody>
      </p:sp>
      <p:sp>
        <p:nvSpPr>
          <p:cNvPr id="27" name="Shape 25"/>
          <p:cNvSpPr/>
          <p:nvPr/>
        </p:nvSpPr>
        <p:spPr>
          <a:xfrm>
            <a:off x="4754880" y="2788920"/>
            <a:ext cx="4206240" cy="804672"/>
          </a:xfrm>
          <a:prstGeom prst="roundRect">
            <a:avLst>
              <a:gd name="adj" fmla="val 11364"/>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28" name="Text 26"/>
          <p:cNvSpPr/>
          <p:nvPr/>
        </p:nvSpPr>
        <p:spPr>
          <a:xfrm>
            <a:off x="4864608" y="2788920"/>
            <a:ext cx="502920" cy="804672"/>
          </a:xfrm>
          <a:prstGeom prst="rect">
            <a:avLst/>
          </a:prstGeom>
          <a:noFill/>
        </p:spPr>
        <p:txBody>
          <a:bodyPr wrap="square" lIns="0" tIns="0" rIns="0" bIns="0" rtlCol="0" anchor="ctr"/>
          <a:lstStyle/>
          <a:p>
            <a:pPr marL="0" indent="0" algn="ctr">
              <a:buNone/>
            </a:pPr>
            <a:r>
              <a:rPr lang="en-US" sz="1800" b="1" dirty="0">
                <a:solidFill>
                  <a:srgbClr val="7C3AED"/>
                </a:solidFill>
                <a:latin typeface="Cambria" panose="02040503050406030204" pitchFamily="34" charset="0"/>
                <a:ea typeface="Cambria" panose="02040503050406030204" pitchFamily="34" charset="-122"/>
                <a:cs typeface="Cambria" panose="02040503050406030204" pitchFamily="34" charset="-120"/>
              </a:rPr>
              <a:t>07</a:t>
            </a:r>
            <a:endParaRPr lang="en-US" sz="1800" dirty="0"/>
          </a:p>
        </p:txBody>
      </p:sp>
      <p:sp>
        <p:nvSpPr>
          <p:cNvPr id="29" name="Text 27"/>
          <p:cNvSpPr/>
          <p:nvPr/>
        </p:nvSpPr>
        <p:spPr>
          <a:xfrm>
            <a:off x="5413248" y="2788920"/>
            <a:ext cx="3429000" cy="804672"/>
          </a:xfrm>
          <a:prstGeom prst="rect">
            <a:avLst/>
          </a:prstGeom>
          <a:noFill/>
        </p:spPr>
        <p:txBody>
          <a:bodyPr wrap="square" rtlCol="0" anchor="ctr"/>
          <a:lstStyle/>
          <a:p>
            <a:pPr marL="0" indent="0">
              <a:buNone/>
            </a:pPr>
            <a:r>
              <a:rPr lang="en-US" sz="1150" b="1" dirty="0">
                <a:solidFill>
                  <a:srgbClr val="F5F3FF"/>
                </a:solidFill>
                <a:latin typeface="Calibri" panose="020F0502020204030204" pitchFamily="34" charset="0"/>
                <a:ea typeface="Calibri" panose="020F0502020204030204" pitchFamily="34" charset="-122"/>
                <a:cs typeface="Calibri" panose="020F0502020204030204" pitchFamily="34" charset="-120"/>
              </a:rPr>
              <a:t>Kesimpulan &amp; Saran</a:t>
            </a:r>
            <a:endParaRPr lang="en-US" sz="115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Temuan utama &amp; rekomendasi</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3" name="Shape 1"/>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4" name="Text 2"/>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Latar Belakang</a:t>
            </a:r>
            <a:endParaRPr lang="en-US" sz="2200" dirty="0"/>
          </a:p>
        </p:txBody>
      </p:sp>
      <p:sp>
        <p:nvSpPr>
          <p:cNvPr id="5" name="Shape 3"/>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6" name="Shape 4"/>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7" name="Text 5"/>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750" dirty="0"/>
          </a:p>
        </p:txBody>
      </p:sp>
      <p:sp>
        <p:nvSpPr>
          <p:cNvPr id="8" name="Text 6"/>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3</a:t>
            </a:r>
            <a:endParaRPr lang="en-US" sz="750" dirty="0"/>
          </a:p>
        </p:txBody>
      </p:sp>
      <p:sp>
        <p:nvSpPr>
          <p:cNvPr id="9" name="Shape 7"/>
          <p:cNvSpPr/>
          <p:nvPr/>
        </p:nvSpPr>
        <p:spPr>
          <a:xfrm>
            <a:off x="274320" y="804672"/>
            <a:ext cx="4572000" cy="3977640"/>
          </a:xfrm>
          <a:prstGeom prst="roundRect">
            <a:avLst>
              <a:gd name="adj" fmla="val 2299"/>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0" name="Text 8"/>
          <p:cNvSpPr/>
          <p:nvPr/>
        </p:nvSpPr>
        <p:spPr>
          <a:xfrm>
            <a:off x="274320" y="804672"/>
            <a:ext cx="4572000" cy="3977640"/>
          </a:xfrm>
          <a:prstGeom prst="rect">
            <a:avLst/>
          </a:prstGeom>
          <a:noFill/>
        </p:spPr>
        <p:txBody>
          <a:bodyPr wrap="square" lIns="177800" tIns="177800" rIns="177800" bIns="101600" rtlCol="0" anchor="t"/>
          <a:lstStyle/>
          <a:p>
            <a:pPr marL="0" indent="0">
              <a:buNone/>
            </a:pPr>
            <a:r>
              <a:rPr lang="en-US" sz="1300" b="1" dirty="0">
                <a:solidFill>
                  <a:srgbClr val="A78BFA"/>
                </a:solidFill>
                <a:latin typeface="Calibri" panose="020F0502020204030204" pitchFamily="34" charset="0"/>
                <a:ea typeface="Calibri" panose="020F0502020204030204" pitchFamily="34" charset="-122"/>
                <a:cs typeface="Calibri" panose="020F0502020204030204" pitchFamily="34" charset="-120"/>
              </a:rPr>
              <a:t>Mengapa Segmentasi Pelanggan Penting?
</a:t>
            </a:r>
            <a:endParaRPr lang="en-US" sz="13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Industri ritel, termasuk mall, menghadapi persaingan ketat karena pelanggan memiliki usia, pendapatan, dan pola pengeluaran yang sangat beragam. Strategi pemasaran yang seragam menjadi kurang efektif dalam menjangkau kebutuhan tiap kelompok pelanggan (Kotler &amp; Keller, 2016).
</a:t>
            </a:r>
            <a:endParaRPr lang="en-US" sz="1300" dirty="0"/>
          </a:p>
          <a:p>
            <a:pPr marL="0" indent="0">
              <a:buNone/>
            </a:pPr>
            <a:r>
              <a:rPr lang="en-US" sz="1050" b="1" dirty="0">
                <a:solidFill>
                  <a:srgbClr val="A78BFA"/>
                </a:solidFill>
                <a:latin typeface="Calibri" panose="020F0502020204030204" pitchFamily="34" charset="0"/>
                <a:ea typeface="Calibri" panose="020F0502020204030204" pitchFamily="34" charset="-122"/>
                <a:cs typeface="Calibri" panose="020F0502020204030204" pitchFamily="34" charset="-120"/>
              </a:rPr>
              <a:t>Segmentasi pelanggan</a:t>
            </a: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 memungkinkan pengelompokan pelanggan berdasarkan kesamaan karakteristik sehingga setiap kelompok dapat diperlakukan dengan strategi yang berbeda (Tsiptsis &amp; Chorianopoulos, 2011).
</a:t>
            </a:r>
            <a:endParaRPr lang="en-US" sz="1300" dirty="0"/>
          </a:p>
          <a:p>
            <a:pPr marL="0" indent="0">
              <a:buNone/>
            </a:pPr>
            <a:r>
              <a:rPr lang="en-US" sz="1050" b="1" dirty="0">
                <a:solidFill>
                  <a:srgbClr val="A78BFA"/>
                </a:solidFill>
                <a:latin typeface="Calibri" panose="020F0502020204030204" pitchFamily="34" charset="0"/>
                <a:ea typeface="Calibri" panose="020F0502020204030204" pitchFamily="34" charset="-122"/>
                <a:cs typeface="Calibri" panose="020F0502020204030204" pitchFamily="34" charset="-120"/>
              </a:rPr>
              <a:t>Teknik clustering</a:t>
            </a: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 dalam data mining mampu menemukan pola tersembunyi tanpa memerlukan label kelas (Han et al., 2012).</a:t>
            </a:r>
            <a:endParaRPr lang="en-US" sz="1300" dirty="0"/>
          </a:p>
        </p:txBody>
      </p:sp>
      <p:sp>
        <p:nvSpPr>
          <p:cNvPr id="11" name="Shape 9"/>
          <p:cNvSpPr/>
          <p:nvPr/>
        </p:nvSpPr>
        <p:spPr>
          <a:xfrm>
            <a:off x="5047488" y="804672"/>
            <a:ext cx="3822192" cy="1170432"/>
          </a:xfrm>
          <a:prstGeom prst="roundRect">
            <a:avLst>
              <a:gd name="adj" fmla="val 7813"/>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2" name="Text 10"/>
          <p:cNvSpPr/>
          <p:nvPr/>
        </p:nvSpPr>
        <p:spPr>
          <a:xfrm>
            <a:off x="5138928" y="804672"/>
            <a:ext cx="777240" cy="1170432"/>
          </a:xfrm>
          <a:prstGeom prst="rect">
            <a:avLst/>
          </a:prstGeom>
          <a:noFill/>
        </p:spPr>
        <p:txBody>
          <a:bodyPr wrap="square" lIns="0" tIns="0" rIns="0" bIns="0" rtlCol="0" anchor="ctr"/>
          <a:lstStyle/>
          <a:p>
            <a:pPr marL="0" indent="0" algn="ctr">
              <a:buNone/>
            </a:pPr>
            <a:r>
              <a:rPr lang="en-US" sz="950" b="1" dirty="0">
                <a:solidFill>
                  <a:srgbClr val="C4B5FD"/>
                </a:solidFill>
                <a:latin typeface="Calibri" panose="020F0502020204030204" pitchFamily="34" charset="0"/>
                <a:ea typeface="Calibri" panose="020F0502020204030204" pitchFamily="34" charset="-122"/>
                <a:cs typeface="Calibri" panose="020F0502020204030204" pitchFamily="34" charset="-120"/>
              </a:rPr>
              <a:t>K-Means ⚠</a:t>
            </a:r>
            <a:endParaRPr lang="en-US" sz="950" dirty="0"/>
          </a:p>
        </p:txBody>
      </p:sp>
      <p:sp>
        <p:nvSpPr>
          <p:cNvPr id="13" name="Shape 11"/>
          <p:cNvSpPr/>
          <p:nvPr/>
        </p:nvSpPr>
        <p:spPr>
          <a:xfrm>
            <a:off x="5925312" y="987552"/>
            <a:ext cx="18288" cy="804672"/>
          </a:xfrm>
          <a:prstGeom prst="rect">
            <a:avLst/>
          </a:prstGeom>
          <a:solidFill>
            <a:srgbClr val="7C3AED">
              <a:alpha val="50000"/>
            </a:srgbClr>
          </a:solidFill>
          <a:ln w="12700">
            <a:solidFill>
              <a:srgbClr val="000000">
                <a:alpha val="0"/>
              </a:srgbClr>
            </a:solidFill>
            <a:prstDash val="solid"/>
          </a:ln>
        </p:spPr>
      </p:sp>
      <p:sp>
        <p:nvSpPr>
          <p:cNvPr id="14" name="Text 12"/>
          <p:cNvSpPr/>
          <p:nvPr/>
        </p:nvSpPr>
        <p:spPr>
          <a:xfrm>
            <a:off x="5989320" y="804672"/>
            <a:ext cx="2788920" cy="1170432"/>
          </a:xfrm>
          <a:prstGeom prst="rect">
            <a:avLst/>
          </a:prstGeom>
          <a:noFill/>
        </p:spPr>
        <p:txBody>
          <a:bodyPr wrap="square" lIns="76200" tIns="0" rIns="0" bIns="76200" rtlCol="0" anchor="ctr"/>
          <a:lstStyle/>
          <a:p>
            <a:pPr marL="0" indent="0">
              <a:buNone/>
            </a:pPr>
            <a:r>
              <a:rPr lang="en-US" sz="1050" b="1" dirty="0">
                <a:solidFill>
                  <a:srgbClr val="F5F3FF"/>
                </a:solidFill>
                <a:latin typeface="Calibri" panose="020F0502020204030204" pitchFamily="34" charset="0"/>
                <a:ea typeface="Calibri" panose="020F0502020204030204" pitchFamily="34" charset="-122"/>
                <a:cs typeface="Calibri" panose="020F0502020204030204" pitchFamily="34" charset="-120"/>
              </a:rPr>
              <a:t>Keterbatasan K-Means
</a:t>
            </a:r>
            <a:endParaRPr lang="en-US" sz="1050" dirty="0"/>
          </a:p>
          <a:p>
            <a:pPr marL="0" indent="0">
              <a:buNone/>
            </a:pPr>
            <a:r>
              <a:rPr lang="en-US" sz="950" dirty="0">
                <a:solidFill>
                  <a:srgbClr val="6D6D8A"/>
                </a:solidFill>
                <a:latin typeface="Calibri" panose="020F0502020204030204" pitchFamily="34" charset="0"/>
                <a:ea typeface="Calibri" panose="020F0502020204030204" pitchFamily="34" charset="-122"/>
                <a:cs typeface="Calibri" panose="020F0502020204030204" pitchFamily="34" charset="-120"/>
              </a:rPr>
              <a:t>Mengasumsikan cluster berbentuk spherical, kurang fleksibel untuk distribusi data yang tidak simetris.</a:t>
            </a:r>
            <a:endParaRPr lang="en-US" sz="1050" dirty="0"/>
          </a:p>
        </p:txBody>
      </p:sp>
      <p:sp>
        <p:nvSpPr>
          <p:cNvPr id="15" name="Shape 13"/>
          <p:cNvSpPr/>
          <p:nvPr/>
        </p:nvSpPr>
        <p:spPr>
          <a:xfrm>
            <a:off x="5047488" y="2157984"/>
            <a:ext cx="3822192" cy="1170432"/>
          </a:xfrm>
          <a:prstGeom prst="roundRect">
            <a:avLst>
              <a:gd name="adj" fmla="val 7813"/>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6" name="Text 14"/>
          <p:cNvSpPr/>
          <p:nvPr/>
        </p:nvSpPr>
        <p:spPr>
          <a:xfrm>
            <a:off x="5138928" y="2157984"/>
            <a:ext cx="777240" cy="1170432"/>
          </a:xfrm>
          <a:prstGeom prst="rect">
            <a:avLst/>
          </a:prstGeom>
          <a:noFill/>
        </p:spPr>
        <p:txBody>
          <a:bodyPr wrap="square" lIns="0" tIns="0" rIns="0" bIns="0" rtlCol="0" anchor="ctr"/>
          <a:lstStyle/>
          <a:p>
            <a:pPr marL="0" indent="0" algn="ctr">
              <a:buNone/>
            </a:pPr>
            <a:r>
              <a:rPr lang="en-US" sz="950" b="1" dirty="0">
                <a:solidFill>
                  <a:srgbClr val="C4B5FD"/>
                </a:solidFill>
                <a:latin typeface="Calibri" panose="020F0502020204030204" pitchFamily="34" charset="0"/>
                <a:ea typeface="Calibri" panose="020F0502020204030204" pitchFamily="34" charset="-122"/>
                <a:cs typeface="Calibri" panose="020F0502020204030204" pitchFamily="34" charset="-120"/>
              </a:rPr>
              <a:t>GMM ✓</a:t>
            </a:r>
            <a:endParaRPr lang="en-US" sz="950" dirty="0"/>
          </a:p>
        </p:txBody>
      </p:sp>
      <p:sp>
        <p:nvSpPr>
          <p:cNvPr id="17" name="Shape 15"/>
          <p:cNvSpPr/>
          <p:nvPr/>
        </p:nvSpPr>
        <p:spPr>
          <a:xfrm>
            <a:off x="5925312" y="2340864"/>
            <a:ext cx="18288" cy="804672"/>
          </a:xfrm>
          <a:prstGeom prst="rect">
            <a:avLst/>
          </a:prstGeom>
          <a:solidFill>
            <a:srgbClr val="7C3AED">
              <a:alpha val="50000"/>
            </a:srgbClr>
          </a:solidFill>
          <a:ln w="12700">
            <a:solidFill>
              <a:srgbClr val="000000">
                <a:alpha val="0"/>
              </a:srgbClr>
            </a:solidFill>
            <a:prstDash val="solid"/>
          </a:ln>
        </p:spPr>
      </p:sp>
      <p:sp>
        <p:nvSpPr>
          <p:cNvPr id="18" name="Text 16"/>
          <p:cNvSpPr/>
          <p:nvPr/>
        </p:nvSpPr>
        <p:spPr>
          <a:xfrm>
            <a:off x="5989320" y="2157984"/>
            <a:ext cx="2788920" cy="1170432"/>
          </a:xfrm>
          <a:prstGeom prst="rect">
            <a:avLst/>
          </a:prstGeom>
          <a:noFill/>
        </p:spPr>
        <p:txBody>
          <a:bodyPr wrap="square" lIns="76200" tIns="0" rIns="0" bIns="76200" rtlCol="0" anchor="ctr"/>
          <a:lstStyle/>
          <a:p>
            <a:pPr marL="0" indent="0">
              <a:buNone/>
            </a:pPr>
            <a:r>
              <a:rPr lang="en-US" sz="1050" b="1" dirty="0">
                <a:solidFill>
                  <a:srgbClr val="F5F3FF"/>
                </a:solidFill>
                <a:latin typeface="Calibri" panose="020F0502020204030204" pitchFamily="34" charset="0"/>
                <a:ea typeface="Calibri" panose="020F0502020204030204" pitchFamily="34" charset="-122"/>
                <a:cs typeface="Calibri" panose="020F0502020204030204" pitchFamily="34" charset="-120"/>
              </a:rPr>
              <a:t>Keunggulan GMM
</a:t>
            </a:r>
            <a:endParaRPr lang="en-US" sz="1050" dirty="0"/>
          </a:p>
          <a:p>
            <a:pPr marL="0" indent="0">
              <a:buNone/>
            </a:pPr>
            <a:r>
              <a:rPr lang="en-US" sz="950" dirty="0">
                <a:solidFill>
                  <a:srgbClr val="6D6D8A"/>
                </a:solidFill>
                <a:latin typeface="Calibri" panose="020F0502020204030204" pitchFamily="34" charset="0"/>
                <a:ea typeface="Calibri" panose="020F0502020204030204" pitchFamily="34" charset="-122"/>
                <a:cs typeface="Calibri" panose="020F0502020204030204" pitchFamily="34" charset="-120"/>
              </a:rPr>
              <a:t>Clustering probabilistik berbasis distribusi Gaussian, mampu menangkap bentuk cluster yang lebih variatif.</a:t>
            </a:r>
            <a:endParaRPr lang="en-US" sz="1050" dirty="0"/>
          </a:p>
        </p:txBody>
      </p:sp>
      <p:sp>
        <p:nvSpPr>
          <p:cNvPr id="19" name="Shape 17"/>
          <p:cNvSpPr/>
          <p:nvPr/>
        </p:nvSpPr>
        <p:spPr>
          <a:xfrm>
            <a:off x="5047488" y="3511296"/>
            <a:ext cx="3822192" cy="1170432"/>
          </a:xfrm>
          <a:prstGeom prst="roundRect">
            <a:avLst>
              <a:gd name="adj" fmla="val 7813"/>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20" name="Text 18"/>
          <p:cNvSpPr/>
          <p:nvPr/>
        </p:nvSpPr>
        <p:spPr>
          <a:xfrm>
            <a:off x="5138928" y="3511296"/>
            <a:ext cx="777240" cy="1170432"/>
          </a:xfrm>
          <a:prstGeom prst="rect">
            <a:avLst/>
          </a:prstGeom>
          <a:noFill/>
        </p:spPr>
        <p:txBody>
          <a:bodyPr wrap="square" lIns="0" tIns="0" rIns="0" bIns="0" rtlCol="0" anchor="ctr"/>
          <a:lstStyle/>
          <a:p>
            <a:pPr marL="0" indent="0" algn="ctr">
              <a:buNone/>
            </a:pPr>
            <a:r>
              <a:rPr lang="en-US" sz="950" b="1" dirty="0">
                <a:solidFill>
                  <a:srgbClr val="C4B5FD"/>
                </a:solidFill>
                <a:latin typeface="Calibri" panose="020F0502020204030204" pitchFamily="34" charset="0"/>
                <a:ea typeface="Calibri" panose="020F0502020204030204" pitchFamily="34" charset="-122"/>
                <a:cs typeface="Calibri" panose="020F0502020204030204" pitchFamily="34" charset="-120"/>
              </a:rPr>
              <a:t>BIC/AIC</a:t>
            </a:r>
            <a:endParaRPr lang="en-US" sz="950" dirty="0"/>
          </a:p>
        </p:txBody>
      </p:sp>
      <p:sp>
        <p:nvSpPr>
          <p:cNvPr id="21" name="Shape 19"/>
          <p:cNvSpPr/>
          <p:nvPr/>
        </p:nvSpPr>
        <p:spPr>
          <a:xfrm>
            <a:off x="5925312" y="3694176"/>
            <a:ext cx="18288" cy="804672"/>
          </a:xfrm>
          <a:prstGeom prst="rect">
            <a:avLst/>
          </a:prstGeom>
          <a:solidFill>
            <a:srgbClr val="7C3AED">
              <a:alpha val="50000"/>
            </a:srgbClr>
          </a:solidFill>
          <a:ln w="12700">
            <a:solidFill>
              <a:srgbClr val="000000">
                <a:alpha val="0"/>
              </a:srgbClr>
            </a:solidFill>
            <a:prstDash val="solid"/>
          </a:ln>
        </p:spPr>
      </p:sp>
      <p:sp>
        <p:nvSpPr>
          <p:cNvPr id="22" name="Text 20"/>
          <p:cNvSpPr/>
          <p:nvPr/>
        </p:nvSpPr>
        <p:spPr>
          <a:xfrm>
            <a:off x="5989320" y="3511296"/>
            <a:ext cx="2788920" cy="1170432"/>
          </a:xfrm>
          <a:prstGeom prst="rect">
            <a:avLst/>
          </a:prstGeom>
          <a:noFill/>
        </p:spPr>
        <p:txBody>
          <a:bodyPr wrap="square" lIns="76200" tIns="0" rIns="0" bIns="76200" rtlCol="0" anchor="ctr"/>
          <a:lstStyle/>
          <a:p>
            <a:pPr marL="0" indent="0">
              <a:buNone/>
            </a:pPr>
            <a:r>
              <a:rPr lang="en-US" sz="1050" b="1" dirty="0">
                <a:solidFill>
                  <a:srgbClr val="F5F3FF"/>
                </a:solidFill>
                <a:latin typeface="Calibri" panose="020F0502020204030204" pitchFamily="34" charset="0"/>
                <a:ea typeface="Calibri" panose="020F0502020204030204" pitchFamily="34" charset="-122"/>
                <a:cs typeface="Calibri" panose="020F0502020204030204" pitchFamily="34" charset="-120"/>
              </a:rPr>
              <a:t>Penentuan Objektif
</a:t>
            </a:r>
            <a:endParaRPr lang="en-US" sz="1050" dirty="0"/>
          </a:p>
          <a:p>
            <a:pPr marL="0" indent="0">
              <a:buNone/>
            </a:pPr>
            <a:r>
              <a:rPr lang="en-US" sz="950" dirty="0">
                <a:solidFill>
                  <a:srgbClr val="6D6D8A"/>
                </a:solidFill>
                <a:latin typeface="Calibri" panose="020F0502020204030204" pitchFamily="34" charset="0"/>
                <a:ea typeface="Calibri" panose="020F0502020204030204" pitchFamily="34" charset="-122"/>
                <a:cs typeface="Calibri" panose="020F0502020204030204" pitchFamily="34" charset="-120"/>
              </a:rPr>
              <a:t>BIC dan AIC memberikan kriteria statistik dalam memilih jumlah cluster optimal secara objektif.</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3" name="Shape 1"/>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4" name="Text 2"/>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Rumusan Masalah</a:t>
            </a:r>
            <a:endParaRPr lang="en-US" sz="2200" dirty="0"/>
          </a:p>
        </p:txBody>
      </p:sp>
      <p:sp>
        <p:nvSpPr>
          <p:cNvPr id="5" name="Shape 3"/>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6" name="Shape 4"/>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7" name="Text 5"/>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750" dirty="0"/>
          </a:p>
        </p:txBody>
      </p:sp>
      <p:sp>
        <p:nvSpPr>
          <p:cNvPr id="8" name="Text 6"/>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4</a:t>
            </a:r>
            <a:endParaRPr lang="en-US" sz="750" dirty="0"/>
          </a:p>
        </p:txBody>
      </p:sp>
      <p:sp>
        <p:nvSpPr>
          <p:cNvPr id="9" name="Shape 7"/>
          <p:cNvSpPr/>
          <p:nvPr/>
        </p:nvSpPr>
        <p:spPr>
          <a:xfrm>
            <a:off x="457200" y="868680"/>
            <a:ext cx="8229600" cy="1143000"/>
          </a:xfrm>
          <a:prstGeom prst="roundRect">
            <a:avLst>
              <a:gd name="adj" fmla="val 96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0" name="Text 8"/>
          <p:cNvSpPr/>
          <p:nvPr/>
        </p:nvSpPr>
        <p:spPr>
          <a:xfrm>
            <a:off x="548640" y="868680"/>
            <a:ext cx="777240" cy="1143000"/>
          </a:xfrm>
          <a:prstGeom prst="rect">
            <a:avLst/>
          </a:prstGeom>
          <a:noFill/>
        </p:spPr>
        <p:txBody>
          <a:bodyPr wrap="square" lIns="0" tIns="0" rIns="0" bIns="0" rtlCol="0" anchor="ctr"/>
          <a:lstStyle/>
          <a:p>
            <a:pPr marL="0" indent="0" algn="ctr">
              <a:buNone/>
            </a:pPr>
            <a:r>
              <a:rPr lang="en-US" sz="2800" b="1" dirty="0">
                <a:solidFill>
                  <a:srgbClr val="7C3AED"/>
                </a:solidFill>
                <a:latin typeface="Cambria" panose="02040503050406030204" pitchFamily="34" charset="0"/>
                <a:ea typeface="Cambria" panose="02040503050406030204" pitchFamily="34" charset="-122"/>
                <a:cs typeface="Cambria" panose="02040503050406030204" pitchFamily="34" charset="-120"/>
              </a:rPr>
              <a:t>01</a:t>
            </a:r>
            <a:endParaRPr lang="en-US" sz="2800" dirty="0"/>
          </a:p>
        </p:txBody>
      </p:sp>
      <p:sp>
        <p:nvSpPr>
          <p:cNvPr id="11" name="Text 9"/>
          <p:cNvSpPr/>
          <p:nvPr/>
        </p:nvSpPr>
        <p:spPr>
          <a:xfrm>
            <a:off x="1481328" y="868680"/>
            <a:ext cx="7040880" cy="1143000"/>
          </a:xfrm>
          <a:prstGeom prst="rect">
            <a:avLst/>
          </a:prstGeom>
          <a:noFill/>
        </p:spPr>
        <p:txBody>
          <a:bodyPr wrap="square" lIns="101600" tIns="0" rIns="0" bIns="101600" rtlCol="0" anchor="ctr"/>
          <a:lstStyle/>
          <a:p>
            <a:pPr marL="0" indent="0">
              <a:buNone/>
            </a:pPr>
            <a:r>
              <a:rPr lang="en-US" sz="1350" b="1" dirty="0">
                <a:solidFill>
                  <a:srgbClr val="F5F3FF"/>
                </a:solidFill>
                <a:latin typeface="Calibri" panose="020F0502020204030204" pitchFamily="34" charset="0"/>
                <a:ea typeface="Calibri" panose="020F0502020204030204" pitchFamily="34" charset="-122"/>
                <a:cs typeface="Calibri" panose="020F0502020204030204" pitchFamily="34" charset="-120"/>
              </a:rPr>
              <a:t>Berapa jumlah cluster optimal untuk segmentasi pelanggan mall?
</a:t>
            </a:r>
            <a:endParaRPr lang="en-US" sz="1350" dirty="0"/>
          </a:p>
          <a:p>
            <a:pPr marL="0" indent="0">
              <a:buNone/>
            </a:pPr>
            <a:r>
              <a:rPr lang="en-US" sz="1050" dirty="0">
                <a:solidFill>
                  <a:srgbClr val="6D6D8A"/>
                </a:solidFill>
                <a:latin typeface="Calibri" panose="020F0502020204030204" pitchFamily="34" charset="0"/>
                <a:ea typeface="Calibri" panose="020F0502020204030204" pitchFamily="34" charset="-122"/>
                <a:cs typeface="Calibri" panose="020F0502020204030204" pitchFamily="34" charset="-120"/>
              </a:rPr>
              <a:t>Berdasarkan fitur usia, pendapatan tahunan, dan skor pengeluaran menggunakan metode GMM.</a:t>
            </a:r>
            <a:endParaRPr lang="en-US" sz="1350" dirty="0"/>
          </a:p>
        </p:txBody>
      </p:sp>
      <p:sp>
        <p:nvSpPr>
          <p:cNvPr id="12" name="Shape 10"/>
          <p:cNvSpPr/>
          <p:nvPr/>
        </p:nvSpPr>
        <p:spPr>
          <a:xfrm>
            <a:off x="457200" y="2194560"/>
            <a:ext cx="8229600" cy="1143000"/>
          </a:xfrm>
          <a:prstGeom prst="roundRect">
            <a:avLst>
              <a:gd name="adj" fmla="val 9600"/>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3" name="Text 11"/>
          <p:cNvSpPr/>
          <p:nvPr/>
        </p:nvSpPr>
        <p:spPr>
          <a:xfrm>
            <a:off x="548640" y="2194560"/>
            <a:ext cx="777240" cy="1143000"/>
          </a:xfrm>
          <a:prstGeom prst="rect">
            <a:avLst/>
          </a:prstGeom>
          <a:noFill/>
        </p:spPr>
        <p:txBody>
          <a:bodyPr wrap="square" lIns="0" tIns="0" rIns="0" bIns="0" rtlCol="0" anchor="ctr"/>
          <a:lstStyle/>
          <a:p>
            <a:pPr marL="0" indent="0" algn="ctr">
              <a:buNone/>
            </a:pPr>
            <a:r>
              <a:rPr lang="en-US" sz="2800" b="1" dirty="0">
                <a:solidFill>
                  <a:srgbClr val="7C3AED"/>
                </a:solidFill>
                <a:latin typeface="Cambria" panose="02040503050406030204" pitchFamily="34" charset="0"/>
                <a:ea typeface="Cambria" panose="02040503050406030204" pitchFamily="34" charset="-122"/>
                <a:cs typeface="Cambria" panose="02040503050406030204" pitchFamily="34" charset="-120"/>
              </a:rPr>
              <a:t>02</a:t>
            </a:r>
            <a:endParaRPr lang="en-US" sz="2800" dirty="0"/>
          </a:p>
        </p:txBody>
      </p:sp>
      <p:sp>
        <p:nvSpPr>
          <p:cNvPr id="14" name="Text 12"/>
          <p:cNvSpPr/>
          <p:nvPr/>
        </p:nvSpPr>
        <p:spPr>
          <a:xfrm>
            <a:off x="1481328" y="2194560"/>
            <a:ext cx="7040880" cy="1143000"/>
          </a:xfrm>
          <a:prstGeom prst="rect">
            <a:avLst/>
          </a:prstGeom>
          <a:noFill/>
        </p:spPr>
        <p:txBody>
          <a:bodyPr wrap="square" lIns="101600" tIns="0" rIns="0" bIns="101600" rtlCol="0" anchor="ctr"/>
          <a:lstStyle/>
          <a:p>
            <a:pPr marL="0" indent="0">
              <a:buNone/>
            </a:pPr>
            <a:r>
              <a:rPr lang="en-US" sz="1350" b="1" dirty="0">
                <a:solidFill>
                  <a:srgbClr val="F5F3FF"/>
                </a:solidFill>
                <a:latin typeface="Calibri" panose="020F0502020204030204" pitchFamily="34" charset="0"/>
                <a:ea typeface="Calibri" panose="020F0502020204030204" pitchFamily="34" charset="-122"/>
                <a:cs typeface="Calibri" panose="020F0502020204030204" pitchFamily="34" charset="-120"/>
              </a:rPr>
              <a:t>Bagaimana karakteristik masing-masing cluster pelanggan?
</a:t>
            </a:r>
            <a:endParaRPr lang="en-US" sz="1350" dirty="0"/>
          </a:p>
          <a:p>
            <a:pPr marL="0" indent="0">
              <a:buNone/>
            </a:pPr>
            <a:r>
              <a:rPr lang="en-US" sz="1050" dirty="0">
                <a:solidFill>
                  <a:srgbClr val="6D6D8A"/>
                </a:solidFill>
                <a:latin typeface="Calibri" panose="020F0502020204030204" pitchFamily="34" charset="0"/>
                <a:ea typeface="Calibri" panose="020F0502020204030204" pitchFamily="34" charset="-122"/>
                <a:cs typeface="Calibri" panose="020F0502020204030204" pitchFamily="34" charset="-120"/>
              </a:rPr>
              <a:t>Analisis rata-rata usia, pendapatan tahunan, dan skor pengeluaran pada tiap cluster yang dihasilkan GMM.</a:t>
            </a:r>
            <a:endParaRPr lang="en-US" sz="1350" dirty="0"/>
          </a:p>
        </p:txBody>
      </p:sp>
      <p:sp>
        <p:nvSpPr>
          <p:cNvPr id="15" name="Shape 13"/>
          <p:cNvSpPr/>
          <p:nvPr/>
        </p:nvSpPr>
        <p:spPr>
          <a:xfrm>
            <a:off x="457200" y="3520440"/>
            <a:ext cx="8229600" cy="1143000"/>
          </a:xfrm>
          <a:prstGeom prst="roundRect">
            <a:avLst>
              <a:gd name="adj" fmla="val 96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6" name="Text 14"/>
          <p:cNvSpPr/>
          <p:nvPr/>
        </p:nvSpPr>
        <p:spPr>
          <a:xfrm>
            <a:off x="548640" y="3520440"/>
            <a:ext cx="777240" cy="1143000"/>
          </a:xfrm>
          <a:prstGeom prst="rect">
            <a:avLst/>
          </a:prstGeom>
          <a:noFill/>
        </p:spPr>
        <p:txBody>
          <a:bodyPr wrap="square" lIns="0" tIns="0" rIns="0" bIns="0" rtlCol="0" anchor="ctr"/>
          <a:lstStyle/>
          <a:p>
            <a:pPr marL="0" indent="0" algn="ctr">
              <a:buNone/>
            </a:pPr>
            <a:r>
              <a:rPr lang="en-US" sz="2800" b="1" dirty="0">
                <a:solidFill>
                  <a:srgbClr val="7C3AED"/>
                </a:solidFill>
                <a:latin typeface="Cambria" panose="02040503050406030204" pitchFamily="34" charset="0"/>
                <a:ea typeface="Cambria" panose="02040503050406030204" pitchFamily="34" charset="-122"/>
                <a:cs typeface="Cambria" panose="02040503050406030204" pitchFamily="34" charset="-120"/>
              </a:rPr>
              <a:t>03</a:t>
            </a:r>
            <a:endParaRPr lang="en-US" sz="2800" dirty="0"/>
          </a:p>
        </p:txBody>
      </p:sp>
      <p:sp>
        <p:nvSpPr>
          <p:cNvPr id="17" name="Text 15"/>
          <p:cNvSpPr/>
          <p:nvPr/>
        </p:nvSpPr>
        <p:spPr>
          <a:xfrm>
            <a:off x="1481328" y="3520440"/>
            <a:ext cx="7040880" cy="1143000"/>
          </a:xfrm>
          <a:prstGeom prst="rect">
            <a:avLst/>
          </a:prstGeom>
          <a:noFill/>
        </p:spPr>
        <p:txBody>
          <a:bodyPr wrap="square" lIns="101600" tIns="0" rIns="0" bIns="101600" rtlCol="0" anchor="ctr"/>
          <a:lstStyle/>
          <a:p>
            <a:pPr marL="0" indent="0">
              <a:buNone/>
            </a:pPr>
            <a:r>
              <a:rPr lang="en-US" sz="1350" b="1" dirty="0">
                <a:solidFill>
                  <a:srgbClr val="F5F3FF"/>
                </a:solidFill>
                <a:latin typeface="Calibri" panose="020F0502020204030204" pitchFamily="34" charset="0"/>
                <a:ea typeface="Calibri" panose="020F0502020204030204" pitchFamily="34" charset="-122"/>
                <a:cs typeface="Calibri" panose="020F0502020204030204" pitchFamily="34" charset="-120"/>
              </a:rPr>
              <a:t>Bagaimana kualitas hasil clustering model GMM?
</a:t>
            </a:r>
            <a:endParaRPr lang="en-US" sz="1350" dirty="0"/>
          </a:p>
          <a:p>
            <a:pPr marL="0" indent="0">
              <a:buNone/>
            </a:pPr>
            <a:r>
              <a:rPr lang="en-US" sz="1050" dirty="0">
                <a:solidFill>
                  <a:srgbClr val="6D6D8A"/>
                </a:solidFill>
                <a:latin typeface="Calibri" panose="020F0502020204030204" pitchFamily="34" charset="0"/>
                <a:ea typeface="Calibri" panose="020F0502020204030204" pitchFamily="34" charset="-122"/>
                <a:cs typeface="Calibri" panose="020F0502020204030204" pitchFamily="34" charset="-120"/>
              </a:rPr>
              <a:t>Evaluasi menggunakan Silhouette Score sebagai metrik evaluasi internal hasil clustering.</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3" name="Shape 1"/>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4" name="Text 2"/>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Tujuan Penelitian</a:t>
            </a:r>
            <a:endParaRPr lang="en-US" sz="2200" dirty="0"/>
          </a:p>
        </p:txBody>
      </p:sp>
      <p:sp>
        <p:nvSpPr>
          <p:cNvPr id="5" name="Shape 3"/>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6" name="Shape 4"/>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7" name="Text 5"/>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750" dirty="0"/>
          </a:p>
        </p:txBody>
      </p:sp>
      <p:sp>
        <p:nvSpPr>
          <p:cNvPr id="8" name="Text 6"/>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5</a:t>
            </a:r>
            <a:endParaRPr lang="en-US" sz="750" dirty="0"/>
          </a:p>
        </p:txBody>
      </p:sp>
      <p:sp>
        <p:nvSpPr>
          <p:cNvPr id="9" name="Shape 7"/>
          <p:cNvSpPr/>
          <p:nvPr/>
        </p:nvSpPr>
        <p:spPr>
          <a:xfrm>
            <a:off x="274320" y="822960"/>
            <a:ext cx="4206240" cy="3977640"/>
          </a:xfrm>
          <a:prstGeom prst="roundRect">
            <a:avLst>
              <a:gd name="adj" fmla="val 2299"/>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0" name="Text 8"/>
          <p:cNvSpPr/>
          <p:nvPr/>
        </p:nvSpPr>
        <p:spPr>
          <a:xfrm>
            <a:off x="274320" y="822960"/>
            <a:ext cx="4206240" cy="384048"/>
          </a:xfrm>
          <a:prstGeom prst="rect">
            <a:avLst/>
          </a:prstGeom>
          <a:noFill/>
        </p:spPr>
        <p:txBody>
          <a:bodyPr wrap="square" lIns="0" tIns="0" rIns="0" bIns="0" rtlCol="0" anchor="ctr"/>
          <a:lstStyle/>
          <a:p>
            <a:pPr marL="0" indent="0" algn="ctr">
              <a:buNone/>
            </a:pPr>
            <a:r>
              <a:rPr lang="en-US" sz="1100" b="1" kern="0" spc="200" dirty="0">
                <a:solidFill>
                  <a:srgbClr val="A78BFA"/>
                </a:solidFill>
                <a:latin typeface="Calibri" panose="020F0502020204030204" pitchFamily="34" charset="0"/>
                <a:ea typeface="Calibri" panose="020F0502020204030204" pitchFamily="34" charset="-122"/>
                <a:cs typeface="Calibri" panose="020F0502020204030204" pitchFamily="34" charset="-120"/>
              </a:rPr>
              <a:t>TUJUAN PENELITIAN</a:t>
            </a:r>
            <a:endParaRPr lang="en-US" sz="1100" dirty="0"/>
          </a:p>
        </p:txBody>
      </p:sp>
      <p:sp>
        <p:nvSpPr>
          <p:cNvPr id="11" name="Shape 9"/>
          <p:cNvSpPr/>
          <p:nvPr/>
        </p:nvSpPr>
        <p:spPr>
          <a:xfrm>
            <a:off x="548640" y="1207008"/>
            <a:ext cx="3657600" cy="22860"/>
          </a:xfrm>
          <a:prstGeom prst="rect">
            <a:avLst/>
          </a:prstGeom>
          <a:solidFill>
            <a:srgbClr val="7C3AED">
              <a:alpha val="50000"/>
            </a:srgbClr>
          </a:solidFill>
          <a:ln w="12700">
            <a:solidFill>
              <a:srgbClr val="000000">
                <a:alpha val="0"/>
              </a:srgbClr>
            </a:solidFill>
            <a:prstDash val="solid"/>
          </a:ln>
        </p:spPr>
      </p:sp>
      <p:sp>
        <p:nvSpPr>
          <p:cNvPr id="12" name="Text 10"/>
          <p:cNvSpPr/>
          <p:nvPr/>
        </p:nvSpPr>
        <p:spPr>
          <a:xfrm>
            <a:off x="457200" y="1325880"/>
            <a:ext cx="457200" cy="914400"/>
          </a:xfrm>
          <a:prstGeom prst="rect">
            <a:avLst/>
          </a:prstGeom>
          <a:noFill/>
        </p:spPr>
        <p:txBody>
          <a:bodyPr wrap="square" lIns="0" tIns="0" rIns="0" bIns="0" rtlCol="0" anchor="ctr"/>
          <a:lstStyle/>
          <a:p>
            <a:pPr marL="0" indent="0" algn="ctr">
              <a:buNone/>
            </a:pPr>
            <a:r>
              <a:rPr lang="en-US" sz="1800" b="1" dirty="0">
                <a:solidFill>
                  <a:srgbClr val="7C3AED"/>
                </a:solidFill>
                <a:latin typeface="Cambria" panose="02040503050406030204" pitchFamily="34" charset="0"/>
                <a:ea typeface="Cambria" panose="02040503050406030204" pitchFamily="34" charset="-122"/>
                <a:cs typeface="Cambria" panose="02040503050406030204" pitchFamily="34" charset="-120"/>
              </a:rPr>
              <a:t>01</a:t>
            </a:r>
            <a:endParaRPr lang="en-US" sz="1800" dirty="0"/>
          </a:p>
        </p:txBody>
      </p:sp>
      <p:sp>
        <p:nvSpPr>
          <p:cNvPr id="13" name="Text 11"/>
          <p:cNvSpPr/>
          <p:nvPr/>
        </p:nvSpPr>
        <p:spPr>
          <a:xfrm>
            <a:off x="960120" y="1325880"/>
            <a:ext cx="3337560" cy="914400"/>
          </a:xfrm>
          <a:prstGeom prst="rect">
            <a:avLst/>
          </a:prstGeom>
          <a:noFill/>
        </p:spPr>
        <p:txBody>
          <a:bodyPr wrap="square" lIns="50800" tIns="0" rIns="0" bIns="50800" rtlCol="0" anchor="ctr"/>
          <a:lstStyle/>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Menentukan jumlah cluster optimal menggunakan nilai BIC dan AIC dari GMM.</a:t>
            </a:r>
            <a:endParaRPr lang="en-US" sz="1050" dirty="0"/>
          </a:p>
        </p:txBody>
      </p:sp>
      <p:sp>
        <p:nvSpPr>
          <p:cNvPr id="14" name="Text 12"/>
          <p:cNvSpPr/>
          <p:nvPr/>
        </p:nvSpPr>
        <p:spPr>
          <a:xfrm>
            <a:off x="457200" y="2423160"/>
            <a:ext cx="457200" cy="914400"/>
          </a:xfrm>
          <a:prstGeom prst="rect">
            <a:avLst/>
          </a:prstGeom>
          <a:noFill/>
        </p:spPr>
        <p:txBody>
          <a:bodyPr wrap="square" lIns="0" tIns="0" rIns="0" bIns="0" rtlCol="0" anchor="ctr"/>
          <a:lstStyle/>
          <a:p>
            <a:pPr marL="0" indent="0" algn="ctr">
              <a:buNone/>
            </a:pPr>
            <a:r>
              <a:rPr lang="en-US" sz="1800" b="1" dirty="0">
                <a:solidFill>
                  <a:srgbClr val="7C3AED"/>
                </a:solidFill>
                <a:latin typeface="Cambria" panose="02040503050406030204" pitchFamily="34" charset="0"/>
                <a:ea typeface="Cambria" panose="02040503050406030204" pitchFamily="34" charset="-122"/>
                <a:cs typeface="Cambria" panose="02040503050406030204" pitchFamily="34" charset="-120"/>
              </a:rPr>
              <a:t>02</a:t>
            </a:r>
            <a:endParaRPr lang="en-US" sz="1800" dirty="0"/>
          </a:p>
        </p:txBody>
      </p:sp>
      <p:sp>
        <p:nvSpPr>
          <p:cNvPr id="15" name="Text 13"/>
          <p:cNvSpPr/>
          <p:nvPr/>
        </p:nvSpPr>
        <p:spPr>
          <a:xfrm>
            <a:off x="960120" y="2423160"/>
            <a:ext cx="3337560" cy="914400"/>
          </a:xfrm>
          <a:prstGeom prst="rect">
            <a:avLst/>
          </a:prstGeom>
          <a:noFill/>
        </p:spPr>
        <p:txBody>
          <a:bodyPr wrap="square" lIns="50800" tIns="0" rIns="0" bIns="50800" rtlCol="0" anchor="ctr"/>
          <a:lstStyle/>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Menganalisis karakteristik masing-masing cluster pelanggan yang dihasilkan model GMM.</a:t>
            </a:r>
            <a:endParaRPr lang="en-US" sz="1050" dirty="0"/>
          </a:p>
        </p:txBody>
      </p:sp>
      <p:sp>
        <p:nvSpPr>
          <p:cNvPr id="16" name="Text 14"/>
          <p:cNvSpPr/>
          <p:nvPr/>
        </p:nvSpPr>
        <p:spPr>
          <a:xfrm>
            <a:off x="457200" y="3520440"/>
            <a:ext cx="457200" cy="914400"/>
          </a:xfrm>
          <a:prstGeom prst="rect">
            <a:avLst/>
          </a:prstGeom>
          <a:noFill/>
        </p:spPr>
        <p:txBody>
          <a:bodyPr wrap="square" lIns="0" tIns="0" rIns="0" bIns="0" rtlCol="0" anchor="ctr"/>
          <a:lstStyle/>
          <a:p>
            <a:pPr marL="0" indent="0" algn="ctr">
              <a:buNone/>
            </a:pPr>
            <a:r>
              <a:rPr lang="en-US" sz="1800" b="1" dirty="0">
                <a:solidFill>
                  <a:srgbClr val="7C3AED"/>
                </a:solidFill>
                <a:latin typeface="Cambria" panose="02040503050406030204" pitchFamily="34" charset="0"/>
                <a:ea typeface="Cambria" panose="02040503050406030204" pitchFamily="34" charset="-122"/>
                <a:cs typeface="Cambria" panose="02040503050406030204" pitchFamily="34" charset="-120"/>
              </a:rPr>
              <a:t>03</a:t>
            </a:r>
            <a:endParaRPr lang="en-US" sz="1800" dirty="0"/>
          </a:p>
        </p:txBody>
      </p:sp>
      <p:sp>
        <p:nvSpPr>
          <p:cNvPr id="17" name="Text 15"/>
          <p:cNvSpPr/>
          <p:nvPr/>
        </p:nvSpPr>
        <p:spPr>
          <a:xfrm>
            <a:off x="960120" y="3520440"/>
            <a:ext cx="3337560" cy="914400"/>
          </a:xfrm>
          <a:prstGeom prst="rect">
            <a:avLst/>
          </a:prstGeom>
          <a:noFill/>
        </p:spPr>
        <p:txBody>
          <a:bodyPr wrap="square" lIns="50800" tIns="0" rIns="0" bIns="50800" rtlCol="0" anchor="ctr"/>
          <a:lstStyle/>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Mengevaluasi kualitas hasil clustering menggunakan Silhouette Score.</a:t>
            </a:r>
            <a:endParaRPr lang="en-US" sz="1050" dirty="0"/>
          </a:p>
        </p:txBody>
      </p:sp>
      <p:sp>
        <p:nvSpPr>
          <p:cNvPr id="18" name="Shape 16"/>
          <p:cNvSpPr/>
          <p:nvPr/>
        </p:nvSpPr>
        <p:spPr>
          <a:xfrm>
            <a:off x="4663440" y="822960"/>
            <a:ext cx="4206240" cy="3977640"/>
          </a:xfrm>
          <a:prstGeom prst="roundRect">
            <a:avLst>
              <a:gd name="adj" fmla="val 2299"/>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9" name="Text 17"/>
          <p:cNvSpPr/>
          <p:nvPr/>
        </p:nvSpPr>
        <p:spPr>
          <a:xfrm>
            <a:off x="4663440" y="822960"/>
            <a:ext cx="4206240" cy="384048"/>
          </a:xfrm>
          <a:prstGeom prst="rect">
            <a:avLst/>
          </a:prstGeom>
          <a:noFill/>
        </p:spPr>
        <p:txBody>
          <a:bodyPr wrap="square" lIns="0" tIns="0" rIns="0" bIns="0" rtlCol="0" anchor="ctr"/>
          <a:lstStyle/>
          <a:p>
            <a:pPr marL="0" indent="0" algn="ctr">
              <a:buNone/>
            </a:pPr>
            <a:r>
              <a:rPr lang="en-US" sz="1100" b="1" kern="0" spc="200" dirty="0">
                <a:solidFill>
                  <a:srgbClr val="A78BFA"/>
                </a:solidFill>
                <a:latin typeface="Calibri" panose="020F0502020204030204" pitchFamily="34" charset="0"/>
                <a:ea typeface="Calibri" panose="020F0502020204030204" pitchFamily="34" charset="-122"/>
                <a:cs typeface="Calibri" panose="020F0502020204030204" pitchFamily="34" charset="-120"/>
              </a:rPr>
              <a:t>MANFAAT PENELITIAN</a:t>
            </a:r>
            <a:endParaRPr lang="en-US" sz="1100" dirty="0"/>
          </a:p>
        </p:txBody>
      </p:sp>
      <p:sp>
        <p:nvSpPr>
          <p:cNvPr id="20" name="Shape 18"/>
          <p:cNvSpPr/>
          <p:nvPr/>
        </p:nvSpPr>
        <p:spPr>
          <a:xfrm>
            <a:off x="4937760" y="1207008"/>
            <a:ext cx="3657600" cy="22860"/>
          </a:xfrm>
          <a:prstGeom prst="rect">
            <a:avLst/>
          </a:prstGeom>
          <a:solidFill>
            <a:srgbClr val="7C3AED">
              <a:alpha val="50000"/>
            </a:srgbClr>
          </a:solidFill>
          <a:ln w="12700">
            <a:solidFill>
              <a:srgbClr val="000000">
                <a:alpha val="0"/>
              </a:srgbClr>
            </a:solidFill>
            <a:prstDash val="solid"/>
          </a:ln>
        </p:spPr>
      </p:sp>
      <p:sp>
        <p:nvSpPr>
          <p:cNvPr id="21" name="Text 19"/>
          <p:cNvSpPr/>
          <p:nvPr/>
        </p:nvSpPr>
        <p:spPr>
          <a:xfrm>
            <a:off x="4754880" y="1325880"/>
            <a:ext cx="457200" cy="914400"/>
          </a:xfrm>
          <a:prstGeom prst="rect">
            <a:avLst/>
          </a:prstGeom>
          <a:noFill/>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2" name="Text 20"/>
          <p:cNvSpPr/>
          <p:nvPr/>
        </p:nvSpPr>
        <p:spPr>
          <a:xfrm>
            <a:off x="5257800" y="1325880"/>
            <a:ext cx="3474720" cy="914400"/>
          </a:xfrm>
          <a:prstGeom prst="rect">
            <a:avLst/>
          </a:prstGeom>
          <a:noFill/>
        </p:spPr>
        <p:txBody>
          <a:bodyPr wrap="square" lIns="50800" tIns="0" rIns="0" bIns="50800" rtlCol="0" anchor="ctr"/>
          <a:lstStyle/>
          <a:p>
            <a:pPr marL="0" indent="0">
              <a:buNone/>
            </a:pPr>
            <a:r>
              <a:rPr lang="en-US" sz="1050" b="1" dirty="0">
                <a:solidFill>
                  <a:srgbClr val="A78BFA"/>
                </a:solidFill>
                <a:latin typeface="Calibri" panose="020F0502020204030204" pitchFamily="34" charset="0"/>
                <a:ea typeface="Calibri" panose="020F0502020204030204" pitchFamily="34" charset="-122"/>
                <a:cs typeface="Calibri" panose="020F0502020204030204" pitchFamily="34" charset="-120"/>
              </a:rPr>
              <a:t>Manajemen Mall
</a:t>
            </a:r>
            <a:endParaRPr lang="en-US" sz="1050" dirty="0"/>
          </a:p>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Dasar penyusunan strategi pemasaran yang lebih tepat sasaran bagi setiap kelompok pelanggan.</a:t>
            </a:r>
            <a:endParaRPr lang="en-US" sz="1050" dirty="0"/>
          </a:p>
        </p:txBody>
      </p:sp>
      <p:sp>
        <p:nvSpPr>
          <p:cNvPr id="23" name="Text 21"/>
          <p:cNvSpPr/>
          <p:nvPr/>
        </p:nvSpPr>
        <p:spPr>
          <a:xfrm>
            <a:off x="4754880" y="2423160"/>
            <a:ext cx="457200" cy="914400"/>
          </a:xfrm>
          <a:prstGeom prst="rect">
            <a:avLst/>
          </a:prstGeom>
          <a:noFill/>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4" name="Text 22"/>
          <p:cNvSpPr/>
          <p:nvPr/>
        </p:nvSpPr>
        <p:spPr>
          <a:xfrm>
            <a:off x="5257800" y="2423160"/>
            <a:ext cx="3474720" cy="914400"/>
          </a:xfrm>
          <a:prstGeom prst="rect">
            <a:avLst/>
          </a:prstGeom>
          <a:noFill/>
        </p:spPr>
        <p:txBody>
          <a:bodyPr wrap="square" lIns="50800" tIns="0" rIns="0" bIns="50800" rtlCol="0" anchor="ctr"/>
          <a:lstStyle/>
          <a:p>
            <a:pPr marL="0" indent="0">
              <a:buNone/>
            </a:pPr>
            <a:r>
              <a:rPr lang="en-US" sz="1050" b="1" dirty="0">
                <a:solidFill>
                  <a:srgbClr val="A78BFA"/>
                </a:solidFill>
                <a:latin typeface="Calibri" panose="020F0502020204030204" pitchFamily="34" charset="0"/>
                <a:ea typeface="Calibri" panose="020F0502020204030204" pitchFamily="34" charset="-122"/>
                <a:cs typeface="Calibri" panose="020F0502020204030204" pitchFamily="34" charset="-120"/>
              </a:rPr>
              <a:t>Akademisi
</a:t>
            </a:r>
            <a:endParaRPr lang="en-US" sz="1050" dirty="0"/>
          </a:p>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Referensi tambahan penerapan metode GMM dalam permasalahan segmentasi pelanggan.</a:t>
            </a:r>
            <a:endParaRPr lang="en-US" sz="1050" dirty="0"/>
          </a:p>
        </p:txBody>
      </p:sp>
      <p:sp>
        <p:nvSpPr>
          <p:cNvPr id="25" name="Text 23"/>
          <p:cNvSpPr/>
          <p:nvPr/>
        </p:nvSpPr>
        <p:spPr>
          <a:xfrm>
            <a:off x="4754880" y="3520440"/>
            <a:ext cx="457200" cy="914400"/>
          </a:xfrm>
          <a:prstGeom prst="rect">
            <a:avLst/>
          </a:prstGeom>
          <a:noFill/>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6" name="Text 24"/>
          <p:cNvSpPr/>
          <p:nvPr/>
        </p:nvSpPr>
        <p:spPr>
          <a:xfrm>
            <a:off x="5257800" y="3520440"/>
            <a:ext cx="3474720" cy="914400"/>
          </a:xfrm>
          <a:prstGeom prst="rect">
            <a:avLst/>
          </a:prstGeom>
          <a:noFill/>
        </p:spPr>
        <p:txBody>
          <a:bodyPr wrap="square" lIns="50800" tIns="0" rIns="0" bIns="50800" rtlCol="0" anchor="ctr"/>
          <a:lstStyle/>
          <a:p>
            <a:pPr marL="0" indent="0">
              <a:buNone/>
            </a:pPr>
            <a:r>
              <a:rPr lang="en-US" sz="1050" b="1" dirty="0">
                <a:solidFill>
                  <a:srgbClr val="A78BFA"/>
                </a:solidFill>
                <a:latin typeface="Calibri" panose="020F0502020204030204" pitchFamily="34" charset="0"/>
                <a:ea typeface="Calibri" panose="020F0502020204030204" pitchFamily="34" charset="-122"/>
                <a:cs typeface="Calibri" panose="020F0502020204030204" pitchFamily="34" charset="-120"/>
              </a:rPr>
              <a:t>Penulis
</a:t>
            </a:r>
            <a:endParaRPr lang="en-US" sz="1050" dirty="0"/>
          </a:p>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Memperdalam pemahaman teknik clustering berbasis probabilistik pada permasalahan nyata data mining.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3" name="Shape 1"/>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4" name="Text 2"/>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Dataset Mall Customers</a:t>
            </a:r>
            <a:endParaRPr lang="en-US" sz="2200" dirty="0"/>
          </a:p>
        </p:txBody>
      </p:sp>
      <p:sp>
        <p:nvSpPr>
          <p:cNvPr id="5" name="Shape 3"/>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6" name="Shape 4"/>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7" name="Text 5"/>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750" dirty="0"/>
          </a:p>
        </p:txBody>
      </p:sp>
      <p:sp>
        <p:nvSpPr>
          <p:cNvPr id="8" name="Text 6"/>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6</a:t>
            </a:r>
            <a:endParaRPr lang="en-US" sz="750" dirty="0"/>
          </a:p>
        </p:txBody>
      </p:sp>
      <p:sp>
        <p:nvSpPr>
          <p:cNvPr id="9" name="Shape 7"/>
          <p:cNvSpPr/>
          <p:nvPr/>
        </p:nvSpPr>
        <p:spPr>
          <a:xfrm>
            <a:off x="274320" y="804672"/>
            <a:ext cx="8595360" cy="1005840"/>
          </a:xfrm>
          <a:prstGeom prst="roundRect">
            <a:avLst>
              <a:gd name="adj" fmla="val 9091"/>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0" name="Text 8"/>
          <p:cNvSpPr/>
          <p:nvPr/>
        </p:nvSpPr>
        <p:spPr>
          <a:xfrm>
            <a:off x="274320" y="804672"/>
            <a:ext cx="8595360" cy="1005840"/>
          </a:xfrm>
          <a:prstGeom prst="rect">
            <a:avLst/>
          </a:prstGeom>
          <a:noFill/>
        </p:spPr>
        <p:txBody>
          <a:bodyPr wrap="square" lIns="101600" tIns="177800" rIns="177800" bIns="101600" rtlCol="0" anchor="ctr"/>
          <a:lstStyle/>
          <a:p>
            <a:pPr marL="0" indent="0">
              <a:buNone/>
            </a:pPr>
            <a:r>
              <a:rPr lang="en-US" sz="1100" dirty="0">
                <a:solidFill>
                  <a:srgbClr val="F5F3FF"/>
                </a:solidFill>
                <a:latin typeface="Calibri" panose="020F0502020204030204" pitchFamily="34" charset="0"/>
                <a:ea typeface="Calibri" panose="020F0502020204030204" pitchFamily="34" charset="-122"/>
                <a:cs typeface="Calibri" panose="020F0502020204030204" pitchFamily="34" charset="-120"/>
              </a:rPr>
              <a:t>Dataset Mall Customers diperoleh dari platform Kaggle — terdiri atas 200 data pelanggan dengan 5 atribut. Tidak ditemukan nilai kosong (missing value) sehingga dataset dapat langsung digunakan tanpa proses imputasi.</a:t>
            </a:r>
            <a:endParaRPr lang="en-US" sz="1100" dirty="0"/>
          </a:p>
        </p:txBody>
      </p:sp>
      <p:graphicFrame>
        <p:nvGraphicFramePr>
          <p:cNvPr id="11" name="Table 0"/>
          <p:cNvGraphicFramePr>
            <a:graphicFrameLocks noGrp="1"/>
          </p:cNvGraphicFramePr>
          <p:nvPr/>
        </p:nvGraphicFramePr>
        <p:xfrm>
          <a:off x="274320" y="1938528"/>
          <a:ext cx="8595360" cy="2286000"/>
        </p:xfrm>
        <a:graphic>
          <a:graphicData uri="http://schemas.openxmlformats.org/drawingml/2006/table">
            <a:tbl>
              <a:tblPr/>
              <a:tblGrid>
                <a:gridCol w="2560320"/>
                <a:gridCol w="1645920"/>
                <a:gridCol w="1371600"/>
                <a:gridCol w="3017520"/>
              </a:tblGrid>
              <a:tr h="381000">
                <a:tc>
                  <a:txBody>
                    <a:bodyPr/>
                    <a:lstStyle/>
                    <a:p>
                      <a:pPr marL="0" indent="0" algn="ctr">
                        <a:buNone/>
                      </a:pPr>
                      <a:r>
                        <a:rPr lang="en-US" sz="1100" b="1" dirty="0">
                          <a:solidFill>
                            <a:srgbClr val="F5F3FF"/>
                          </a:solidFill>
                          <a:latin typeface="Calibri" panose="020F0502020204030204" pitchFamily="34" charset="0"/>
                          <a:ea typeface="Calibri" panose="020F0502020204030204" pitchFamily="34" charset="-122"/>
                          <a:cs typeface="Calibri" panose="020F0502020204030204" pitchFamily="34" charset="-120"/>
                        </a:rPr>
                        <a:t>Atribut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7C3AED"/>
                    </a:solidFill>
                  </a:tcPr>
                </a:tc>
                <a:tc>
                  <a:txBody>
                    <a:bodyPr/>
                    <a:lstStyle/>
                    <a:p>
                      <a:pPr marL="0" indent="0" algn="ctr">
                        <a:buNone/>
                      </a:pPr>
                      <a:r>
                        <a:rPr lang="en-US" sz="1100" b="1" dirty="0">
                          <a:solidFill>
                            <a:srgbClr val="F5F3FF"/>
                          </a:solidFill>
                          <a:latin typeface="Calibri" panose="020F0502020204030204" pitchFamily="34" charset="0"/>
                          <a:ea typeface="Calibri" panose="020F0502020204030204" pitchFamily="34" charset="-122"/>
                          <a:cs typeface="Calibri" panose="020F0502020204030204" pitchFamily="34" charset="-120"/>
                        </a:rPr>
                        <a:t>Tipe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7C3AED"/>
                    </a:solidFill>
                  </a:tcPr>
                </a:tc>
                <a:tc>
                  <a:txBody>
                    <a:bodyPr/>
                    <a:lstStyle/>
                    <a:p>
                      <a:pPr marL="0" indent="0" algn="ctr">
                        <a:buNone/>
                      </a:pPr>
                      <a:r>
                        <a:rPr lang="en-US" sz="1100" b="1" dirty="0">
                          <a:solidFill>
                            <a:srgbClr val="F5F3FF"/>
                          </a:solidFill>
                          <a:latin typeface="Calibri" panose="020F0502020204030204" pitchFamily="34" charset="0"/>
                          <a:ea typeface="Calibri" panose="020F0502020204030204" pitchFamily="34" charset="-122"/>
                          <a:cs typeface="Calibri" panose="020F0502020204030204" pitchFamily="34" charset="-120"/>
                        </a:rPr>
                        <a:t>Digunakan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7C3AED"/>
                    </a:solidFill>
                  </a:tcPr>
                </a:tc>
                <a:tc>
                  <a:txBody>
                    <a:bodyPr/>
                    <a:lstStyle/>
                    <a:p>
                      <a:pPr marL="0" indent="0" algn="ctr">
                        <a:buNone/>
                      </a:pPr>
                      <a:r>
                        <a:rPr lang="en-US" sz="1100" b="1" dirty="0">
                          <a:solidFill>
                            <a:srgbClr val="F5F3FF"/>
                          </a:solidFill>
                          <a:latin typeface="Calibri" panose="020F0502020204030204" pitchFamily="34" charset="0"/>
                          <a:ea typeface="Calibri" panose="020F0502020204030204" pitchFamily="34" charset="-122"/>
                          <a:cs typeface="Calibri" panose="020F0502020204030204" pitchFamily="34" charset="-120"/>
                        </a:rPr>
                        <a:t>Keterangan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7C3AED"/>
                    </a:solidFill>
                  </a:tcPr>
                </a:tc>
              </a:tr>
              <a:tr h="381000">
                <a:tc>
                  <a:txBody>
                    <a:bodyPr/>
                    <a:lstStyle/>
                    <a:p>
                      <a:pPr marL="0" indent="0" algn="l">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CustomerID</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3102A"/>
                    </a:solidFill>
                  </a:tcPr>
                </a:tc>
                <a:tc>
                  <a:txBody>
                    <a:bodyPr/>
                    <a:lstStyle/>
                    <a:p>
                      <a:pPr marL="0" indent="0" algn="ctr">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Integer</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3102A"/>
                    </a:solidFill>
                  </a:tcPr>
                </a:tc>
                <a:tc>
                  <a:txBody>
                    <a:bodyPr/>
                    <a:lstStyle/>
                    <a:p>
                      <a:pPr marL="0" indent="0" algn="ctr">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Tidak</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3102A"/>
                    </a:solidFill>
                  </a:tcPr>
                </a:tc>
                <a:tc>
                  <a:txBody>
                    <a:bodyPr/>
                    <a:lstStyle/>
                    <a:p>
                      <a:pPr marL="0" indent="0" algn="ctr">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Identitas unik pelanggan</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3102A"/>
                    </a:solidFill>
                  </a:tcPr>
                </a:tc>
              </a:tr>
              <a:tr h="381000">
                <a:tc>
                  <a:txBody>
                    <a:bodyPr/>
                    <a:lstStyle/>
                    <a:p>
                      <a:pPr marL="0" indent="0" algn="l">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Gender</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E1540"/>
                    </a:solidFill>
                  </a:tcPr>
                </a:tc>
                <a:tc>
                  <a:txBody>
                    <a:bodyPr/>
                    <a:lstStyle/>
                    <a:p>
                      <a:pPr marL="0" indent="0" algn="ctr">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Categorical</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E1540"/>
                    </a:solidFill>
                  </a:tcPr>
                </a:tc>
                <a:tc>
                  <a:txBody>
                    <a:bodyPr/>
                    <a:lstStyle/>
                    <a:p>
                      <a:pPr marL="0" indent="0" algn="ctr">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Tidak</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E1540"/>
                    </a:solidFill>
                  </a:tcPr>
                </a:tc>
                <a:tc>
                  <a:txBody>
                    <a:bodyPr/>
                    <a:lstStyle/>
                    <a:p>
                      <a:pPr marL="0" indent="0" algn="ctr">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Jenis kelamin pelanggan</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E1540"/>
                    </a:solidFill>
                  </a:tcPr>
                </a:tc>
              </a:tr>
              <a:tr h="381000">
                <a:tc>
                  <a:txBody>
                    <a:bodyPr/>
                    <a:lstStyle/>
                    <a:p>
                      <a:pPr marL="0" indent="0" algn="l">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Age</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3102A"/>
                    </a:solidFill>
                  </a:tcPr>
                </a:tc>
                <a:tc>
                  <a:txBody>
                    <a:bodyPr/>
                    <a:lstStyle/>
                    <a:p>
                      <a:pPr marL="0" indent="0" algn="ctr">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Integer</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3102A"/>
                    </a:solidFill>
                  </a:tcPr>
                </a:tc>
                <a:tc>
                  <a:txBody>
                    <a:bodyPr/>
                    <a:lstStyle/>
                    <a:p>
                      <a:pPr marL="0" indent="0" algn="ctr">
                        <a:buNone/>
                      </a:pPr>
                      <a:r>
                        <a:rPr lang="en-US" sz="1050" b="1" dirty="0">
                          <a:solidFill>
                            <a:srgbClr val="34D399"/>
                          </a:solidFill>
                          <a:latin typeface="Calibri" panose="020F0502020204030204" pitchFamily="34" charset="0"/>
                          <a:ea typeface="Calibri" panose="020F0502020204030204" pitchFamily="34" charset="-122"/>
                          <a:cs typeface="Calibri" panose="020F0502020204030204" pitchFamily="34" charset="-120"/>
                        </a:rPr>
                        <a:t>Ya ✓</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3102A"/>
                    </a:solidFill>
                  </a:tcPr>
                </a:tc>
                <a:tc>
                  <a:txBody>
                    <a:bodyPr/>
                    <a:lstStyle/>
                    <a:p>
                      <a:pPr marL="0" indent="0" algn="ctr">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Usia pelanggan (18–70 tahun)</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3102A"/>
                    </a:solidFill>
                  </a:tcPr>
                </a:tc>
              </a:tr>
              <a:tr h="381000">
                <a:tc>
                  <a:txBody>
                    <a:bodyPr/>
                    <a:lstStyle/>
                    <a:p>
                      <a:pPr marL="0" indent="0" algn="l">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Annual Income (k$)</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E1540"/>
                    </a:solidFill>
                  </a:tcPr>
                </a:tc>
                <a:tc>
                  <a:txBody>
                    <a:bodyPr/>
                    <a:lstStyle/>
                    <a:p>
                      <a:pPr marL="0" indent="0" algn="ctr">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Integer</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E1540"/>
                    </a:solidFill>
                  </a:tcPr>
                </a:tc>
                <a:tc>
                  <a:txBody>
                    <a:bodyPr/>
                    <a:lstStyle/>
                    <a:p>
                      <a:pPr marL="0" indent="0" algn="ctr">
                        <a:buNone/>
                      </a:pPr>
                      <a:r>
                        <a:rPr lang="en-US" sz="1050" b="1" dirty="0">
                          <a:solidFill>
                            <a:srgbClr val="34D399"/>
                          </a:solidFill>
                          <a:latin typeface="Calibri" panose="020F0502020204030204" pitchFamily="34" charset="0"/>
                          <a:ea typeface="Calibri" panose="020F0502020204030204" pitchFamily="34" charset="-122"/>
                          <a:cs typeface="Calibri" panose="020F0502020204030204" pitchFamily="34" charset="-120"/>
                        </a:rPr>
                        <a:t>Ya ✓</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E1540"/>
                    </a:solidFill>
                  </a:tcPr>
                </a:tc>
                <a:tc>
                  <a:txBody>
                    <a:bodyPr/>
                    <a:lstStyle/>
                    <a:p>
                      <a:pPr marL="0" indent="0" algn="ctr">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Pendapatan tahunan ($15–137 ribu)</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E1540"/>
                    </a:solidFill>
                  </a:tcPr>
                </a:tc>
              </a:tr>
              <a:tr h="381000">
                <a:tc>
                  <a:txBody>
                    <a:bodyPr/>
                    <a:lstStyle/>
                    <a:p>
                      <a:pPr marL="0" indent="0" algn="l">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Spending Score (1-100)</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3102A"/>
                    </a:solidFill>
                  </a:tcPr>
                </a:tc>
                <a:tc>
                  <a:txBody>
                    <a:bodyPr/>
                    <a:lstStyle/>
                    <a:p>
                      <a:pPr marL="0" indent="0" algn="ctr">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Integer</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3102A"/>
                    </a:solidFill>
                  </a:tcPr>
                </a:tc>
                <a:tc>
                  <a:txBody>
                    <a:bodyPr/>
                    <a:lstStyle/>
                    <a:p>
                      <a:pPr marL="0" indent="0" algn="ctr">
                        <a:buNone/>
                      </a:pPr>
                      <a:r>
                        <a:rPr lang="en-US" sz="1050" b="1" dirty="0">
                          <a:solidFill>
                            <a:srgbClr val="34D399"/>
                          </a:solidFill>
                          <a:latin typeface="Calibri" panose="020F0502020204030204" pitchFamily="34" charset="0"/>
                          <a:ea typeface="Calibri" panose="020F0502020204030204" pitchFamily="34" charset="-122"/>
                          <a:cs typeface="Calibri" panose="020F0502020204030204" pitchFamily="34" charset="-120"/>
                        </a:rPr>
                        <a:t>Ya ✓</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3102A"/>
                    </a:solidFill>
                  </a:tcPr>
                </a:tc>
                <a:tc>
                  <a:txBody>
                    <a:bodyPr/>
                    <a:lstStyle/>
                    <a:p>
                      <a:pPr marL="0" indent="0" algn="ctr">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Skor pengeluaran (1–99)</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solidFill>
                      <a:srgbClr val="13102A"/>
                    </a:solidFill>
                  </a:tcPr>
                </a:tc>
              </a:tr>
            </a:tbl>
          </a:graphicData>
        </a:graphic>
      </p:graphicFrame>
      <p:sp>
        <p:nvSpPr>
          <p:cNvPr id="12" name="Shape 9"/>
          <p:cNvSpPr/>
          <p:nvPr/>
        </p:nvSpPr>
        <p:spPr>
          <a:xfrm>
            <a:off x="274320" y="4343400"/>
            <a:ext cx="2011680" cy="457200"/>
          </a:xfrm>
          <a:prstGeom prst="roundRect">
            <a:avLst>
              <a:gd name="adj" fmla="val 160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3" name="Text 10"/>
          <p:cNvSpPr/>
          <p:nvPr/>
        </p:nvSpPr>
        <p:spPr>
          <a:xfrm>
            <a:off x="274320" y="4343400"/>
            <a:ext cx="2011680" cy="457200"/>
          </a:xfrm>
          <a:prstGeom prst="rect">
            <a:avLst/>
          </a:prstGeom>
          <a:noFill/>
        </p:spPr>
        <p:txBody>
          <a:bodyPr wrap="square" lIns="0" tIns="0" rIns="0" bIns="0" rtlCol="0" anchor="ctr"/>
          <a:lstStyle/>
          <a:p>
            <a:pPr marL="0" indent="0" algn="ctr">
              <a:buNone/>
            </a:pPr>
            <a:r>
              <a:rPr lang="en-US" sz="2000" b="1" dirty="0">
                <a:solidFill>
                  <a:srgbClr val="A78BFA"/>
                </a:solidFill>
                <a:latin typeface="Cambria" panose="02040503050406030204" pitchFamily="34" charset="0"/>
                <a:ea typeface="Cambria" panose="02040503050406030204" pitchFamily="34" charset="-122"/>
                <a:cs typeface="Cambria" panose="02040503050406030204" pitchFamily="34" charset="-120"/>
              </a:rPr>
              <a:t>200  </a:t>
            </a:r>
            <a:r>
              <a:rPr lang="en-US" sz="1000" dirty="0">
                <a:solidFill>
                  <a:srgbClr val="6D6D8A"/>
                </a:solidFill>
                <a:latin typeface="Calibri" panose="020F0502020204030204" pitchFamily="34" charset="0"/>
                <a:ea typeface="Calibri" panose="020F0502020204030204" pitchFamily="34" charset="-122"/>
                <a:cs typeface="Calibri" panose="020F0502020204030204" pitchFamily="34" charset="-120"/>
              </a:rPr>
              <a:t>Total Pelanggan</a:t>
            </a:r>
            <a:endParaRPr lang="en-US" sz="2000" dirty="0"/>
          </a:p>
        </p:txBody>
      </p:sp>
      <p:sp>
        <p:nvSpPr>
          <p:cNvPr id="14" name="Shape 11"/>
          <p:cNvSpPr/>
          <p:nvPr/>
        </p:nvSpPr>
        <p:spPr>
          <a:xfrm>
            <a:off x="2450592" y="4343400"/>
            <a:ext cx="2011680" cy="457200"/>
          </a:xfrm>
          <a:prstGeom prst="roundRect">
            <a:avLst>
              <a:gd name="adj" fmla="val 16000"/>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5" name="Text 12"/>
          <p:cNvSpPr/>
          <p:nvPr/>
        </p:nvSpPr>
        <p:spPr>
          <a:xfrm>
            <a:off x="2450592" y="4343400"/>
            <a:ext cx="2011680" cy="457200"/>
          </a:xfrm>
          <a:prstGeom prst="rect">
            <a:avLst/>
          </a:prstGeom>
          <a:noFill/>
        </p:spPr>
        <p:txBody>
          <a:bodyPr wrap="square" lIns="0" tIns="0" rIns="0" bIns="0" rtlCol="0" anchor="ctr"/>
          <a:lstStyle/>
          <a:p>
            <a:pPr marL="0" indent="0" algn="ctr">
              <a:buNone/>
            </a:pPr>
            <a:r>
              <a:rPr lang="en-US" sz="2000" b="1" dirty="0">
                <a:solidFill>
                  <a:srgbClr val="A78BFA"/>
                </a:solidFill>
                <a:latin typeface="Cambria" panose="02040503050406030204" pitchFamily="34" charset="0"/>
                <a:ea typeface="Cambria" panose="02040503050406030204" pitchFamily="34" charset="-122"/>
                <a:cs typeface="Cambria" panose="02040503050406030204" pitchFamily="34" charset="-120"/>
              </a:rPr>
              <a:t>5  </a:t>
            </a:r>
            <a:r>
              <a:rPr lang="en-US" sz="1000" dirty="0">
                <a:solidFill>
                  <a:srgbClr val="6D6D8A"/>
                </a:solidFill>
                <a:latin typeface="Calibri" panose="020F0502020204030204" pitchFamily="34" charset="0"/>
                <a:ea typeface="Calibri" panose="020F0502020204030204" pitchFamily="34" charset="-122"/>
                <a:cs typeface="Calibri" panose="020F0502020204030204" pitchFamily="34" charset="-120"/>
              </a:rPr>
              <a:t>Atribut</a:t>
            </a:r>
            <a:endParaRPr lang="en-US" sz="2000" dirty="0"/>
          </a:p>
        </p:txBody>
      </p:sp>
      <p:sp>
        <p:nvSpPr>
          <p:cNvPr id="16" name="Shape 13"/>
          <p:cNvSpPr/>
          <p:nvPr/>
        </p:nvSpPr>
        <p:spPr>
          <a:xfrm>
            <a:off x="4626864" y="4343400"/>
            <a:ext cx="2011680" cy="457200"/>
          </a:xfrm>
          <a:prstGeom prst="roundRect">
            <a:avLst>
              <a:gd name="adj" fmla="val 160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7" name="Text 14"/>
          <p:cNvSpPr/>
          <p:nvPr/>
        </p:nvSpPr>
        <p:spPr>
          <a:xfrm>
            <a:off x="4626864" y="4343400"/>
            <a:ext cx="2011680" cy="457200"/>
          </a:xfrm>
          <a:prstGeom prst="rect">
            <a:avLst/>
          </a:prstGeom>
          <a:noFill/>
        </p:spPr>
        <p:txBody>
          <a:bodyPr wrap="square" lIns="0" tIns="0" rIns="0" bIns="0" rtlCol="0" anchor="ctr"/>
          <a:lstStyle/>
          <a:p>
            <a:pPr marL="0" indent="0" algn="ctr">
              <a:buNone/>
            </a:pPr>
            <a:r>
              <a:rPr lang="en-US" sz="2000" b="1" dirty="0">
                <a:solidFill>
                  <a:srgbClr val="A78BFA"/>
                </a:solidFill>
                <a:latin typeface="Cambria" panose="02040503050406030204" pitchFamily="34" charset="0"/>
                <a:ea typeface="Cambria" panose="02040503050406030204" pitchFamily="34" charset="-122"/>
                <a:cs typeface="Cambria" panose="02040503050406030204" pitchFamily="34" charset="-120"/>
              </a:rPr>
              <a:t>3  </a:t>
            </a:r>
            <a:r>
              <a:rPr lang="en-US" sz="1000" dirty="0">
                <a:solidFill>
                  <a:srgbClr val="6D6D8A"/>
                </a:solidFill>
                <a:latin typeface="Calibri" panose="020F0502020204030204" pitchFamily="34" charset="0"/>
                <a:ea typeface="Calibri" panose="020F0502020204030204" pitchFamily="34" charset="-122"/>
                <a:cs typeface="Calibri" panose="020F0502020204030204" pitchFamily="34" charset="-120"/>
              </a:rPr>
              <a:t>Fitur Digunakan</a:t>
            </a:r>
            <a:endParaRPr lang="en-US" sz="2000" dirty="0"/>
          </a:p>
        </p:txBody>
      </p:sp>
      <p:sp>
        <p:nvSpPr>
          <p:cNvPr id="18" name="Shape 15"/>
          <p:cNvSpPr/>
          <p:nvPr/>
        </p:nvSpPr>
        <p:spPr>
          <a:xfrm>
            <a:off x="6803136" y="4343400"/>
            <a:ext cx="2011680" cy="457200"/>
          </a:xfrm>
          <a:prstGeom prst="roundRect">
            <a:avLst>
              <a:gd name="adj" fmla="val 16000"/>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9" name="Text 16"/>
          <p:cNvSpPr/>
          <p:nvPr/>
        </p:nvSpPr>
        <p:spPr>
          <a:xfrm>
            <a:off x="6803136" y="4343400"/>
            <a:ext cx="2011680" cy="457200"/>
          </a:xfrm>
          <a:prstGeom prst="rect">
            <a:avLst/>
          </a:prstGeom>
          <a:noFill/>
        </p:spPr>
        <p:txBody>
          <a:bodyPr wrap="square" lIns="0" tIns="0" rIns="0" bIns="0" rtlCol="0" anchor="ctr"/>
          <a:lstStyle/>
          <a:p>
            <a:pPr marL="0" indent="0" algn="ctr">
              <a:buNone/>
            </a:pPr>
            <a:r>
              <a:rPr lang="en-US" sz="2000" b="1" dirty="0">
                <a:solidFill>
                  <a:srgbClr val="A78BFA"/>
                </a:solidFill>
                <a:latin typeface="Cambria" panose="02040503050406030204" pitchFamily="34" charset="0"/>
                <a:ea typeface="Cambria" panose="02040503050406030204" pitchFamily="34" charset="-122"/>
                <a:cs typeface="Cambria" panose="02040503050406030204" pitchFamily="34" charset="-120"/>
              </a:rPr>
              <a:t>0  </a:t>
            </a:r>
            <a:r>
              <a:rPr lang="en-US" sz="1000" dirty="0">
                <a:solidFill>
                  <a:srgbClr val="6D6D8A"/>
                </a:solidFill>
                <a:latin typeface="Calibri" panose="020F0502020204030204" pitchFamily="34" charset="0"/>
                <a:ea typeface="Calibri" panose="020F0502020204030204" pitchFamily="34" charset="-122"/>
                <a:cs typeface="Calibri" panose="020F0502020204030204" pitchFamily="34" charset="-120"/>
              </a:rPr>
              <a:t>Missing Value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3" name="Shape 1"/>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4" name="Text 2"/>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Library &amp; Lingkungan Pengembangan</a:t>
            </a:r>
            <a:endParaRPr lang="en-US" sz="2200" dirty="0"/>
          </a:p>
        </p:txBody>
      </p:sp>
      <p:sp>
        <p:nvSpPr>
          <p:cNvPr id="5" name="Shape 3"/>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6" name="Shape 4"/>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7" name="Text 5"/>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750" dirty="0"/>
          </a:p>
        </p:txBody>
      </p:sp>
      <p:sp>
        <p:nvSpPr>
          <p:cNvPr id="8" name="Text 6"/>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7</a:t>
            </a:r>
            <a:endParaRPr lang="en-US" sz="750" dirty="0"/>
          </a:p>
        </p:txBody>
      </p:sp>
      <p:sp>
        <p:nvSpPr>
          <p:cNvPr id="9" name="Shape 7"/>
          <p:cNvSpPr/>
          <p:nvPr/>
        </p:nvSpPr>
        <p:spPr>
          <a:xfrm>
            <a:off x="274320" y="822960"/>
            <a:ext cx="2743200" cy="1874520"/>
          </a:xfrm>
          <a:prstGeom prst="roundRect">
            <a:avLst>
              <a:gd name="adj" fmla="val 4878"/>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0" name="Text 8"/>
          <p:cNvSpPr/>
          <p:nvPr/>
        </p:nvSpPr>
        <p:spPr>
          <a:xfrm>
            <a:off x="274320" y="896112"/>
            <a:ext cx="2743200" cy="365760"/>
          </a:xfrm>
          <a:prstGeom prst="rect">
            <a:avLst/>
          </a:prstGeom>
          <a:noFill/>
        </p:spPr>
        <p:txBody>
          <a:bodyPr wrap="square" lIns="0" tIns="0" rIns="0" bIns="0" rtlCol="0" anchor="ctr"/>
          <a:lstStyle/>
          <a:p>
            <a:pPr marL="0" indent="0" algn="ctr">
              <a:buNone/>
            </a:pPr>
            <a:r>
              <a:rPr lang="en-US" sz="1500" b="1" dirty="0">
                <a:solidFill>
                  <a:srgbClr val="A78BFA"/>
                </a:solidFill>
                <a:latin typeface="Cambria" panose="02040503050406030204" pitchFamily="34" charset="0"/>
                <a:ea typeface="Cambria" panose="02040503050406030204" pitchFamily="34" charset="-122"/>
                <a:cs typeface="Cambria" panose="02040503050406030204" pitchFamily="34" charset="-120"/>
              </a:rPr>
              <a:t>Pandas</a:t>
            </a:r>
            <a:endParaRPr lang="en-US" sz="1500" dirty="0"/>
          </a:p>
        </p:txBody>
      </p:sp>
      <p:sp>
        <p:nvSpPr>
          <p:cNvPr id="11" name="Text 9"/>
          <p:cNvSpPr/>
          <p:nvPr/>
        </p:nvSpPr>
        <p:spPr>
          <a:xfrm>
            <a:off x="274320" y="1261872"/>
            <a:ext cx="2743200" cy="320040"/>
          </a:xfrm>
          <a:prstGeom prst="rect">
            <a:avLst/>
          </a:prstGeom>
          <a:noFill/>
        </p:spPr>
        <p:txBody>
          <a:bodyPr wrap="square" lIns="0" tIns="0" rIns="0" bIns="0" rtlCol="0" anchor="ctr"/>
          <a:lstStyle/>
          <a:p>
            <a:pPr marL="0" indent="0" algn="ctr">
              <a:buNone/>
            </a:pPr>
            <a:r>
              <a:rPr lang="en-US" sz="950" i="1" dirty="0">
                <a:solidFill>
                  <a:srgbClr val="C4B5FD"/>
                </a:solidFill>
                <a:latin typeface="Calibri" panose="020F0502020204030204" pitchFamily="34" charset="0"/>
                <a:ea typeface="Calibri" panose="020F0502020204030204" pitchFamily="34" charset="-122"/>
                <a:cs typeface="Calibri" panose="020F0502020204030204" pitchFamily="34" charset="-120"/>
              </a:rPr>
              <a:t>Manipulasi &amp; eksplorasi DataFrame</a:t>
            </a:r>
            <a:endParaRPr lang="en-US" sz="950" dirty="0"/>
          </a:p>
        </p:txBody>
      </p:sp>
      <p:sp>
        <p:nvSpPr>
          <p:cNvPr id="12" name="Shape 10"/>
          <p:cNvSpPr/>
          <p:nvPr/>
        </p:nvSpPr>
        <p:spPr>
          <a:xfrm>
            <a:off x="548640" y="1581912"/>
            <a:ext cx="2194560" cy="18288"/>
          </a:xfrm>
          <a:prstGeom prst="rect">
            <a:avLst/>
          </a:prstGeom>
          <a:solidFill>
            <a:srgbClr val="7C3AED">
              <a:alpha val="40000"/>
            </a:srgbClr>
          </a:solidFill>
          <a:ln w="12700">
            <a:solidFill>
              <a:srgbClr val="000000">
                <a:alpha val="0"/>
              </a:srgbClr>
            </a:solidFill>
            <a:prstDash val="solid"/>
          </a:ln>
        </p:spPr>
      </p:sp>
      <p:sp>
        <p:nvSpPr>
          <p:cNvPr id="13" name="Text 11"/>
          <p:cNvSpPr/>
          <p:nvPr/>
        </p:nvSpPr>
        <p:spPr>
          <a:xfrm>
            <a:off x="274320" y="1627632"/>
            <a:ext cx="2743200" cy="1005840"/>
          </a:xfrm>
          <a:prstGeom prst="rect">
            <a:avLst/>
          </a:prstGeom>
          <a:noFill/>
        </p:spPr>
        <p:txBody>
          <a:bodyPr wrap="square" lIns="50800" tIns="101600" rIns="101600" bIns="50800" rtlCol="0" anchor="t"/>
          <a:lstStyle/>
          <a:p>
            <a:pPr marL="0" indent="0" algn="ctr">
              <a:buNone/>
            </a:pPr>
            <a:r>
              <a:rPr lang="en-US" sz="900" dirty="0">
                <a:solidFill>
                  <a:srgbClr val="F5F3FF"/>
                </a:solidFill>
                <a:latin typeface="Calibri" panose="020F0502020204030204" pitchFamily="34" charset="0"/>
                <a:ea typeface="Calibri" panose="020F0502020204030204" pitchFamily="34" charset="-122"/>
                <a:cs typeface="Calibri" panose="020F0502020204030204" pitchFamily="34" charset="-120"/>
              </a:rPr>
              <a:t>pd.read_csv(), head(), info(), describe(), isnull().sum(), groupby()</a:t>
            </a:r>
            <a:endParaRPr lang="en-US" sz="900" dirty="0"/>
          </a:p>
        </p:txBody>
      </p:sp>
      <p:sp>
        <p:nvSpPr>
          <p:cNvPr id="14" name="Shape 12"/>
          <p:cNvSpPr/>
          <p:nvPr/>
        </p:nvSpPr>
        <p:spPr>
          <a:xfrm>
            <a:off x="3182112" y="822960"/>
            <a:ext cx="2743200" cy="1874520"/>
          </a:xfrm>
          <a:prstGeom prst="roundRect">
            <a:avLst>
              <a:gd name="adj" fmla="val 4878"/>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5" name="Text 13"/>
          <p:cNvSpPr/>
          <p:nvPr/>
        </p:nvSpPr>
        <p:spPr>
          <a:xfrm>
            <a:off x="3182112" y="896112"/>
            <a:ext cx="2743200" cy="365760"/>
          </a:xfrm>
          <a:prstGeom prst="rect">
            <a:avLst/>
          </a:prstGeom>
          <a:noFill/>
        </p:spPr>
        <p:txBody>
          <a:bodyPr wrap="square" lIns="0" tIns="0" rIns="0" bIns="0" rtlCol="0" anchor="ctr"/>
          <a:lstStyle/>
          <a:p>
            <a:pPr marL="0" indent="0" algn="ctr">
              <a:buNone/>
            </a:pPr>
            <a:r>
              <a:rPr lang="en-US" sz="1500" b="1" dirty="0">
                <a:solidFill>
                  <a:srgbClr val="A78BFA"/>
                </a:solidFill>
                <a:latin typeface="Cambria" panose="02040503050406030204" pitchFamily="34" charset="0"/>
                <a:ea typeface="Cambria" panose="02040503050406030204" pitchFamily="34" charset="-122"/>
                <a:cs typeface="Cambria" panose="02040503050406030204" pitchFamily="34" charset="-120"/>
              </a:rPr>
              <a:t>NumPy</a:t>
            </a:r>
            <a:endParaRPr lang="en-US" sz="1500" dirty="0"/>
          </a:p>
        </p:txBody>
      </p:sp>
      <p:sp>
        <p:nvSpPr>
          <p:cNvPr id="16" name="Text 14"/>
          <p:cNvSpPr/>
          <p:nvPr/>
        </p:nvSpPr>
        <p:spPr>
          <a:xfrm>
            <a:off x="3182112" y="1261872"/>
            <a:ext cx="2743200" cy="320040"/>
          </a:xfrm>
          <a:prstGeom prst="rect">
            <a:avLst/>
          </a:prstGeom>
          <a:noFill/>
        </p:spPr>
        <p:txBody>
          <a:bodyPr wrap="square" lIns="0" tIns="0" rIns="0" bIns="0" rtlCol="0" anchor="ctr"/>
          <a:lstStyle/>
          <a:p>
            <a:pPr marL="0" indent="0" algn="ctr">
              <a:buNone/>
            </a:pPr>
            <a:r>
              <a:rPr lang="en-US" sz="950" i="1" dirty="0">
                <a:solidFill>
                  <a:srgbClr val="C4B5FD"/>
                </a:solidFill>
                <a:latin typeface="Calibri" panose="020F0502020204030204" pitchFamily="34" charset="0"/>
                <a:ea typeface="Calibri" panose="020F0502020204030204" pitchFamily="34" charset="-122"/>
                <a:cs typeface="Calibri" panose="020F0502020204030204" pitchFamily="34" charset="-120"/>
              </a:rPr>
              <a:t>Operasi numerik &amp; array processing</a:t>
            </a:r>
            <a:endParaRPr lang="en-US" sz="950" dirty="0"/>
          </a:p>
        </p:txBody>
      </p:sp>
      <p:sp>
        <p:nvSpPr>
          <p:cNvPr id="17" name="Shape 15"/>
          <p:cNvSpPr/>
          <p:nvPr/>
        </p:nvSpPr>
        <p:spPr>
          <a:xfrm>
            <a:off x="3456432" y="1581912"/>
            <a:ext cx="2194560" cy="18288"/>
          </a:xfrm>
          <a:prstGeom prst="rect">
            <a:avLst/>
          </a:prstGeom>
          <a:solidFill>
            <a:srgbClr val="7C3AED">
              <a:alpha val="40000"/>
            </a:srgbClr>
          </a:solidFill>
          <a:ln w="12700">
            <a:solidFill>
              <a:srgbClr val="000000">
                <a:alpha val="0"/>
              </a:srgbClr>
            </a:solidFill>
            <a:prstDash val="solid"/>
          </a:ln>
        </p:spPr>
      </p:sp>
      <p:sp>
        <p:nvSpPr>
          <p:cNvPr id="18" name="Text 16"/>
          <p:cNvSpPr/>
          <p:nvPr/>
        </p:nvSpPr>
        <p:spPr>
          <a:xfrm>
            <a:off x="3182112" y="1627632"/>
            <a:ext cx="2743200" cy="1005840"/>
          </a:xfrm>
          <a:prstGeom prst="rect">
            <a:avLst/>
          </a:prstGeom>
          <a:noFill/>
        </p:spPr>
        <p:txBody>
          <a:bodyPr wrap="square" lIns="50800" tIns="101600" rIns="101600" bIns="50800" rtlCol="0" anchor="t"/>
          <a:lstStyle/>
          <a:p>
            <a:pPr marL="0" indent="0" algn="ctr">
              <a:buNone/>
            </a:pPr>
            <a:r>
              <a:rPr lang="en-US" sz="900" dirty="0">
                <a:solidFill>
                  <a:srgbClr val="F5F3FF"/>
                </a:solidFill>
                <a:latin typeface="Calibri" panose="020F0502020204030204" pitchFamily="34" charset="0"/>
                <a:ea typeface="Calibri" panose="020F0502020204030204" pitchFamily="34" charset="-122"/>
                <a:cs typeface="Calibri" panose="020F0502020204030204" pitchFamily="34" charset="-120"/>
              </a:rPr>
              <a:t>Mendukung komputasi matematis pada data terstandarisasi</a:t>
            </a:r>
            <a:endParaRPr lang="en-US" sz="900" dirty="0"/>
          </a:p>
        </p:txBody>
      </p:sp>
      <p:sp>
        <p:nvSpPr>
          <p:cNvPr id="19" name="Shape 17"/>
          <p:cNvSpPr/>
          <p:nvPr/>
        </p:nvSpPr>
        <p:spPr>
          <a:xfrm>
            <a:off x="6089904" y="822960"/>
            <a:ext cx="2743200" cy="1874520"/>
          </a:xfrm>
          <a:prstGeom prst="roundRect">
            <a:avLst>
              <a:gd name="adj" fmla="val 4878"/>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20" name="Text 18"/>
          <p:cNvSpPr/>
          <p:nvPr/>
        </p:nvSpPr>
        <p:spPr>
          <a:xfrm>
            <a:off x="6089904" y="896112"/>
            <a:ext cx="2743200" cy="365760"/>
          </a:xfrm>
          <a:prstGeom prst="rect">
            <a:avLst/>
          </a:prstGeom>
          <a:noFill/>
        </p:spPr>
        <p:txBody>
          <a:bodyPr wrap="square" lIns="0" tIns="0" rIns="0" bIns="0" rtlCol="0" anchor="ctr"/>
          <a:lstStyle/>
          <a:p>
            <a:pPr marL="0" indent="0" algn="ctr">
              <a:buNone/>
            </a:pPr>
            <a:r>
              <a:rPr lang="en-US" sz="1500" b="1" dirty="0">
                <a:solidFill>
                  <a:srgbClr val="A78BFA"/>
                </a:solidFill>
                <a:latin typeface="Cambria" panose="02040503050406030204" pitchFamily="34" charset="0"/>
                <a:ea typeface="Cambria" panose="02040503050406030204" pitchFamily="34" charset="-122"/>
                <a:cs typeface="Cambria" panose="02040503050406030204" pitchFamily="34" charset="-120"/>
              </a:rPr>
              <a:t>Matplotlib</a:t>
            </a:r>
            <a:endParaRPr lang="en-US" sz="1500" dirty="0"/>
          </a:p>
        </p:txBody>
      </p:sp>
      <p:sp>
        <p:nvSpPr>
          <p:cNvPr id="21" name="Text 19"/>
          <p:cNvSpPr/>
          <p:nvPr/>
        </p:nvSpPr>
        <p:spPr>
          <a:xfrm>
            <a:off x="6089904" y="1261872"/>
            <a:ext cx="2743200" cy="320040"/>
          </a:xfrm>
          <a:prstGeom prst="rect">
            <a:avLst/>
          </a:prstGeom>
          <a:noFill/>
        </p:spPr>
        <p:txBody>
          <a:bodyPr wrap="square" lIns="0" tIns="0" rIns="0" bIns="0" rtlCol="0" anchor="ctr"/>
          <a:lstStyle/>
          <a:p>
            <a:pPr marL="0" indent="0" algn="ctr">
              <a:buNone/>
            </a:pPr>
            <a:r>
              <a:rPr lang="en-US" sz="950" i="1" dirty="0">
                <a:solidFill>
                  <a:srgbClr val="C4B5FD"/>
                </a:solidFill>
                <a:latin typeface="Calibri" panose="020F0502020204030204" pitchFamily="34" charset="0"/>
                <a:ea typeface="Calibri" panose="020F0502020204030204" pitchFamily="34" charset="-122"/>
                <a:cs typeface="Calibri" panose="020F0502020204030204" pitchFamily="34" charset="-120"/>
              </a:rPr>
              <a:t>Visualisasi data &amp; plotting</a:t>
            </a:r>
            <a:endParaRPr lang="en-US" sz="950" dirty="0"/>
          </a:p>
        </p:txBody>
      </p:sp>
      <p:sp>
        <p:nvSpPr>
          <p:cNvPr id="22" name="Shape 20"/>
          <p:cNvSpPr/>
          <p:nvPr/>
        </p:nvSpPr>
        <p:spPr>
          <a:xfrm>
            <a:off x="6364224" y="1581912"/>
            <a:ext cx="2194560" cy="18288"/>
          </a:xfrm>
          <a:prstGeom prst="rect">
            <a:avLst/>
          </a:prstGeom>
          <a:solidFill>
            <a:srgbClr val="7C3AED">
              <a:alpha val="40000"/>
            </a:srgbClr>
          </a:solidFill>
          <a:ln w="12700">
            <a:solidFill>
              <a:srgbClr val="000000">
                <a:alpha val="0"/>
              </a:srgbClr>
            </a:solidFill>
            <a:prstDash val="solid"/>
          </a:ln>
        </p:spPr>
      </p:sp>
      <p:sp>
        <p:nvSpPr>
          <p:cNvPr id="23" name="Text 21"/>
          <p:cNvSpPr/>
          <p:nvPr/>
        </p:nvSpPr>
        <p:spPr>
          <a:xfrm>
            <a:off x="6089904" y="1627632"/>
            <a:ext cx="2743200" cy="1005840"/>
          </a:xfrm>
          <a:prstGeom prst="rect">
            <a:avLst/>
          </a:prstGeom>
          <a:noFill/>
        </p:spPr>
        <p:txBody>
          <a:bodyPr wrap="square" lIns="50800" tIns="101600" rIns="101600" bIns="50800" rtlCol="0" anchor="t"/>
          <a:lstStyle/>
          <a:p>
            <a:pPr marL="0" indent="0" algn="ctr">
              <a:buNone/>
            </a:pPr>
            <a:r>
              <a:rPr lang="en-US" sz="900" dirty="0">
                <a:solidFill>
                  <a:srgbClr val="F5F3FF"/>
                </a:solidFill>
                <a:latin typeface="Calibri" panose="020F0502020204030204" pitchFamily="34" charset="0"/>
                <a:ea typeface="Calibri" panose="020F0502020204030204" pitchFamily="34" charset="-122"/>
                <a:cs typeface="Calibri" panose="020F0502020204030204" pitchFamily="34" charset="-120"/>
              </a:rPr>
              <a:t>Histogram EDA, scatter plot clustering, grafik BIC/AIC</a:t>
            </a:r>
            <a:endParaRPr lang="en-US" sz="900" dirty="0"/>
          </a:p>
        </p:txBody>
      </p:sp>
      <p:sp>
        <p:nvSpPr>
          <p:cNvPr id="24" name="Shape 22"/>
          <p:cNvSpPr/>
          <p:nvPr/>
        </p:nvSpPr>
        <p:spPr>
          <a:xfrm>
            <a:off x="1728216" y="2944368"/>
            <a:ext cx="2743200" cy="1874520"/>
          </a:xfrm>
          <a:prstGeom prst="roundRect">
            <a:avLst>
              <a:gd name="adj" fmla="val 4878"/>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25" name="Text 23"/>
          <p:cNvSpPr/>
          <p:nvPr/>
        </p:nvSpPr>
        <p:spPr>
          <a:xfrm>
            <a:off x="1728216" y="3017520"/>
            <a:ext cx="2743200" cy="365760"/>
          </a:xfrm>
          <a:prstGeom prst="rect">
            <a:avLst/>
          </a:prstGeom>
          <a:noFill/>
        </p:spPr>
        <p:txBody>
          <a:bodyPr wrap="square" lIns="0" tIns="0" rIns="0" bIns="0" rtlCol="0" anchor="ctr"/>
          <a:lstStyle/>
          <a:p>
            <a:pPr marL="0" indent="0" algn="ctr">
              <a:buNone/>
            </a:pPr>
            <a:r>
              <a:rPr lang="en-US" sz="1500" b="1" dirty="0">
                <a:solidFill>
                  <a:srgbClr val="A78BFA"/>
                </a:solidFill>
                <a:latin typeface="Cambria" panose="02040503050406030204" pitchFamily="34" charset="0"/>
                <a:ea typeface="Cambria" panose="02040503050406030204" pitchFamily="34" charset="-122"/>
                <a:cs typeface="Cambria" panose="02040503050406030204" pitchFamily="34" charset="-120"/>
              </a:rPr>
              <a:t>Seaborn</a:t>
            </a:r>
            <a:endParaRPr lang="en-US" sz="1500" dirty="0"/>
          </a:p>
        </p:txBody>
      </p:sp>
      <p:sp>
        <p:nvSpPr>
          <p:cNvPr id="26" name="Text 24"/>
          <p:cNvSpPr/>
          <p:nvPr/>
        </p:nvSpPr>
        <p:spPr>
          <a:xfrm>
            <a:off x="1728216" y="3383280"/>
            <a:ext cx="2743200" cy="320040"/>
          </a:xfrm>
          <a:prstGeom prst="rect">
            <a:avLst/>
          </a:prstGeom>
          <a:noFill/>
        </p:spPr>
        <p:txBody>
          <a:bodyPr wrap="square" lIns="0" tIns="0" rIns="0" bIns="0" rtlCol="0" anchor="ctr"/>
          <a:lstStyle/>
          <a:p>
            <a:pPr marL="0" indent="0" algn="ctr">
              <a:buNone/>
            </a:pPr>
            <a:r>
              <a:rPr lang="en-US" sz="950" i="1" dirty="0">
                <a:solidFill>
                  <a:srgbClr val="C4B5FD"/>
                </a:solidFill>
                <a:latin typeface="Calibri" panose="020F0502020204030204" pitchFamily="34" charset="0"/>
                <a:ea typeface="Calibri" panose="020F0502020204030204" pitchFamily="34" charset="-122"/>
                <a:cs typeface="Calibri" panose="020F0502020204030204" pitchFamily="34" charset="-120"/>
              </a:rPr>
              <a:t>Visualisasi statistik lanjutan</a:t>
            </a:r>
            <a:endParaRPr lang="en-US" sz="950" dirty="0"/>
          </a:p>
        </p:txBody>
      </p:sp>
      <p:sp>
        <p:nvSpPr>
          <p:cNvPr id="27" name="Shape 25"/>
          <p:cNvSpPr/>
          <p:nvPr/>
        </p:nvSpPr>
        <p:spPr>
          <a:xfrm>
            <a:off x="2002536" y="3703320"/>
            <a:ext cx="2194560" cy="18288"/>
          </a:xfrm>
          <a:prstGeom prst="rect">
            <a:avLst/>
          </a:prstGeom>
          <a:solidFill>
            <a:srgbClr val="7C3AED">
              <a:alpha val="40000"/>
            </a:srgbClr>
          </a:solidFill>
          <a:ln w="12700">
            <a:solidFill>
              <a:srgbClr val="000000">
                <a:alpha val="0"/>
              </a:srgbClr>
            </a:solidFill>
            <a:prstDash val="solid"/>
          </a:ln>
        </p:spPr>
      </p:sp>
      <p:sp>
        <p:nvSpPr>
          <p:cNvPr id="28" name="Text 26"/>
          <p:cNvSpPr/>
          <p:nvPr/>
        </p:nvSpPr>
        <p:spPr>
          <a:xfrm>
            <a:off x="1728216" y="3749040"/>
            <a:ext cx="2743200" cy="1005840"/>
          </a:xfrm>
          <a:prstGeom prst="rect">
            <a:avLst/>
          </a:prstGeom>
          <a:noFill/>
        </p:spPr>
        <p:txBody>
          <a:bodyPr wrap="square" lIns="50800" tIns="101600" rIns="101600" bIns="50800" rtlCol="0" anchor="t"/>
          <a:lstStyle/>
          <a:p>
            <a:pPr marL="0" indent="0" algn="ctr">
              <a:buNone/>
            </a:pPr>
            <a:r>
              <a:rPr lang="en-US" sz="900" dirty="0">
                <a:solidFill>
                  <a:srgbClr val="F5F3FF"/>
                </a:solidFill>
                <a:latin typeface="Calibri" panose="020F0502020204030204" pitchFamily="34" charset="0"/>
                <a:ea typeface="Calibri" panose="020F0502020204030204" pitchFamily="34" charset="-122"/>
                <a:cs typeface="Calibri" panose="020F0502020204030204" pitchFamily="34" charset="-120"/>
              </a:rPr>
              <a:t>Visualisasi histogram distribusi fitur (Age, Income, Score)</a:t>
            </a:r>
            <a:endParaRPr lang="en-US" sz="900" dirty="0"/>
          </a:p>
        </p:txBody>
      </p:sp>
      <p:sp>
        <p:nvSpPr>
          <p:cNvPr id="29" name="Shape 27"/>
          <p:cNvSpPr/>
          <p:nvPr/>
        </p:nvSpPr>
        <p:spPr>
          <a:xfrm>
            <a:off x="4636008" y="2944368"/>
            <a:ext cx="2743200" cy="1874520"/>
          </a:xfrm>
          <a:prstGeom prst="roundRect">
            <a:avLst>
              <a:gd name="adj" fmla="val 4878"/>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30" name="Text 28"/>
          <p:cNvSpPr/>
          <p:nvPr/>
        </p:nvSpPr>
        <p:spPr>
          <a:xfrm>
            <a:off x="4636008" y="3017520"/>
            <a:ext cx="2743200" cy="365760"/>
          </a:xfrm>
          <a:prstGeom prst="rect">
            <a:avLst/>
          </a:prstGeom>
          <a:noFill/>
        </p:spPr>
        <p:txBody>
          <a:bodyPr wrap="square" lIns="0" tIns="0" rIns="0" bIns="0" rtlCol="0" anchor="ctr"/>
          <a:lstStyle/>
          <a:p>
            <a:pPr marL="0" indent="0" algn="ctr">
              <a:buNone/>
            </a:pPr>
            <a:r>
              <a:rPr lang="en-US" sz="1500" b="1" dirty="0">
                <a:solidFill>
                  <a:srgbClr val="A78BFA"/>
                </a:solidFill>
                <a:latin typeface="Cambria" panose="02040503050406030204" pitchFamily="34" charset="0"/>
                <a:ea typeface="Cambria" panose="02040503050406030204" pitchFamily="34" charset="-122"/>
                <a:cs typeface="Cambria" panose="02040503050406030204" pitchFamily="34" charset="-120"/>
              </a:rPr>
              <a:t>Scikit-learn</a:t>
            </a:r>
            <a:endParaRPr lang="en-US" sz="1500" dirty="0"/>
          </a:p>
        </p:txBody>
      </p:sp>
      <p:sp>
        <p:nvSpPr>
          <p:cNvPr id="31" name="Text 29"/>
          <p:cNvSpPr/>
          <p:nvPr/>
        </p:nvSpPr>
        <p:spPr>
          <a:xfrm>
            <a:off x="4636008" y="3383280"/>
            <a:ext cx="2743200" cy="320040"/>
          </a:xfrm>
          <a:prstGeom prst="rect">
            <a:avLst/>
          </a:prstGeom>
          <a:noFill/>
        </p:spPr>
        <p:txBody>
          <a:bodyPr wrap="square" lIns="0" tIns="0" rIns="0" bIns="0" rtlCol="0" anchor="ctr"/>
          <a:lstStyle/>
          <a:p>
            <a:pPr marL="0" indent="0" algn="ctr">
              <a:buNone/>
            </a:pPr>
            <a:r>
              <a:rPr lang="en-US" sz="950" i="1" dirty="0">
                <a:solidFill>
                  <a:srgbClr val="C4B5FD"/>
                </a:solidFill>
                <a:latin typeface="Calibri" panose="020F0502020204030204" pitchFamily="34" charset="0"/>
                <a:ea typeface="Calibri" panose="020F0502020204030204" pitchFamily="34" charset="-122"/>
                <a:cs typeface="Calibri" panose="020F0502020204030204" pitchFamily="34" charset="-120"/>
              </a:rPr>
              <a:t>Machine Learning — inti penelitian</a:t>
            </a:r>
            <a:endParaRPr lang="en-US" sz="950" dirty="0"/>
          </a:p>
        </p:txBody>
      </p:sp>
      <p:sp>
        <p:nvSpPr>
          <p:cNvPr id="32" name="Shape 30"/>
          <p:cNvSpPr/>
          <p:nvPr/>
        </p:nvSpPr>
        <p:spPr>
          <a:xfrm>
            <a:off x="4910328" y="3703320"/>
            <a:ext cx="2194560" cy="18288"/>
          </a:xfrm>
          <a:prstGeom prst="rect">
            <a:avLst/>
          </a:prstGeom>
          <a:solidFill>
            <a:srgbClr val="7C3AED">
              <a:alpha val="40000"/>
            </a:srgbClr>
          </a:solidFill>
          <a:ln w="12700">
            <a:solidFill>
              <a:srgbClr val="000000">
                <a:alpha val="0"/>
              </a:srgbClr>
            </a:solidFill>
            <a:prstDash val="solid"/>
          </a:ln>
        </p:spPr>
      </p:sp>
      <p:sp>
        <p:nvSpPr>
          <p:cNvPr id="33" name="Text 31"/>
          <p:cNvSpPr/>
          <p:nvPr/>
        </p:nvSpPr>
        <p:spPr>
          <a:xfrm>
            <a:off x="4636008" y="3749040"/>
            <a:ext cx="2743200" cy="1005840"/>
          </a:xfrm>
          <a:prstGeom prst="rect">
            <a:avLst/>
          </a:prstGeom>
          <a:noFill/>
        </p:spPr>
        <p:txBody>
          <a:bodyPr wrap="square" lIns="50800" tIns="101600" rIns="101600" bIns="50800" rtlCol="0" anchor="t"/>
          <a:lstStyle/>
          <a:p>
            <a:pPr marL="0" indent="0" algn="ctr">
              <a:buNone/>
            </a:pPr>
            <a:r>
              <a:rPr lang="en-US" sz="900" dirty="0">
                <a:solidFill>
                  <a:srgbClr val="F5F3FF"/>
                </a:solidFill>
                <a:latin typeface="Calibri" panose="020F0502020204030204" pitchFamily="34" charset="0"/>
                <a:ea typeface="Calibri" panose="020F0502020204030204" pitchFamily="34" charset="-122"/>
                <a:cs typeface="Calibri" panose="020F0502020204030204" pitchFamily="34" charset="-120"/>
              </a:rPr>
              <a:t>StandardScaler, GaussianMixture, silhouette_score</a:t>
            </a:r>
            <a:endParaRPr lang="en-US" sz="900" dirty="0"/>
          </a:p>
        </p:txBody>
      </p:sp>
      <p:sp>
        <p:nvSpPr>
          <p:cNvPr id="34" name="Shape 32"/>
          <p:cNvSpPr/>
          <p:nvPr/>
        </p:nvSpPr>
        <p:spPr>
          <a:xfrm>
            <a:off x="274320" y="4617720"/>
            <a:ext cx="8595360" cy="256032"/>
          </a:xfrm>
          <a:prstGeom prst="roundRect">
            <a:avLst>
              <a:gd name="adj" fmla="val 21429"/>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35" name="Text 33"/>
          <p:cNvSpPr/>
          <p:nvPr/>
        </p:nvSpPr>
        <p:spPr>
          <a:xfrm>
            <a:off x="274320" y="4617720"/>
            <a:ext cx="8595360" cy="256032"/>
          </a:xfrm>
          <a:prstGeom prst="rect">
            <a:avLst/>
          </a:prstGeom>
          <a:noFill/>
        </p:spPr>
        <p:txBody>
          <a:bodyPr wrap="square" lIns="0" tIns="0" rIns="0" bIns="0" rtlCol="0" anchor="ctr"/>
          <a:lstStyle/>
          <a:p>
            <a:pPr marL="0" indent="0" algn="ctr">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Lingkungan Pengembangan: Python 3.10 · Jupyter Notebook · Scikit-learn · Kaggle Dataset (Mall_Customers.csv)</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3" name="Shape 1"/>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4" name="Text 2"/>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Metodologi Penelitian — Kerangka Berpikir</a:t>
            </a:r>
            <a:endParaRPr lang="en-US" sz="2200" dirty="0"/>
          </a:p>
        </p:txBody>
      </p:sp>
      <p:sp>
        <p:nvSpPr>
          <p:cNvPr id="5" name="Shape 3"/>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6" name="Shape 4"/>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7" name="Text 5"/>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750" dirty="0"/>
          </a:p>
        </p:txBody>
      </p:sp>
      <p:sp>
        <p:nvSpPr>
          <p:cNvPr id="8" name="Text 6"/>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8</a:t>
            </a:r>
            <a:endParaRPr lang="en-US" sz="750" dirty="0"/>
          </a:p>
        </p:txBody>
      </p:sp>
      <p:sp>
        <p:nvSpPr>
          <p:cNvPr id="9" name="Shape 7"/>
          <p:cNvSpPr/>
          <p:nvPr/>
        </p:nvSpPr>
        <p:spPr>
          <a:xfrm>
            <a:off x="274320" y="804672"/>
            <a:ext cx="4251960" cy="868680"/>
          </a:xfrm>
          <a:prstGeom prst="roundRect">
            <a:avLst>
              <a:gd name="adj" fmla="val 8421"/>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0" name="Text 8"/>
          <p:cNvSpPr/>
          <p:nvPr/>
        </p:nvSpPr>
        <p:spPr>
          <a:xfrm>
            <a:off x="274320" y="804672"/>
            <a:ext cx="548640" cy="868680"/>
          </a:xfrm>
          <a:prstGeom prst="rect">
            <a:avLst/>
          </a:prstGeom>
          <a:noFill/>
        </p:spPr>
        <p:txBody>
          <a:bodyPr wrap="square" lIns="0" tIns="0" rIns="0" bIns="0" rtlCol="0" anchor="ctr"/>
          <a:lstStyle/>
          <a:p>
            <a:pPr marL="0" indent="0" algn="ctr">
              <a:buNone/>
            </a:pPr>
            <a:r>
              <a:rPr lang="en-US" sz="2000" b="1" dirty="0">
                <a:solidFill>
                  <a:srgbClr val="7C3AED"/>
                </a:solidFill>
                <a:latin typeface="Cambria" panose="02040503050406030204" pitchFamily="34" charset="0"/>
                <a:ea typeface="Cambria" panose="02040503050406030204" pitchFamily="34" charset="-122"/>
                <a:cs typeface="Cambria" panose="02040503050406030204" pitchFamily="34" charset="-120"/>
              </a:rPr>
              <a:t>01</a:t>
            </a:r>
            <a:endParaRPr lang="en-US" sz="2000" dirty="0"/>
          </a:p>
        </p:txBody>
      </p:sp>
      <p:sp>
        <p:nvSpPr>
          <p:cNvPr id="11" name="Text 9"/>
          <p:cNvSpPr/>
          <p:nvPr/>
        </p:nvSpPr>
        <p:spPr>
          <a:xfrm>
            <a:off x="841248" y="804672"/>
            <a:ext cx="3611880" cy="868680"/>
          </a:xfrm>
          <a:prstGeom prst="rect">
            <a:avLst/>
          </a:prstGeom>
          <a:noFill/>
        </p:spPr>
        <p:txBody>
          <a:bodyPr wrap="square" lIns="50800" tIns="0" rIns="0" bIns="50800" rtlCol="0" anchor="ctr"/>
          <a:lstStyle/>
          <a:p>
            <a:pPr marL="0" indent="0">
              <a:buNone/>
            </a:pPr>
            <a:r>
              <a:rPr lang="en-US" sz="1100" b="1" dirty="0">
                <a:solidFill>
                  <a:srgbClr val="F5F3FF"/>
                </a:solidFill>
                <a:latin typeface="Calibri" panose="020F0502020204030204" pitchFamily="34" charset="0"/>
                <a:ea typeface="Calibri" panose="020F0502020204030204" pitchFamily="34" charset="-122"/>
                <a:cs typeface="Calibri" panose="020F0502020204030204" pitchFamily="34" charset="-120"/>
              </a:rPr>
              <a:t>Pemuatan Dataset
</a:t>
            </a:r>
            <a:endParaRPr lang="en-US" sz="110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Mall_Customers.csv (200 data, 5 atribut) dimuat menggunakan pd.read_csv()</a:t>
            </a:r>
            <a:endParaRPr lang="en-US" sz="1100" dirty="0"/>
          </a:p>
        </p:txBody>
      </p:sp>
      <p:sp>
        <p:nvSpPr>
          <p:cNvPr id="12" name="Shape 10"/>
          <p:cNvSpPr/>
          <p:nvPr/>
        </p:nvSpPr>
        <p:spPr>
          <a:xfrm>
            <a:off x="2286000" y="1673352"/>
            <a:ext cx="0" cy="155448"/>
          </a:xfrm>
          <a:prstGeom prst="line">
            <a:avLst/>
          </a:prstGeom>
          <a:noFill/>
          <a:ln w="19050">
            <a:solidFill>
              <a:srgbClr val="7C3AED">
                <a:alpha val="60000"/>
              </a:srgbClr>
            </a:solidFill>
            <a:prstDash val="solid"/>
          </a:ln>
        </p:spPr>
      </p:sp>
      <p:sp>
        <p:nvSpPr>
          <p:cNvPr id="13" name="Shape 11"/>
          <p:cNvSpPr/>
          <p:nvPr/>
        </p:nvSpPr>
        <p:spPr>
          <a:xfrm>
            <a:off x="4709160" y="804672"/>
            <a:ext cx="4251960" cy="868680"/>
          </a:xfrm>
          <a:prstGeom prst="roundRect">
            <a:avLst>
              <a:gd name="adj" fmla="val 8421"/>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4" name="Text 12"/>
          <p:cNvSpPr/>
          <p:nvPr/>
        </p:nvSpPr>
        <p:spPr>
          <a:xfrm>
            <a:off x="4709160" y="804672"/>
            <a:ext cx="548640" cy="868680"/>
          </a:xfrm>
          <a:prstGeom prst="rect">
            <a:avLst/>
          </a:prstGeom>
          <a:noFill/>
        </p:spPr>
        <p:txBody>
          <a:bodyPr wrap="square" lIns="0" tIns="0" rIns="0" bIns="0" rtlCol="0" anchor="ctr"/>
          <a:lstStyle/>
          <a:p>
            <a:pPr marL="0" indent="0" algn="ctr">
              <a:buNone/>
            </a:pPr>
            <a:r>
              <a:rPr lang="en-US" sz="2000" b="1" dirty="0">
                <a:solidFill>
                  <a:srgbClr val="7C3AED"/>
                </a:solidFill>
                <a:latin typeface="Cambria" panose="02040503050406030204" pitchFamily="34" charset="0"/>
                <a:ea typeface="Cambria" panose="02040503050406030204" pitchFamily="34" charset="-122"/>
                <a:cs typeface="Cambria" panose="02040503050406030204" pitchFamily="34" charset="-120"/>
              </a:rPr>
              <a:t>02</a:t>
            </a:r>
            <a:endParaRPr lang="en-US" sz="2000" dirty="0"/>
          </a:p>
        </p:txBody>
      </p:sp>
      <p:sp>
        <p:nvSpPr>
          <p:cNvPr id="15" name="Text 13"/>
          <p:cNvSpPr/>
          <p:nvPr/>
        </p:nvSpPr>
        <p:spPr>
          <a:xfrm>
            <a:off x="5276088" y="804672"/>
            <a:ext cx="3611880" cy="868680"/>
          </a:xfrm>
          <a:prstGeom prst="rect">
            <a:avLst/>
          </a:prstGeom>
          <a:noFill/>
        </p:spPr>
        <p:txBody>
          <a:bodyPr wrap="square" lIns="50800" tIns="0" rIns="0" bIns="50800" rtlCol="0" anchor="ctr"/>
          <a:lstStyle/>
          <a:p>
            <a:pPr marL="0" indent="0">
              <a:buNone/>
            </a:pPr>
            <a:r>
              <a:rPr lang="en-US" sz="1100" b="1" dirty="0">
                <a:solidFill>
                  <a:srgbClr val="F5F3FF"/>
                </a:solidFill>
                <a:latin typeface="Calibri" panose="020F0502020204030204" pitchFamily="34" charset="0"/>
                <a:ea typeface="Calibri" panose="020F0502020204030204" pitchFamily="34" charset="-122"/>
                <a:cs typeface="Calibri" panose="020F0502020204030204" pitchFamily="34" charset="-120"/>
              </a:rPr>
              <a:t>Eksplorasi Data (EDA)
</a:t>
            </a:r>
            <a:endParaRPr lang="en-US" sz="110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Statistik deskriptif &amp; visualisasi histogram Age, Income, Spending Score</a:t>
            </a:r>
            <a:endParaRPr lang="en-US" sz="1100" dirty="0"/>
          </a:p>
        </p:txBody>
      </p:sp>
      <p:sp>
        <p:nvSpPr>
          <p:cNvPr id="16" name="Shape 14"/>
          <p:cNvSpPr/>
          <p:nvPr/>
        </p:nvSpPr>
        <p:spPr>
          <a:xfrm>
            <a:off x="6720840" y="1673352"/>
            <a:ext cx="0" cy="155448"/>
          </a:xfrm>
          <a:prstGeom prst="line">
            <a:avLst/>
          </a:prstGeom>
          <a:noFill/>
          <a:ln w="19050">
            <a:solidFill>
              <a:srgbClr val="7C3AED">
                <a:alpha val="60000"/>
              </a:srgbClr>
            </a:solidFill>
            <a:prstDash val="solid"/>
          </a:ln>
        </p:spPr>
      </p:sp>
      <p:sp>
        <p:nvSpPr>
          <p:cNvPr id="17" name="Shape 15"/>
          <p:cNvSpPr/>
          <p:nvPr/>
        </p:nvSpPr>
        <p:spPr>
          <a:xfrm>
            <a:off x="274320" y="1828800"/>
            <a:ext cx="4251960" cy="868680"/>
          </a:xfrm>
          <a:prstGeom prst="roundRect">
            <a:avLst>
              <a:gd name="adj" fmla="val 8421"/>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8" name="Text 16"/>
          <p:cNvSpPr/>
          <p:nvPr/>
        </p:nvSpPr>
        <p:spPr>
          <a:xfrm>
            <a:off x="274320" y="1828800"/>
            <a:ext cx="548640" cy="868680"/>
          </a:xfrm>
          <a:prstGeom prst="rect">
            <a:avLst/>
          </a:prstGeom>
          <a:noFill/>
        </p:spPr>
        <p:txBody>
          <a:bodyPr wrap="square" lIns="0" tIns="0" rIns="0" bIns="0" rtlCol="0" anchor="ctr"/>
          <a:lstStyle/>
          <a:p>
            <a:pPr marL="0" indent="0" algn="ctr">
              <a:buNone/>
            </a:pPr>
            <a:r>
              <a:rPr lang="en-US" sz="2000" b="1" dirty="0">
                <a:solidFill>
                  <a:srgbClr val="7C3AED"/>
                </a:solidFill>
                <a:latin typeface="Cambria" panose="02040503050406030204" pitchFamily="34" charset="0"/>
                <a:ea typeface="Cambria" panose="02040503050406030204" pitchFamily="34" charset="-122"/>
                <a:cs typeface="Cambria" panose="02040503050406030204" pitchFamily="34" charset="-120"/>
              </a:rPr>
              <a:t>03</a:t>
            </a:r>
            <a:endParaRPr lang="en-US" sz="2000" dirty="0"/>
          </a:p>
        </p:txBody>
      </p:sp>
      <p:sp>
        <p:nvSpPr>
          <p:cNvPr id="19" name="Text 17"/>
          <p:cNvSpPr/>
          <p:nvPr/>
        </p:nvSpPr>
        <p:spPr>
          <a:xfrm>
            <a:off x="841248" y="1828800"/>
            <a:ext cx="3611880" cy="868680"/>
          </a:xfrm>
          <a:prstGeom prst="rect">
            <a:avLst/>
          </a:prstGeom>
          <a:noFill/>
        </p:spPr>
        <p:txBody>
          <a:bodyPr wrap="square" lIns="50800" tIns="0" rIns="0" bIns="50800" rtlCol="0" anchor="ctr"/>
          <a:lstStyle/>
          <a:p>
            <a:pPr marL="0" indent="0">
              <a:buNone/>
            </a:pPr>
            <a:r>
              <a:rPr lang="en-US" sz="1100" b="1" dirty="0">
                <a:solidFill>
                  <a:srgbClr val="F5F3FF"/>
                </a:solidFill>
                <a:latin typeface="Calibri" panose="020F0502020204030204" pitchFamily="34" charset="0"/>
                <a:ea typeface="Calibri" panose="020F0502020204030204" pitchFamily="34" charset="-122"/>
                <a:cs typeface="Calibri" panose="020F0502020204030204" pitchFamily="34" charset="-120"/>
              </a:rPr>
              <a:t>Pemilihan Fitur
</a:t>
            </a:r>
            <a:endParaRPr lang="en-US" sz="110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Memilih 3 fitur: Age, Annual Income (k$), Spending Score (1-100)</a:t>
            </a:r>
            <a:endParaRPr lang="en-US" sz="1100" dirty="0"/>
          </a:p>
        </p:txBody>
      </p:sp>
      <p:sp>
        <p:nvSpPr>
          <p:cNvPr id="20" name="Shape 18"/>
          <p:cNvSpPr/>
          <p:nvPr/>
        </p:nvSpPr>
        <p:spPr>
          <a:xfrm>
            <a:off x="2286000" y="2697480"/>
            <a:ext cx="0" cy="155448"/>
          </a:xfrm>
          <a:prstGeom prst="line">
            <a:avLst/>
          </a:prstGeom>
          <a:noFill/>
          <a:ln w="19050">
            <a:solidFill>
              <a:srgbClr val="7C3AED">
                <a:alpha val="60000"/>
              </a:srgbClr>
            </a:solidFill>
            <a:prstDash val="solid"/>
          </a:ln>
        </p:spPr>
      </p:sp>
      <p:sp>
        <p:nvSpPr>
          <p:cNvPr id="21" name="Shape 19"/>
          <p:cNvSpPr/>
          <p:nvPr/>
        </p:nvSpPr>
        <p:spPr>
          <a:xfrm>
            <a:off x="4709160" y="1828800"/>
            <a:ext cx="4251960" cy="868680"/>
          </a:xfrm>
          <a:prstGeom prst="roundRect">
            <a:avLst>
              <a:gd name="adj" fmla="val 8421"/>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22" name="Text 20"/>
          <p:cNvSpPr/>
          <p:nvPr/>
        </p:nvSpPr>
        <p:spPr>
          <a:xfrm>
            <a:off x="4709160" y="1828800"/>
            <a:ext cx="548640" cy="868680"/>
          </a:xfrm>
          <a:prstGeom prst="rect">
            <a:avLst/>
          </a:prstGeom>
          <a:noFill/>
        </p:spPr>
        <p:txBody>
          <a:bodyPr wrap="square" lIns="0" tIns="0" rIns="0" bIns="0" rtlCol="0" anchor="ctr"/>
          <a:lstStyle/>
          <a:p>
            <a:pPr marL="0" indent="0" algn="ctr">
              <a:buNone/>
            </a:pPr>
            <a:r>
              <a:rPr lang="en-US" sz="2000" b="1" dirty="0">
                <a:solidFill>
                  <a:srgbClr val="7C3AED"/>
                </a:solidFill>
                <a:latin typeface="Cambria" panose="02040503050406030204" pitchFamily="34" charset="0"/>
                <a:ea typeface="Cambria" panose="02040503050406030204" pitchFamily="34" charset="-122"/>
                <a:cs typeface="Cambria" panose="02040503050406030204" pitchFamily="34" charset="-120"/>
              </a:rPr>
              <a:t>04</a:t>
            </a:r>
            <a:endParaRPr lang="en-US" sz="2000" dirty="0"/>
          </a:p>
        </p:txBody>
      </p:sp>
      <p:sp>
        <p:nvSpPr>
          <p:cNvPr id="23" name="Text 21"/>
          <p:cNvSpPr/>
          <p:nvPr/>
        </p:nvSpPr>
        <p:spPr>
          <a:xfrm>
            <a:off x="5276088" y="1828800"/>
            <a:ext cx="3611880" cy="868680"/>
          </a:xfrm>
          <a:prstGeom prst="rect">
            <a:avLst/>
          </a:prstGeom>
          <a:noFill/>
        </p:spPr>
        <p:txBody>
          <a:bodyPr wrap="square" lIns="50800" tIns="0" rIns="0" bIns="50800" rtlCol="0" anchor="ctr"/>
          <a:lstStyle/>
          <a:p>
            <a:pPr marL="0" indent="0">
              <a:buNone/>
            </a:pPr>
            <a:r>
              <a:rPr lang="en-US" sz="1100" b="1" dirty="0">
                <a:solidFill>
                  <a:srgbClr val="F5F3FF"/>
                </a:solidFill>
                <a:latin typeface="Calibri" panose="020F0502020204030204" pitchFamily="34" charset="0"/>
                <a:ea typeface="Calibri" panose="020F0502020204030204" pitchFamily="34" charset="-122"/>
                <a:cs typeface="Calibri" panose="020F0502020204030204" pitchFamily="34" charset="-120"/>
              </a:rPr>
              <a:t>Standardisasi Data
</a:t>
            </a:r>
            <a:endParaRPr lang="en-US" sz="110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StandardScaler → rata-rata ≈ 0, standar deviasi ≈ 1 untuk setiap fitur</a:t>
            </a:r>
            <a:endParaRPr lang="en-US" sz="1100" dirty="0"/>
          </a:p>
        </p:txBody>
      </p:sp>
      <p:sp>
        <p:nvSpPr>
          <p:cNvPr id="24" name="Shape 22"/>
          <p:cNvSpPr/>
          <p:nvPr/>
        </p:nvSpPr>
        <p:spPr>
          <a:xfrm>
            <a:off x="6720840" y="2697480"/>
            <a:ext cx="0" cy="155448"/>
          </a:xfrm>
          <a:prstGeom prst="line">
            <a:avLst/>
          </a:prstGeom>
          <a:noFill/>
          <a:ln w="19050">
            <a:solidFill>
              <a:srgbClr val="7C3AED">
                <a:alpha val="60000"/>
              </a:srgbClr>
            </a:solidFill>
            <a:prstDash val="solid"/>
          </a:ln>
        </p:spPr>
      </p:sp>
      <p:sp>
        <p:nvSpPr>
          <p:cNvPr id="25" name="Shape 23"/>
          <p:cNvSpPr/>
          <p:nvPr/>
        </p:nvSpPr>
        <p:spPr>
          <a:xfrm>
            <a:off x="274320" y="2852928"/>
            <a:ext cx="4251960" cy="868680"/>
          </a:xfrm>
          <a:prstGeom prst="roundRect">
            <a:avLst>
              <a:gd name="adj" fmla="val 8421"/>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26" name="Text 24"/>
          <p:cNvSpPr/>
          <p:nvPr/>
        </p:nvSpPr>
        <p:spPr>
          <a:xfrm>
            <a:off x="274320" y="2852928"/>
            <a:ext cx="548640" cy="868680"/>
          </a:xfrm>
          <a:prstGeom prst="rect">
            <a:avLst/>
          </a:prstGeom>
          <a:noFill/>
        </p:spPr>
        <p:txBody>
          <a:bodyPr wrap="square" lIns="0" tIns="0" rIns="0" bIns="0" rtlCol="0" anchor="ctr"/>
          <a:lstStyle/>
          <a:p>
            <a:pPr marL="0" indent="0" algn="ctr">
              <a:buNone/>
            </a:pPr>
            <a:r>
              <a:rPr lang="en-US" sz="2000" b="1" dirty="0">
                <a:solidFill>
                  <a:srgbClr val="7C3AED"/>
                </a:solidFill>
                <a:latin typeface="Cambria" panose="02040503050406030204" pitchFamily="34" charset="0"/>
                <a:ea typeface="Cambria" panose="02040503050406030204" pitchFamily="34" charset="-122"/>
                <a:cs typeface="Cambria" panose="02040503050406030204" pitchFamily="34" charset="-120"/>
              </a:rPr>
              <a:t>05</a:t>
            </a:r>
            <a:endParaRPr lang="en-US" sz="2000" dirty="0"/>
          </a:p>
        </p:txBody>
      </p:sp>
      <p:sp>
        <p:nvSpPr>
          <p:cNvPr id="27" name="Text 25"/>
          <p:cNvSpPr/>
          <p:nvPr/>
        </p:nvSpPr>
        <p:spPr>
          <a:xfrm>
            <a:off x="841248" y="2852928"/>
            <a:ext cx="3611880" cy="868680"/>
          </a:xfrm>
          <a:prstGeom prst="rect">
            <a:avLst/>
          </a:prstGeom>
          <a:noFill/>
        </p:spPr>
        <p:txBody>
          <a:bodyPr wrap="square" lIns="50800" tIns="0" rIns="0" bIns="50800" rtlCol="0" anchor="ctr"/>
          <a:lstStyle/>
          <a:p>
            <a:pPr marL="0" indent="0">
              <a:buNone/>
            </a:pPr>
            <a:r>
              <a:rPr lang="en-US" sz="1100" b="1" dirty="0">
                <a:solidFill>
                  <a:srgbClr val="F5F3FF"/>
                </a:solidFill>
                <a:latin typeface="Calibri" panose="020F0502020204030204" pitchFamily="34" charset="0"/>
                <a:ea typeface="Calibri" panose="020F0502020204030204" pitchFamily="34" charset="-122"/>
                <a:cs typeface="Calibri" panose="020F0502020204030204" pitchFamily="34" charset="-120"/>
              </a:rPr>
              <a:t>Penentuan Jumlah Cluster
</a:t>
            </a:r>
            <a:endParaRPr lang="en-US" sz="110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Evaluasi BIC &amp; AIC untuk k = 1 hingga 10 → pilih BIC terendah</a:t>
            </a:r>
            <a:endParaRPr lang="en-US" sz="1100" dirty="0"/>
          </a:p>
        </p:txBody>
      </p:sp>
      <p:sp>
        <p:nvSpPr>
          <p:cNvPr id="28" name="Shape 26"/>
          <p:cNvSpPr/>
          <p:nvPr/>
        </p:nvSpPr>
        <p:spPr>
          <a:xfrm>
            <a:off x="2286000" y="3721608"/>
            <a:ext cx="0" cy="155448"/>
          </a:xfrm>
          <a:prstGeom prst="line">
            <a:avLst/>
          </a:prstGeom>
          <a:noFill/>
          <a:ln w="19050">
            <a:solidFill>
              <a:srgbClr val="7C3AED">
                <a:alpha val="60000"/>
              </a:srgbClr>
            </a:solidFill>
            <a:prstDash val="solid"/>
          </a:ln>
        </p:spPr>
      </p:sp>
      <p:sp>
        <p:nvSpPr>
          <p:cNvPr id="29" name="Shape 27"/>
          <p:cNvSpPr/>
          <p:nvPr/>
        </p:nvSpPr>
        <p:spPr>
          <a:xfrm>
            <a:off x="4709160" y="2852928"/>
            <a:ext cx="4251960" cy="868680"/>
          </a:xfrm>
          <a:prstGeom prst="roundRect">
            <a:avLst>
              <a:gd name="adj" fmla="val 8421"/>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30" name="Text 28"/>
          <p:cNvSpPr/>
          <p:nvPr/>
        </p:nvSpPr>
        <p:spPr>
          <a:xfrm>
            <a:off x="4709160" y="2852928"/>
            <a:ext cx="548640" cy="868680"/>
          </a:xfrm>
          <a:prstGeom prst="rect">
            <a:avLst/>
          </a:prstGeom>
          <a:noFill/>
        </p:spPr>
        <p:txBody>
          <a:bodyPr wrap="square" lIns="0" tIns="0" rIns="0" bIns="0" rtlCol="0" anchor="ctr"/>
          <a:lstStyle/>
          <a:p>
            <a:pPr marL="0" indent="0" algn="ctr">
              <a:buNone/>
            </a:pPr>
            <a:r>
              <a:rPr lang="en-US" sz="2000" b="1" dirty="0">
                <a:solidFill>
                  <a:srgbClr val="7C3AED"/>
                </a:solidFill>
                <a:latin typeface="Cambria" panose="02040503050406030204" pitchFamily="34" charset="0"/>
                <a:ea typeface="Cambria" panose="02040503050406030204" pitchFamily="34" charset="-122"/>
                <a:cs typeface="Cambria" panose="02040503050406030204" pitchFamily="34" charset="-120"/>
              </a:rPr>
              <a:t>06</a:t>
            </a:r>
            <a:endParaRPr lang="en-US" sz="2000" dirty="0"/>
          </a:p>
        </p:txBody>
      </p:sp>
      <p:sp>
        <p:nvSpPr>
          <p:cNvPr id="31" name="Text 29"/>
          <p:cNvSpPr/>
          <p:nvPr/>
        </p:nvSpPr>
        <p:spPr>
          <a:xfrm>
            <a:off x="5276088" y="2852928"/>
            <a:ext cx="3611880" cy="868680"/>
          </a:xfrm>
          <a:prstGeom prst="rect">
            <a:avLst/>
          </a:prstGeom>
          <a:noFill/>
        </p:spPr>
        <p:txBody>
          <a:bodyPr wrap="square" lIns="50800" tIns="0" rIns="0" bIns="50800" rtlCol="0" anchor="ctr"/>
          <a:lstStyle/>
          <a:p>
            <a:pPr marL="0" indent="0">
              <a:buNone/>
            </a:pPr>
            <a:r>
              <a:rPr lang="en-US" sz="1100" b="1" dirty="0">
                <a:solidFill>
                  <a:srgbClr val="F5F3FF"/>
                </a:solidFill>
                <a:latin typeface="Calibri" panose="020F0502020204030204" pitchFamily="34" charset="0"/>
                <a:ea typeface="Calibri" panose="020F0502020204030204" pitchFamily="34" charset="-122"/>
                <a:cs typeface="Calibri" panose="020F0502020204030204" pitchFamily="34" charset="-120"/>
              </a:rPr>
              <a:t>Implementasi GMM
</a:t>
            </a:r>
            <a:endParaRPr lang="en-US" sz="110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GaussianMixture(n_components=4, random_state=42).fit() &amp; predict()</a:t>
            </a:r>
            <a:endParaRPr lang="en-US" sz="1100" dirty="0"/>
          </a:p>
        </p:txBody>
      </p:sp>
      <p:sp>
        <p:nvSpPr>
          <p:cNvPr id="32" name="Shape 30"/>
          <p:cNvSpPr/>
          <p:nvPr/>
        </p:nvSpPr>
        <p:spPr>
          <a:xfrm>
            <a:off x="6720840" y="3721608"/>
            <a:ext cx="0" cy="155448"/>
          </a:xfrm>
          <a:prstGeom prst="line">
            <a:avLst/>
          </a:prstGeom>
          <a:noFill/>
          <a:ln w="19050">
            <a:solidFill>
              <a:srgbClr val="7C3AED">
                <a:alpha val="60000"/>
              </a:srgbClr>
            </a:solidFill>
            <a:prstDash val="solid"/>
          </a:ln>
        </p:spPr>
      </p:sp>
      <p:sp>
        <p:nvSpPr>
          <p:cNvPr id="33" name="Shape 31"/>
          <p:cNvSpPr/>
          <p:nvPr/>
        </p:nvSpPr>
        <p:spPr>
          <a:xfrm>
            <a:off x="274320" y="3877056"/>
            <a:ext cx="4251960" cy="868680"/>
          </a:xfrm>
          <a:prstGeom prst="roundRect">
            <a:avLst>
              <a:gd name="adj" fmla="val 8421"/>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34" name="Text 32"/>
          <p:cNvSpPr/>
          <p:nvPr/>
        </p:nvSpPr>
        <p:spPr>
          <a:xfrm>
            <a:off x="274320" y="3877056"/>
            <a:ext cx="548640" cy="868680"/>
          </a:xfrm>
          <a:prstGeom prst="rect">
            <a:avLst/>
          </a:prstGeom>
          <a:noFill/>
        </p:spPr>
        <p:txBody>
          <a:bodyPr wrap="square" lIns="0" tIns="0" rIns="0" bIns="0" rtlCol="0" anchor="ctr"/>
          <a:lstStyle/>
          <a:p>
            <a:pPr marL="0" indent="0" algn="ctr">
              <a:buNone/>
            </a:pPr>
            <a:r>
              <a:rPr lang="en-US" sz="2000" b="1" dirty="0">
                <a:solidFill>
                  <a:srgbClr val="7C3AED"/>
                </a:solidFill>
                <a:latin typeface="Cambria" panose="02040503050406030204" pitchFamily="34" charset="0"/>
                <a:ea typeface="Cambria" panose="02040503050406030204" pitchFamily="34" charset="-122"/>
                <a:cs typeface="Cambria" panose="02040503050406030204" pitchFamily="34" charset="-120"/>
              </a:rPr>
              <a:t>07</a:t>
            </a:r>
            <a:endParaRPr lang="en-US" sz="2000" dirty="0"/>
          </a:p>
        </p:txBody>
      </p:sp>
      <p:sp>
        <p:nvSpPr>
          <p:cNvPr id="35" name="Text 33"/>
          <p:cNvSpPr/>
          <p:nvPr/>
        </p:nvSpPr>
        <p:spPr>
          <a:xfrm>
            <a:off x="841248" y="3877056"/>
            <a:ext cx="3611880" cy="868680"/>
          </a:xfrm>
          <a:prstGeom prst="rect">
            <a:avLst/>
          </a:prstGeom>
          <a:noFill/>
        </p:spPr>
        <p:txBody>
          <a:bodyPr wrap="square" lIns="50800" tIns="0" rIns="0" bIns="50800" rtlCol="0" anchor="ctr"/>
          <a:lstStyle/>
          <a:p>
            <a:pPr marL="0" indent="0">
              <a:buNone/>
            </a:pPr>
            <a:r>
              <a:rPr lang="en-US" sz="1100" b="1" dirty="0">
                <a:solidFill>
                  <a:srgbClr val="F5F3FF"/>
                </a:solidFill>
                <a:latin typeface="Calibri" panose="020F0502020204030204" pitchFamily="34" charset="0"/>
                <a:ea typeface="Calibri" panose="020F0502020204030204" pitchFamily="34" charset="-122"/>
                <a:cs typeface="Calibri" panose="020F0502020204030204" pitchFamily="34" charset="-120"/>
              </a:rPr>
              <a:t>Visualisasi &amp; Evaluasi
</a:t>
            </a:r>
            <a:endParaRPr lang="en-US" sz="110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Scatter plot clustering + Silhouette Score</a:t>
            </a:r>
            <a:endParaRPr lang="en-US" sz="1100" dirty="0"/>
          </a:p>
        </p:txBody>
      </p:sp>
      <p:sp>
        <p:nvSpPr>
          <p:cNvPr id="36" name="Shape 34"/>
          <p:cNvSpPr/>
          <p:nvPr/>
        </p:nvSpPr>
        <p:spPr>
          <a:xfrm>
            <a:off x="4709160" y="3877056"/>
            <a:ext cx="4251960" cy="868680"/>
          </a:xfrm>
          <a:prstGeom prst="roundRect">
            <a:avLst>
              <a:gd name="adj" fmla="val 8421"/>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37" name="Text 35"/>
          <p:cNvSpPr/>
          <p:nvPr/>
        </p:nvSpPr>
        <p:spPr>
          <a:xfrm>
            <a:off x="4709160" y="3877056"/>
            <a:ext cx="548640" cy="868680"/>
          </a:xfrm>
          <a:prstGeom prst="rect">
            <a:avLst/>
          </a:prstGeom>
          <a:noFill/>
        </p:spPr>
        <p:txBody>
          <a:bodyPr wrap="square" lIns="0" tIns="0" rIns="0" bIns="0" rtlCol="0" anchor="ctr"/>
          <a:lstStyle/>
          <a:p>
            <a:pPr marL="0" indent="0" algn="ctr">
              <a:buNone/>
            </a:pPr>
            <a:r>
              <a:rPr lang="en-US" sz="2000" b="1" dirty="0">
                <a:solidFill>
                  <a:srgbClr val="7C3AED"/>
                </a:solidFill>
                <a:latin typeface="Cambria" panose="02040503050406030204" pitchFamily="34" charset="0"/>
                <a:ea typeface="Cambria" panose="02040503050406030204" pitchFamily="34" charset="-122"/>
                <a:cs typeface="Cambria" panose="02040503050406030204" pitchFamily="34" charset="-120"/>
              </a:rPr>
              <a:t>08</a:t>
            </a:r>
            <a:endParaRPr lang="en-US" sz="2000" dirty="0"/>
          </a:p>
        </p:txBody>
      </p:sp>
      <p:sp>
        <p:nvSpPr>
          <p:cNvPr id="38" name="Text 36"/>
          <p:cNvSpPr/>
          <p:nvPr/>
        </p:nvSpPr>
        <p:spPr>
          <a:xfrm>
            <a:off x="5276088" y="3877056"/>
            <a:ext cx="3611880" cy="868680"/>
          </a:xfrm>
          <a:prstGeom prst="rect">
            <a:avLst/>
          </a:prstGeom>
          <a:noFill/>
        </p:spPr>
        <p:txBody>
          <a:bodyPr wrap="square" lIns="50800" tIns="0" rIns="0" bIns="50800" rtlCol="0" anchor="ctr"/>
          <a:lstStyle/>
          <a:p>
            <a:pPr marL="0" indent="0">
              <a:buNone/>
            </a:pPr>
            <a:r>
              <a:rPr lang="en-US" sz="1100" b="1" dirty="0">
                <a:solidFill>
                  <a:srgbClr val="F5F3FF"/>
                </a:solidFill>
                <a:latin typeface="Calibri" panose="020F0502020204030204" pitchFamily="34" charset="0"/>
                <a:ea typeface="Calibri" panose="020F0502020204030204" pitchFamily="34" charset="-122"/>
                <a:cs typeface="Calibri" panose="020F0502020204030204" pitchFamily="34" charset="-120"/>
              </a:rPr>
              <a:t>Analisis Karakteristik
</a:t>
            </a:r>
            <a:endParaRPr lang="en-US" sz="110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groupby(Cluster).mean() → interpretasi tiap segmen pelanggan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19" name="HeaderBg"/>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20" name="HeaderLine"/>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21" name="Text"/>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Tahap 1 — Import Library &amp; Membaca Dataset</a:t>
            </a:r>
            <a:endParaRPr lang="en-US" sz="1000" dirty="0"/>
          </a:p>
        </p:txBody>
      </p:sp>
      <p:sp>
        <p:nvSpPr>
          <p:cNvPr id="22" name="FooterBg"/>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23" name="FooterLine"/>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24" name="Text"/>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1000" dirty="0"/>
          </a:p>
        </p:txBody>
      </p:sp>
      <p:sp>
        <p:nvSpPr>
          <p:cNvPr id="25" name="Text"/>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9</a:t>
            </a:r>
            <a:endParaRPr lang="en-US" sz="1000" dirty="0"/>
          </a:p>
        </p:txBody>
      </p:sp>
      <p:sp>
        <p:nvSpPr>
          <p:cNvPr id="2" name="Panel"/>
          <p:cNvSpPr/>
          <p:nvPr/>
        </p:nvSpPr>
        <p:spPr>
          <a:xfrm>
            <a:off x="274320" y="804672"/>
            <a:ext cx="4297680" cy="1900000"/>
          </a:xfrm>
          <a:prstGeom prst="roundRect">
            <a:avLst>
              <a:gd name="adj" fmla="val 1800"/>
            </a:avLst>
          </a:prstGeom>
          <a:solidFill>
            <a:srgbClr val="0D0A1F"/>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3" name="Text"/>
          <p:cNvSpPr/>
          <p:nvPr/>
        </p:nvSpPr>
        <p:spPr>
          <a:xfrm>
            <a:off x="365760" y="841248"/>
            <a:ext cx="4114800" cy="256032"/>
          </a:xfrm>
          <a:prstGeom prst="rect">
            <a:avLst/>
          </a:prstGeom>
          <a:noFill/>
        </p:spPr>
        <p:txBody>
          <a:bodyPr wrap="square" lIns="0" tIns="0" rIns="0" bIns="0" rtlCol="0" anchor="ctr"/>
          <a:lstStyle/>
          <a:p>
            <a:pPr marL="0" indent="0">
              <a:buNone/>
            </a:pPr>
            <a:r>
              <a:rPr lang="en-US" sz="800" dirty="0">
                <a:solidFill>
                  <a:srgbClr val="6D6D8A"/>
                </a:solidFill>
                <a:latin typeface="Courier New" panose="02070309020205020404" pitchFamily="34" charset="0"/>
                <a:ea typeface="Courier New" panose="02070309020205020404" pitchFamily="34" charset="-122"/>
                <a:cs typeface="Courier New" panose="02070309020205020404" pitchFamily="34" charset="-120"/>
              </a:rPr>
              <a:t># Import Library</a:t>
            </a:r>
            <a:endParaRPr lang="en-US" sz="1000" dirty="0"/>
          </a:p>
        </p:txBody>
      </p:sp>
      <p:sp>
        <p:nvSpPr>
          <p:cNvPr id="4" name="Text"/>
          <p:cNvSpPr/>
          <p:nvPr/>
        </p:nvSpPr>
        <p:spPr>
          <a:xfrm>
            <a:off x="365760" y="1114672"/>
            <a:ext cx="4114800" cy="1550000"/>
          </a:xfrm>
          <a:prstGeom prst="rect">
            <a:avLst/>
          </a:prstGeom>
          <a:noFill/>
        </p:spPr>
        <p:txBody>
          <a:bodyPr wrap="square" lIns="50800" tIns="30000" rIns="50800" bIns="30000" rtlCol="0" anchor="t"/>
          <a:lstStyle/>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import pandas as pd</a:t>
            </a: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import numpy as np</a:t>
            </a:r>
            <a:endParaRPr lang="en-US" sz="1000" dirty="0"/>
          </a:p>
          <a:p>
            <a:pPr marL="0" indent="0">
              <a:buNone/>
            </a:pP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import matplotlib.pyplot as plt</a:t>
            </a: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import seaborn as sns</a:t>
            </a:r>
            <a:endParaRPr lang="en-US" sz="1000" dirty="0"/>
          </a:p>
          <a:p>
            <a:pPr marL="0" indent="0">
              <a:buNone/>
            </a:pP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from sklearn.preprocessing import </a:t>
            </a:r>
            <a:r>
              <a:rPr lang="en-US" sz="9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StandardScaler</a:t>
            </a: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from sklearn.mixture import </a:t>
            </a:r>
            <a:r>
              <a:rPr lang="en-US" sz="9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GaussianMixture</a:t>
            </a:r>
            <a:endParaRPr lang="en-US" sz="1000" dirty="0"/>
          </a:p>
        </p:txBody>
      </p:sp>
      <p:sp>
        <p:nvSpPr>
          <p:cNvPr id="5" name="Panel"/>
          <p:cNvSpPr/>
          <p:nvPr/>
        </p:nvSpPr>
        <p:spPr>
          <a:xfrm>
            <a:off x="274320" y="2854672"/>
            <a:ext cx="4297680" cy="1000000"/>
          </a:xfrm>
          <a:prstGeom prst="roundRect">
            <a:avLst>
              <a:gd name="adj" fmla="val 1800"/>
            </a:avLst>
          </a:prstGeom>
          <a:solidFill>
            <a:srgbClr val="0D0A1F"/>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6" name="Text"/>
          <p:cNvSpPr/>
          <p:nvPr/>
        </p:nvSpPr>
        <p:spPr>
          <a:xfrm>
            <a:off x="365760" y="2891248"/>
            <a:ext cx="4114800" cy="256032"/>
          </a:xfrm>
          <a:prstGeom prst="rect">
            <a:avLst/>
          </a:prstGeom>
          <a:noFill/>
        </p:spPr>
        <p:txBody>
          <a:bodyPr wrap="square" lIns="0" tIns="0" rIns="0" bIns="0" rtlCol="0" anchor="ctr"/>
          <a:lstStyle/>
          <a:p>
            <a:pPr marL="0" indent="0">
              <a:buNone/>
            </a:pPr>
            <a:r>
              <a:rPr lang="en-US" sz="800" dirty="0">
                <a:solidFill>
                  <a:srgbClr val="6D6D8A"/>
                </a:solidFill>
                <a:latin typeface="Courier New" panose="02070309020205020404" pitchFamily="34" charset="0"/>
                <a:ea typeface="Courier New" panose="02070309020205020404" pitchFamily="34" charset="-122"/>
                <a:cs typeface="Courier New" panose="02070309020205020404" pitchFamily="34" charset="-120"/>
              </a:rPr>
              <a:t># Membaca Dataset</a:t>
            </a:r>
            <a:endParaRPr lang="en-US" sz="1000" dirty="0"/>
          </a:p>
        </p:txBody>
      </p:sp>
      <p:sp>
        <p:nvSpPr>
          <p:cNvPr id="7" name="Text"/>
          <p:cNvSpPr/>
          <p:nvPr/>
        </p:nvSpPr>
        <p:spPr>
          <a:xfrm>
            <a:off x="365760" y="3164672"/>
            <a:ext cx="4114800" cy="650000"/>
          </a:xfrm>
          <a:prstGeom prst="rect">
            <a:avLst/>
          </a:prstGeom>
          <a:noFill/>
        </p:spPr>
        <p:txBody>
          <a:bodyPr wrap="square" lIns="50800" tIns="30000" rIns="50800" bIns="30000" rtlCol="0" anchor="t"/>
          <a:lstStyle/>
          <a:p>
            <a:pPr marL="0" indent="0">
              <a:buNone/>
            </a:pPr>
            <a:r>
              <a:rPr lang="en-US" sz="9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df</a:t>
            </a: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 pd.read_csv(</a:t>
            </a:r>
            <a:r>
              <a:rPr lang="en-US" sz="900" dirty="0">
                <a:solidFill>
                  <a:srgbClr val="34D399"/>
                </a:solidFill>
                <a:latin typeface="Courier New" panose="02070309020205020404" pitchFamily="34" charset="0"/>
                <a:ea typeface="Courier New" panose="02070309020205020404" pitchFamily="34" charset="-122"/>
                <a:cs typeface="Courier New" panose="02070309020205020404" pitchFamily="34" charset="-120"/>
              </a:rPr>
              <a:t>"Mall_Customers.csv"</a:t>
            </a: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a:t>
            </a:r>
            <a:endParaRPr lang="en-US" sz="1000" dirty="0"/>
          </a:p>
          <a:p>
            <a:pPr marL="0" indent="0">
              <a:buNone/>
            </a:pPr>
            <a:r>
              <a:rPr lang="en-US" sz="9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df</a:t>
            </a: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.head()</a:t>
            </a:r>
            <a:endParaRPr lang="en-US" sz="1000" dirty="0"/>
          </a:p>
        </p:txBody>
      </p:sp>
      <p:sp>
        <p:nvSpPr>
          <p:cNvPr id="8" name="Panel"/>
          <p:cNvSpPr/>
          <p:nvPr/>
        </p:nvSpPr>
        <p:spPr>
          <a:xfrm>
            <a:off x="4773168" y="804672"/>
            <a:ext cx="4096512" cy="2200000"/>
          </a:xfrm>
          <a:prstGeom prst="roundRect">
            <a:avLst>
              <a:gd name="adj" fmla="val 23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9" name="Text"/>
          <p:cNvSpPr/>
          <p:nvPr/>
        </p:nvSpPr>
        <p:spPr>
          <a:xfrm>
            <a:off x="4773168" y="804672"/>
            <a:ext cx="4096512" cy="2200000"/>
          </a:xfrm>
          <a:prstGeom prst="rect">
            <a:avLst/>
          </a:prstGeom>
          <a:noFill/>
        </p:spPr>
        <p:txBody>
          <a:bodyPr wrap="square" lIns="177800" tIns="177800" rIns="177800" bIns="101600" rtlCol="0" anchor="t"/>
          <a:lstStyle/>
          <a:p>
            <a:pPr marL="0" indent="0">
              <a:buNone/>
            </a:pPr>
            <a:r>
              <a:rPr lang="en-US" sz="1150" b="1" dirty="0">
                <a:solidFill>
                  <a:srgbClr val="A78BFA"/>
                </a:solidFill>
                <a:latin typeface="Calibri" panose="020F0502020204030204" pitchFamily="34" charset="0"/>
                <a:ea typeface="Calibri" panose="020F0502020204030204" pitchFamily="34" charset="-122"/>
                <a:cs typeface="Calibri" panose="020F0502020204030204" pitchFamily="34" charset="-120"/>
              </a:rPr>
              <a:t>Fungsi Library</a:t>
            </a:r>
            <a:endParaRPr lang="en-US" sz="1000" dirty="0"/>
          </a:p>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Pandas &amp; NumPy: manipulasi data &amp; operasi numerik.</a:t>
            </a:r>
            <a:endParaRPr lang="en-US" sz="1000" dirty="0"/>
          </a:p>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Matplotlib &amp; Seaborn: visualisasi data (EDA).</a:t>
            </a:r>
            <a:endParaRPr lang="en-US" sz="1000" dirty="0"/>
          </a:p>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Scikit-learn: StandardScaler &amp; GaussianMixture.</a:t>
            </a:r>
            <a:endParaRPr lang="en-US" sz="1000" dirty="0"/>
          </a:p>
          <a:p>
            <a:pPr marL="0" indent="0">
              <a:buNone/>
            </a:pPr>
            <a:r>
              <a:rPr lang="en-US" sz="1150" b="1" dirty="0">
                <a:solidFill>
                  <a:srgbClr val="A78BFA"/>
                </a:solidFill>
                <a:latin typeface="Calibri" panose="020F0502020204030204" pitchFamily="34" charset="0"/>
                <a:ea typeface="Calibri" panose="020F0502020204030204" pitchFamily="34" charset="-122"/>
                <a:cs typeface="Calibri" panose="020F0502020204030204" pitchFamily="34" charset="-120"/>
              </a:rPr>
              <a:t>Membaca Dataset</a:t>
            </a:r>
            <a:endParaRPr lang="en-US" sz="1000" dirty="0"/>
          </a:p>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Dataset dimuat dengan pd.read_csv().</a:t>
            </a:r>
            <a:endParaRPr lang="en-US" sz="1000" dirty="0"/>
          </a:p>
        </p:txBody>
      </p:sp>
      <p:sp>
        <p:nvSpPr>
          <p:cNvPr id="10" name="Panel"/>
          <p:cNvSpPr/>
          <p:nvPr/>
        </p:nvSpPr>
        <p:spPr>
          <a:xfrm>
            <a:off x="4773168" y="3154672"/>
            <a:ext cx="4096512" cy="1600000"/>
          </a:xfrm>
          <a:prstGeom prst="roundRect">
            <a:avLst>
              <a:gd name="adj" fmla="val 3500"/>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1" name="Text"/>
          <p:cNvSpPr/>
          <p:nvPr/>
        </p:nvSpPr>
        <p:spPr>
          <a:xfrm>
            <a:off x="4773168" y="3214672"/>
            <a:ext cx="4096512" cy="300000"/>
          </a:xfrm>
          <a:prstGeom prst="rect">
            <a:avLst/>
          </a:prstGeom>
          <a:noFill/>
        </p:spPr>
        <p:txBody>
          <a:bodyPr wrap="square" lIns="0" tIns="0" rIns="0" bIns="0" rtlCol="0" anchor="ctr"/>
          <a:lstStyle/>
          <a:p>
            <a:pPr marL="0" indent="0" algn="ctr">
              <a:buNone/>
            </a:pPr>
            <a:r>
              <a:rPr lang="en-US" sz="1150" b="1" dirty="0">
                <a:solidFill>
                  <a:srgbClr val="A78BFA"/>
                </a:solidFill>
                <a:latin typeface="Calibri" panose="020F0502020204030204" pitchFamily="34" charset="0"/>
                <a:ea typeface="Calibri" panose="020F0502020204030204" pitchFamily="34" charset="-122"/>
                <a:cs typeface="Calibri" panose="020F0502020204030204" pitchFamily="34" charset="-120"/>
              </a:rPr>
              <a:t>Struktur Dataset</a:t>
            </a:r>
            <a:endParaRPr lang="en-US" sz="1000" dirty="0"/>
          </a:p>
        </p:txBody>
      </p:sp>
      <p:sp>
        <p:nvSpPr>
          <p:cNvPr id="12" name="Text"/>
          <p:cNvSpPr/>
          <p:nvPr/>
        </p:nvSpPr>
        <p:spPr>
          <a:xfrm>
            <a:off x="4773168" y="3534672"/>
            <a:ext cx="1365504" cy="500000"/>
          </a:xfrm>
          <a:prstGeom prst="rect">
            <a:avLst/>
          </a:prstGeom>
          <a:noFill/>
        </p:spPr>
        <p:txBody>
          <a:bodyPr wrap="square" lIns="0" tIns="0" rIns="0" bIns="0" rtlCol="0" anchor="ctr"/>
          <a:lstStyle/>
          <a:p>
            <a:pPr marL="0" indent="0" algn="ctr">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200</a:t>
            </a:r>
            <a:endParaRPr lang="en-US" sz="1000" dirty="0"/>
          </a:p>
        </p:txBody>
      </p:sp>
      <p:sp>
        <p:nvSpPr>
          <p:cNvPr id="13" name="Text"/>
          <p:cNvSpPr/>
          <p:nvPr/>
        </p:nvSpPr>
        <p:spPr>
          <a:xfrm>
            <a:off x="4773168" y="4034672"/>
            <a:ext cx="1365504" cy="450000"/>
          </a:xfrm>
          <a:prstGeom prst="rect">
            <a:avLst/>
          </a:prstGeom>
          <a:noFill/>
        </p:spPr>
        <p:txBody>
          <a:bodyPr wrap="square" lIns="0" tIns="0" rIns="0" bIns="0" rtlCol="0" anchor="ctr"/>
          <a:lstStyle/>
          <a:p>
            <a:pPr marL="0" indent="0" algn="ctr">
              <a:buNone/>
            </a:pPr>
            <a:r>
              <a:rPr lang="en-US" sz="800" dirty="0">
                <a:solidFill>
                  <a:srgbClr val="C4B5FD"/>
                </a:solidFill>
                <a:latin typeface="Calibri" panose="020F0502020204030204" pitchFamily="34" charset="0"/>
                <a:ea typeface="Calibri" panose="020F0502020204030204" pitchFamily="34" charset="-122"/>
                <a:cs typeface="Calibri" panose="020F0502020204030204" pitchFamily="34" charset="-120"/>
              </a:rPr>
              <a:t>Data Pelanggan</a:t>
            </a:r>
            <a:endParaRPr lang="en-US" sz="1000" dirty="0"/>
          </a:p>
        </p:txBody>
      </p:sp>
      <p:sp>
        <p:nvSpPr>
          <p:cNvPr id="14" name="Text"/>
          <p:cNvSpPr/>
          <p:nvPr/>
        </p:nvSpPr>
        <p:spPr>
          <a:xfrm>
            <a:off x="6138672" y="3534672"/>
            <a:ext cx="1365504" cy="500000"/>
          </a:xfrm>
          <a:prstGeom prst="rect">
            <a:avLst/>
          </a:prstGeom>
          <a:noFill/>
        </p:spPr>
        <p:txBody>
          <a:bodyPr wrap="square" lIns="0" tIns="0" rIns="0" bIns="0" rtlCol="0" anchor="ctr"/>
          <a:lstStyle/>
          <a:p>
            <a:pPr marL="0" indent="0" algn="ctr">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5</a:t>
            </a:r>
            <a:endParaRPr lang="en-US" sz="1000" dirty="0"/>
          </a:p>
        </p:txBody>
      </p:sp>
      <p:sp>
        <p:nvSpPr>
          <p:cNvPr id="15" name="Text"/>
          <p:cNvSpPr/>
          <p:nvPr/>
        </p:nvSpPr>
        <p:spPr>
          <a:xfrm>
            <a:off x="6138672" y="4034672"/>
            <a:ext cx="1365504" cy="450000"/>
          </a:xfrm>
          <a:prstGeom prst="rect">
            <a:avLst/>
          </a:prstGeom>
          <a:noFill/>
        </p:spPr>
        <p:txBody>
          <a:bodyPr wrap="square" lIns="0" tIns="0" rIns="0" bIns="0" rtlCol="0" anchor="ctr"/>
          <a:lstStyle/>
          <a:p>
            <a:pPr marL="0" indent="0" algn="ctr">
              <a:buNone/>
            </a:pPr>
            <a:r>
              <a:rPr lang="en-US" sz="800" dirty="0">
                <a:solidFill>
                  <a:srgbClr val="C4B5FD"/>
                </a:solidFill>
                <a:latin typeface="Calibri" panose="020F0502020204030204" pitchFamily="34" charset="0"/>
                <a:ea typeface="Calibri" panose="020F0502020204030204" pitchFamily="34" charset="-122"/>
                <a:cs typeface="Calibri" panose="020F0502020204030204" pitchFamily="34" charset="-120"/>
              </a:rPr>
              <a:t>Atribut</a:t>
            </a:r>
            <a:endParaRPr lang="en-US" sz="1000" dirty="0"/>
          </a:p>
        </p:txBody>
      </p:sp>
      <p:sp>
        <p:nvSpPr>
          <p:cNvPr id="16" name="Text"/>
          <p:cNvSpPr/>
          <p:nvPr/>
        </p:nvSpPr>
        <p:spPr>
          <a:xfrm>
            <a:off x="7504176" y="3534672"/>
            <a:ext cx="1365504" cy="500000"/>
          </a:xfrm>
          <a:prstGeom prst="rect">
            <a:avLst/>
          </a:prstGeom>
          <a:noFill/>
        </p:spPr>
        <p:txBody>
          <a:bodyPr wrap="square" lIns="0" tIns="0" rIns="0" bIns="0" rtlCol="0" anchor="ctr"/>
          <a:lstStyle/>
          <a:p>
            <a:pPr marL="0" indent="0" algn="ctr">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0</a:t>
            </a:r>
            <a:endParaRPr lang="en-US" sz="1000" dirty="0"/>
          </a:p>
        </p:txBody>
      </p:sp>
      <p:sp>
        <p:nvSpPr>
          <p:cNvPr id="17" name="Text"/>
          <p:cNvSpPr/>
          <p:nvPr/>
        </p:nvSpPr>
        <p:spPr>
          <a:xfrm>
            <a:off x="7504176" y="4034672"/>
            <a:ext cx="1365504" cy="450000"/>
          </a:xfrm>
          <a:prstGeom prst="rect">
            <a:avLst/>
          </a:prstGeom>
          <a:noFill/>
        </p:spPr>
        <p:txBody>
          <a:bodyPr wrap="square" lIns="0" tIns="0" rIns="0" bIns="0" rtlCol="0" anchor="ctr"/>
          <a:lstStyle/>
          <a:p>
            <a:pPr marL="0" indent="0" algn="ctr">
              <a:buNone/>
            </a:pPr>
            <a:r>
              <a:rPr lang="en-US" sz="800" dirty="0">
                <a:solidFill>
                  <a:srgbClr val="C4B5FD"/>
                </a:solidFill>
                <a:latin typeface="Calibri" panose="020F0502020204030204" pitchFamily="34" charset="0"/>
                <a:ea typeface="Calibri" panose="020F0502020204030204" pitchFamily="34" charset="-122"/>
                <a:cs typeface="Calibri" panose="020F0502020204030204" pitchFamily="34" charset="-120"/>
              </a:rPr>
              <a:t>Missing Value</a:t>
            </a:r>
            <a:endParaRPr lang="en-US" sz="1000" dirty="0"/>
          </a:p>
        </p:txBody>
      </p:sp>
      <p:sp>
        <p:nvSpPr>
          <p:cNvPr id="18" name="Text"/>
          <p:cNvSpPr/>
          <p:nvPr/>
        </p:nvSpPr>
        <p:spPr>
          <a:xfrm>
            <a:off x="4864608" y="4454672"/>
            <a:ext cx="3913632" cy="280000"/>
          </a:xfrm>
          <a:prstGeom prst="rect">
            <a:avLst/>
          </a:prstGeom>
          <a:noFill/>
        </p:spPr>
        <p:txBody>
          <a:bodyPr wrap="square" lIns="0" tIns="0" rIns="0" bIns="0" rtlCol="0" anchor="ctr"/>
          <a:lstStyle/>
          <a:p>
            <a:pPr marL="0" indent="0" algn="ctr">
              <a:buNone/>
            </a:pPr>
            <a:r>
              <a:rPr lang="en-US" sz="800" dirty="0">
                <a:solidFill>
                  <a:srgbClr val="6D6D8A"/>
                </a:solidFill>
                <a:latin typeface="Calibri" panose="020F0502020204030204" pitchFamily="34" charset="0"/>
                <a:ea typeface="Calibri" panose="020F0502020204030204" pitchFamily="34" charset="-122"/>
                <a:cs typeface="Calibri" panose="020F0502020204030204" pitchFamily="34" charset="-120"/>
              </a:rPr>
              <a:t>3 Fitur Digunakan untuk Clustering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26" name="HeaderBg"/>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27" name="HeaderLine"/>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28" name="Text"/>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Tahap 2 — Exploratory Data Analysis (EDA)</a:t>
            </a:r>
            <a:endParaRPr lang="en-US" sz="1000" dirty="0"/>
          </a:p>
        </p:txBody>
      </p:sp>
      <p:sp>
        <p:nvSpPr>
          <p:cNvPr id="29" name="FooterBg"/>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30" name="FooterLine"/>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31" name="Text"/>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1000" dirty="0"/>
          </a:p>
        </p:txBody>
      </p:sp>
      <p:sp>
        <p:nvSpPr>
          <p:cNvPr id="32" name="Text"/>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10</a:t>
            </a:r>
            <a:endParaRPr lang="en-US" sz="1000" dirty="0"/>
          </a:p>
        </p:txBody>
      </p:sp>
      <p:sp>
        <p:nvSpPr>
          <p:cNvPr id="2" name="Panel"/>
          <p:cNvSpPr/>
          <p:nvPr/>
        </p:nvSpPr>
        <p:spPr>
          <a:xfrm>
            <a:off x="274320" y="804672"/>
            <a:ext cx="4297680" cy="2000000"/>
          </a:xfrm>
          <a:prstGeom prst="roundRect">
            <a:avLst>
              <a:gd name="adj" fmla="val 1800"/>
            </a:avLst>
          </a:prstGeom>
          <a:solidFill>
            <a:srgbClr val="0D0A1F"/>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3" name="Text"/>
          <p:cNvSpPr/>
          <p:nvPr/>
        </p:nvSpPr>
        <p:spPr>
          <a:xfrm>
            <a:off x="365760" y="841248"/>
            <a:ext cx="4114800" cy="256032"/>
          </a:xfrm>
          <a:prstGeom prst="rect">
            <a:avLst/>
          </a:prstGeom>
          <a:noFill/>
        </p:spPr>
        <p:txBody>
          <a:bodyPr wrap="square" lIns="0" tIns="0" rIns="0" bIns="0" rtlCol="0" anchor="ctr"/>
          <a:lstStyle/>
          <a:p>
            <a:pPr marL="0" indent="0">
              <a:buNone/>
            </a:pPr>
            <a:r>
              <a:rPr lang="en-US" sz="800" dirty="0">
                <a:solidFill>
                  <a:srgbClr val="6D6D8A"/>
                </a:solidFill>
                <a:latin typeface="Courier New" panose="02070309020205020404" pitchFamily="34" charset="0"/>
                <a:ea typeface="Courier New" panose="02070309020205020404" pitchFamily="34" charset="-122"/>
                <a:cs typeface="Courier New" panose="02070309020205020404" pitchFamily="34" charset="-120"/>
              </a:rPr>
              <a:t># EDA — Struktur &amp; Statistik</a:t>
            </a:r>
            <a:endParaRPr lang="en-US" sz="1000" dirty="0"/>
          </a:p>
        </p:txBody>
      </p:sp>
      <p:sp>
        <p:nvSpPr>
          <p:cNvPr id="4" name="Text"/>
          <p:cNvSpPr/>
          <p:nvPr/>
        </p:nvSpPr>
        <p:spPr>
          <a:xfrm>
            <a:off x="365760" y="1114672"/>
            <a:ext cx="4114800" cy="1650000"/>
          </a:xfrm>
          <a:prstGeom prst="rect">
            <a:avLst/>
          </a:prstGeom>
          <a:noFill/>
        </p:spPr>
        <p:txBody>
          <a:bodyPr wrap="square" lIns="50800" tIns="30000" rIns="50800" bIns="30000" rtlCol="0" anchor="t"/>
          <a:lstStyle/>
          <a:p>
            <a:pPr marL="0" indent="0">
              <a:buNone/>
            </a:pPr>
            <a:r>
              <a:rPr lang="en-US" sz="9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df</a:t>
            </a: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.info()</a:t>
            </a:r>
            <a:endParaRPr lang="en-US" sz="1000" dirty="0"/>
          </a:p>
          <a:p>
            <a:pPr marL="0" indent="0">
              <a:buNone/>
            </a:pPr>
            <a:endParaRPr lang="en-US" sz="1000" dirty="0"/>
          </a:p>
          <a:p>
            <a:pPr marL="0" indent="0">
              <a:buNone/>
            </a:pPr>
            <a:r>
              <a:rPr lang="en-US" sz="9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df</a:t>
            </a: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.describe()</a:t>
            </a:r>
            <a:endParaRPr lang="en-US" sz="1000" dirty="0"/>
          </a:p>
          <a:p>
            <a:pPr marL="0" indent="0">
              <a:buNone/>
            </a:pPr>
            <a:endParaRPr lang="en-US" sz="1000" dirty="0"/>
          </a:p>
          <a:p>
            <a:pPr marL="0" indent="0">
              <a:buNone/>
            </a:pPr>
            <a:r>
              <a:rPr lang="en-US" sz="9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df</a:t>
            </a: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.isnull().sum()</a:t>
            </a:r>
            <a:endParaRPr lang="en-US" sz="1000" dirty="0"/>
          </a:p>
        </p:txBody>
      </p:sp>
      <p:sp>
        <p:nvSpPr>
          <p:cNvPr id="5" name="Panel"/>
          <p:cNvSpPr/>
          <p:nvPr/>
        </p:nvSpPr>
        <p:spPr>
          <a:xfrm>
            <a:off x="274320" y="2954672"/>
            <a:ext cx="4297680" cy="1830000"/>
          </a:xfrm>
          <a:prstGeom prst="roundRect">
            <a:avLst>
              <a:gd name="adj" fmla="val 23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6" name="Text"/>
          <p:cNvSpPr/>
          <p:nvPr/>
        </p:nvSpPr>
        <p:spPr>
          <a:xfrm>
            <a:off x="274320" y="2954672"/>
            <a:ext cx="4297680" cy="1830000"/>
          </a:xfrm>
          <a:prstGeom prst="rect">
            <a:avLst/>
          </a:prstGeom>
          <a:noFill/>
        </p:spPr>
        <p:txBody>
          <a:bodyPr wrap="square" lIns="177800" tIns="177800" rIns="177800" bIns="101600" rtlCol="0" anchor="t"/>
          <a:lstStyle/>
          <a:p>
            <a:pPr marL="0" indent="0">
              <a:buNone/>
            </a:pPr>
            <a:r>
              <a:rPr lang="en-US" sz="1300" b="1" dirty="0">
                <a:solidFill>
                  <a:srgbClr val="A78BFA"/>
                </a:solidFill>
                <a:latin typeface="Calibri" panose="020F0502020204030204" pitchFamily="34" charset="0"/>
                <a:ea typeface="Calibri" panose="020F0502020204030204" pitchFamily="34" charset="-122"/>
                <a:cs typeface="Calibri" panose="020F0502020204030204" pitchFamily="34" charset="-120"/>
              </a:rPr>
              <a:t>Hasil Pemeriksaan</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info() menunjukkan 200 baris data dengan 5 kolom bertipe konsisten (int64 dan object).</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describe() menghasilkan statistik deskriptif: mean, std, min, max, dan kuartil tiap fitur numerik.</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isnull().sum() mengonfirmasi tidak ada missing value pada seluruh kolom.</a:t>
            </a:r>
            <a:endParaRPr lang="en-US" sz="1000" dirty="0"/>
          </a:p>
        </p:txBody>
      </p:sp>
      <p:sp>
        <p:nvSpPr>
          <p:cNvPr id="7" name="Panel"/>
          <p:cNvSpPr/>
          <p:nvPr/>
        </p:nvSpPr>
        <p:spPr>
          <a:xfrm>
            <a:off x="4773168" y="804672"/>
            <a:ext cx="4096512" cy="3977640"/>
          </a:xfrm>
          <a:prstGeom prst="roundRect">
            <a:avLst>
              <a:gd name="adj" fmla="val 1800"/>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8" name="Text"/>
          <p:cNvSpPr/>
          <p:nvPr/>
        </p:nvSpPr>
        <p:spPr>
          <a:xfrm>
            <a:off x="4864608" y="864672"/>
            <a:ext cx="3913632" cy="350000"/>
          </a:xfrm>
          <a:prstGeom prst="rect">
            <a:avLst/>
          </a:prstGeom>
          <a:noFill/>
        </p:spPr>
        <p:txBody>
          <a:bodyPr wrap="square" lIns="0" tIns="0" rIns="0" bIns="0" rtlCol="0" anchor="ctr"/>
          <a:lstStyle/>
          <a:p>
            <a:pPr marL="0" indent="0">
              <a:buNone/>
            </a:pPr>
            <a:r>
              <a:rPr lang="en-US" sz="1150" b="1" dirty="0">
                <a:solidFill>
                  <a:srgbClr val="A78BFA"/>
                </a:solidFill>
                <a:latin typeface="Calibri" panose="020F0502020204030204" pitchFamily="34" charset="0"/>
                <a:ea typeface="Calibri" panose="020F0502020204030204" pitchFamily="34" charset="-122"/>
                <a:cs typeface="Calibri" panose="020F0502020204030204" pitchFamily="34" charset="-120"/>
              </a:rPr>
              <a:t>Ringkasan Statistik Fitur</a:t>
            </a:r>
            <a:endParaRPr lang="en-US" sz="1000" dirty="0"/>
          </a:p>
        </p:txBody>
      </p:sp>
      <p:sp>
        <p:nvSpPr>
          <p:cNvPr id="9" name="Text"/>
          <p:cNvSpPr/>
          <p:nvPr/>
        </p:nvSpPr>
        <p:spPr>
          <a:xfrm>
            <a:off x="4864608" y="1284672"/>
            <a:ext cx="1547164" cy="420000"/>
          </a:xfrm>
          <a:prstGeom prst="rect">
            <a:avLst/>
          </a:prstGeom>
          <a:noFill/>
        </p:spPr>
        <p:txBody>
          <a:bodyPr wrap="square" lIns="0" tIns="0" rIns="0" bIns="0" rtlCol="0" anchor="ctr"/>
          <a:lstStyle/>
          <a:p>
            <a:pPr marL="0" indent="0">
              <a:buNone/>
            </a:pPr>
            <a:r>
              <a:rPr lang="en-US" sz="950" b="1" dirty="0">
                <a:solidFill>
                  <a:srgbClr val="A78BFA"/>
                </a:solidFill>
                <a:latin typeface="Calibri" panose="020F0502020204030204" pitchFamily="34" charset="0"/>
                <a:ea typeface="Calibri" panose="020F0502020204030204" pitchFamily="34" charset="-122"/>
                <a:cs typeface="Calibri" panose="020F0502020204030204" pitchFamily="34" charset="-120"/>
              </a:rPr>
              <a:t>Fitur</a:t>
            </a:r>
            <a:endParaRPr lang="en-US" sz="1000" dirty="0"/>
          </a:p>
        </p:txBody>
      </p:sp>
      <p:sp>
        <p:nvSpPr>
          <p:cNvPr id="10" name="Text"/>
          <p:cNvSpPr/>
          <p:nvPr/>
        </p:nvSpPr>
        <p:spPr>
          <a:xfrm>
            <a:off x="6411772" y="1284672"/>
            <a:ext cx="819302" cy="420000"/>
          </a:xfrm>
          <a:prstGeom prst="rect">
            <a:avLst/>
          </a:prstGeom>
          <a:noFill/>
        </p:spPr>
        <p:txBody>
          <a:bodyPr wrap="square" lIns="0" tIns="0" rIns="0" bIns="0" rtlCol="0" anchor="ctr"/>
          <a:lstStyle/>
          <a:p>
            <a:pPr marL="0" indent="0" algn="ctr">
              <a:buNone/>
            </a:pPr>
            <a:r>
              <a:rPr lang="en-US" sz="950" b="1" dirty="0">
                <a:solidFill>
                  <a:srgbClr val="A78BFA"/>
                </a:solidFill>
                <a:latin typeface="Calibri" panose="020F0502020204030204" pitchFamily="34" charset="0"/>
                <a:ea typeface="Calibri" panose="020F0502020204030204" pitchFamily="34" charset="-122"/>
                <a:cs typeface="Calibri" panose="020F0502020204030204" pitchFamily="34" charset="-120"/>
              </a:rPr>
              <a:t>Min</a:t>
            </a:r>
            <a:endParaRPr lang="en-US" sz="1000" dirty="0"/>
          </a:p>
        </p:txBody>
      </p:sp>
      <p:sp>
        <p:nvSpPr>
          <p:cNvPr id="11" name="Text"/>
          <p:cNvSpPr/>
          <p:nvPr/>
        </p:nvSpPr>
        <p:spPr>
          <a:xfrm>
            <a:off x="7231074" y="1284672"/>
            <a:ext cx="819302" cy="420000"/>
          </a:xfrm>
          <a:prstGeom prst="rect">
            <a:avLst/>
          </a:prstGeom>
          <a:noFill/>
        </p:spPr>
        <p:txBody>
          <a:bodyPr wrap="square" lIns="0" tIns="0" rIns="0" bIns="0" rtlCol="0" anchor="ctr"/>
          <a:lstStyle/>
          <a:p>
            <a:pPr marL="0" indent="0" algn="ctr">
              <a:buNone/>
            </a:pPr>
            <a:r>
              <a:rPr lang="en-US" sz="950" b="1" dirty="0">
                <a:solidFill>
                  <a:srgbClr val="A78BFA"/>
                </a:solidFill>
                <a:latin typeface="Calibri" panose="020F0502020204030204" pitchFamily="34" charset="0"/>
                <a:ea typeface="Calibri" panose="020F0502020204030204" pitchFamily="34" charset="-122"/>
                <a:cs typeface="Calibri" panose="020F0502020204030204" pitchFamily="34" charset="-120"/>
              </a:rPr>
              <a:t>Max</a:t>
            </a:r>
            <a:endParaRPr lang="en-US" sz="1000" dirty="0"/>
          </a:p>
        </p:txBody>
      </p:sp>
      <p:sp>
        <p:nvSpPr>
          <p:cNvPr id="12" name="Text"/>
          <p:cNvSpPr/>
          <p:nvPr/>
        </p:nvSpPr>
        <p:spPr>
          <a:xfrm>
            <a:off x="8050376" y="1284672"/>
            <a:ext cx="819302" cy="420000"/>
          </a:xfrm>
          <a:prstGeom prst="rect">
            <a:avLst/>
          </a:prstGeom>
          <a:noFill/>
        </p:spPr>
        <p:txBody>
          <a:bodyPr wrap="square" lIns="0" tIns="0" rIns="0" bIns="0" rtlCol="0" anchor="ctr"/>
          <a:lstStyle/>
          <a:p>
            <a:pPr marL="0" indent="0" algn="ctr">
              <a:buNone/>
            </a:pPr>
            <a:r>
              <a:rPr lang="en-US" sz="950" b="1" dirty="0">
                <a:solidFill>
                  <a:srgbClr val="A78BFA"/>
                </a:solidFill>
                <a:latin typeface="Calibri" panose="020F0502020204030204" pitchFamily="34" charset="0"/>
                <a:ea typeface="Calibri" panose="020F0502020204030204" pitchFamily="34" charset="-122"/>
                <a:cs typeface="Calibri" panose="020F0502020204030204" pitchFamily="34" charset="-120"/>
              </a:rPr>
              <a:t>Mean</a:t>
            </a:r>
            <a:endParaRPr lang="en-US" sz="1000" dirty="0"/>
          </a:p>
        </p:txBody>
      </p:sp>
      <p:sp>
        <p:nvSpPr>
          <p:cNvPr id="13" name="Text"/>
          <p:cNvSpPr/>
          <p:nvPr/>
        </p:nvSpPr>
        <p:spPr>
          <a:xfrm>
            <a:off x="4864608" y="1704672"/>
            <a:ext cx="1547164" cy="420000"/>
          </a:xfrm>
          <a:prstGeom prst="rect">
            <a:avLst/>
          </a:prstGeom>
          <a:noFill/>
        </p:spPr>
        <p:txBody>
          <a:bodyPr wrap="square" lIns="0" tIns="0" rIns="0" bIns="0" rtlCol="0" anchor="ctr"/>
          <a:lstStyle/>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Age</a:t>
            </a:r>
            <a:endParaRPr lang="en-US" sz="1000" dirty="0"/>
          </a:p>
        </p:txBody>
      </p:sp>
      <p:sp>
        <p:nvSpPr>
          <p:cNvPr id="14" name="Text"/>
          <p:cNvSpPr/>
          <p:nvPr/>
        </p:nvSpPr>
        <p:spPr>
          <a:xfrm>
            <a:off x="6411772" y="1704672"/>
            <a:ext cx="819302" cy="420000"/>
          </a:xfrm>
          <a:prstGeom prst="rect">
            <a:avLst/>
          </a:prstGeom>
          <a:noFill/>
        </p:spPr>
        <p:txBody>
          <a:bodyPr wrap="square" lIns="0" tIns="0" rIns="0" bIns="0" rtlCol="0" anchor="ctr"/>
          <a:lstStyle/>
          <a:p>
            <a:pPr marL="0" indent="0" algn="ctr">
              <a:buNone/>
            </a:pPr>
            <a:r>
              <a:rPr lang="en-US" sz="950" dirty="0">
                <a:solidFill>
                  <a:srgbClr val="C4B5FD"/>
                </a:solidFill>
                <a:latin typeface="Calibri" panose="020F0502020204030204" pitchFamily="34" charset="0"/>
                <a:ea typeface="Calibri" panose="020F0502020204030204" pitchFamily="34" charset="-122"/>
                <a:cs typeface="Calibri" panose="020F0502020204030204" pitchFamily="34" charset="-120"/>
              </a:rPr>
              <a:t>18</a:t>
            </a:r>
            <a:endParaRPr lang="en-US" sz="1000" dirty="0"/>
          </a:p>
        </p:txBody>
      </p:sp>
      <p:sp>
        <p:nvSpPr>
          <p:cNvPr id="15" name="Text"/>
          <p:cNvSpPr/>
          <p:nvPr/>
        </p:nvSpPr>
        <p:spPr>
          <a:xfrm>
            <a:off x="7231074" y="1704672"/>
            <a:ext cx="819302" cy="420000"/>
          </a:xfrm>
          <a:prstGeom prst="rect">
            <a:avLst/>
          </a:prstGeom>
          <a:noFill/>
        </p:spPr>
        <p:txBody>
          <a:bodyPr wrap="square" lIns="0" tIns="0" rIns="0" bIns="0" rtlCol="0" anchor="ctr"/>
          <a:lstStyle/>
          <a:p>
            <a:pPr marL="0" indent="0" algn="ctr">
              <a:buNone/>
            </a:pPr>
            <a:r>
              <a:rPr lang="en-US" sz="950" dirty="0">
                <a:solidFill>
                  <a:srgbClr val="C4B5FD"/>
                </a:solidFill>
                <a:latin typeface="Calibri" panose="020F0502020204030204" pitchFamily="34" charset="0"/>
                <a:ea typeface="Calibri" panose="020F0502020204030204" pitchFamily="34" charset="-122"/>
                <a:cs typeface="Calibri" panose="020F0502020204030204" pitchFamily="34" charset="-120"/>
              </a:rPr>
              <a:t>70</a:t>
            </a:r>
            <a:endParaRPr lang="en-US" sz="1000" dirty="0"/>
          </a:p>
        </p:txBody>
      </p:sp>
      <p:sp>
        <p:nvSpPr>
          <p:cNvPr id="16" name="Text"/>
          <p:cNvSpPr/>
          <p:nvPr/>
        </p:nvSpPr>
        <p:spPr>
          <a:xfrm>
            <a:off x="8050376" y="1704672"/>
            <a:ext cx="819302" cy="420000"/>
          </a:xfrm>
          <a:prstGeom prst="rect">
            <a:avLst/>
          </a:prstGeom>
          <a:noFill/>
        </p:spPr>
        <p:txBody>
          <a:bodyPr wrap="square" lIns="0" tIns="0" rIns="0" bIns="0" rtlCol="0" anchor="ctr"/>
          <a:lstStyle/>
          <a:p>
            <a:pPr marL="0" indent="0" algn="ctr">
              <a:buNone/>
            </a:pPr>
            <a:r>
              <a:rPr lang="en-US" sz="950" dirty="0">
                <a:solidFill>
                  <a:srgbClr val="C4B5FD"/>
                </a:solidFill>
                <a:latin typeface="Calibri" panose="020F0502020204030204" pitchFamily="34" charset="0"/>
                <a:ea typeface="Calibri" panose="020F0502020204030204" pitchFamily="34" charset="-122"/>
                <a:cs typeface="Calibri" panose="020F0502020204030204" pitchFamily="34" charset="-120"/>
              </a:rPr>
              <a:t>38.85</a:t>
            </a:r>
            <a:endParaRPr lang="en-US" sz="1000" dirty="0"/>
          </a:p>
        </p:txBody>
      </p:sp>
      <p:sp>
        <p:nvSpPr>
          <p:cNvPr id="17" name="Text"/>
          <p:cNvSpPr/>
          <p:nvPr/>
        </p:nvSpPr>
        <p:spPr>
          <a:xfrm>
            <a:off x="4864608" y="2124672"/>
            <a:ext cx="1547164" cy="420000"/>
          </a:xfrm>
          <a:prstGeom prst="rect">
            <a:avLst/>
          </a:prstGeom>
          <a:noFill/>
        </p:spPr>
        <p:txBody>
          <a:bodyPr wrap="square" lIns="0" tIns="0" rIns="0" bIns="0" rtlCol="0" anchor="ctr"/>
          <a:lstStyle/>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Annual Income (k$)</a:t>
            </a:r>
            <a:endParaRPr lang="en-US" sz="1000" dirty="0"/>
          </a:p>
        </p:txBody>
      </p:sp>
      <p:sp>
        <p:nvSpPr>
          <p:cNvPr id="18" name="Text"/>
          <p:cNvSpPr/>
          <p:nvPr/>
        </p:nvSpPr>
        <p:spPr>
          <a:xfrm>
            <a:off x="6411772" y="2124672"/>
            <a:ext cx="819302" cy="420000"/>
          </a:xfrm>
          <a:prstGeom prst="rect">
            <a:avLst/>
          </a:prstGeom>
          <a:noFill/>
        </p:spPr>
        <p:txBody>
          <a:bodyPr wrap="square" lIns="0" tIns="0" rIns="0" bIns="0" rtlCol="0" anchor="ctr"/>
          <a:lstStyle/>
          <a:p>
            <a:pPr marL="0" indent="0" algn="ctr">
              <a:buNone/>
            </a:pPr>
            <a:r>
              <a:rPr lang="en-US" sz="950" dirty="0">
                <a:solidFill>
                  <a:srgbClr val="C4B5FD"/>
                </a:solidFill>
                <a:latin typeface="Calibri" panose="020F0502020204030204" pitchFamily="34" charset="0"/>
                <a:ea typeface="Calibri" panose="020F0502020204030204" pitchFamily="34" charset="-122"/>
                <a:cs typeface="Calibri" panose="020F0502020204030204" pitchFamily="34" charset="-120"/>
              </a:rPr>
              <a:t>15</a:t>
            </a:r>
            <a:endParaRPr lang="en-US" sz="1000" dirty="0"/>
          </a:p>
        </p:txBody>
      </p:sp>
      <p:sp>
        <p:nvSpPr>
          <p:cNvPr id="19" name="Text"/>
          <p:cNvSpPr/>
          <p:nvPr/>
        </p:nvSpPr>
        <p:spPr>
          <a:xfrm>
            <a:off x="7231074" y="2124672"/>
            <a:ext cx="819302" cy="420000"/>
          </a:xfrm>
          <a:prstGeom prst="rect">
            <a:avLst/>
          </a:prstGeom>
          <a:noFill/>
        </p:spPr>
        <p:txBody>
          <a:bodyPr wrap="square" lIns="0" tIns="0" rIns="0" bIns="0" rtlCol="0" anchor="ctr"/>
          <a:lstStyle/>
          <a:p>
            <a:pPr marL="0" indent="0" algn="ctr">
              <a:buNone/>
            </a:pPr>
            <a:r>
              <a:rPr lang="en-US" sz="950" dirty="0">
                <a:solidFill>
                  <a:srgbClr val="C4B5FD"/>
                </a:solidFill>
                <a:latin typeface="Calibri" panose="020F0502020204030204" pitchFamily="34" charset="0"/>
                <a:ea typeface="Calibri" panose="020F0502020204030204" pitchFamily="34" charset="-122"/>
                <a:cs typeface="Calibri" panose="020F0502020204030204" pitchFamily="34" charset="-120"/>
              </a:rPr>
              <a:t>137</a:t>
            </a:r>
            <a:endParaRPr lang="en-US" sz="1000" dirty="0"/>
          </a:p>
        </p:txBody>
      </p:sp>
      <p:sp>
        <p:nvSpPr>
          <p:cNvPr id="20" name="Text"/>
          <p:cNvSpPr/>
          <p:nvPr/>
        </p:nvSpPr>
        <p:spPr>
          <a:xfrm>
            <a:off x="8050376" y="2124672"/>
            <a:ext cx="819302" cy="420000"/>
          </a:xfrm>
          <a:prstGeom prst="rect">
            <a:avLst/>
          </a:prstGeom>
          <a:noFill/>
        </p:spPr>
        <p:txBody>
          <a:bodyPr wrap="square" lIns="0" tIns="0" rIns="0" bIns="0" rtlCol="0" anchor="ctr"/>
          <a:lstStyle/>
          <a:p>
            <a:pPr marL="0" indent="0" algn="ctr">
              <a:buNone/>
            </a:pPr>
            <a:r>
              <a:rPr lang="en-US" sz="950" dirty="0">
                <a:solidFill>
                  <a:srgbClr val="C4B5FD"/>
                </a:solidFill>
                <a:latin typeface="Calibri" panose="020F0502020204030204" pitchFamily="34" charset="0"/>
                <a:ea typeface="Calibri" panose="020F0502020204030204" pitchFamily="34" charset="-122"/>
                <a:cs typeface="Calibri" panose="020F0502020204030204" pitchFamily="34" charset="-120"/>
              </a:rPr>
              <a:t>60.56</a:t>
            </a:r>
            <a:endParaRPr lang="en-US" sz="1000" dirty="0"/>
          </a:p>
        </p:txBody>
      </p:sp>
      <p:sp>
        <p:nvSpPr>
          <p:cNvPr id="21" name="Text"/>
          <p:cNvSpPr/>
          <p:nvPr/>
        </p:nvSpPr>
        <p:spPr>
          <a:xfrm>
            <a:off x="4864608" y="2544672"/>
            <a:ext cx="1547164" cy="420000"/>
          </a:xfrm>
          <a:prstGeom prst="rect">
            <a:avLst/>
          </a:prstGeom>
          <a:noFill/>
        </p:spPr>
        <p:txBody>
          <a:bodyPr wrap="square" lIns="0" tIns="0" rIns="0" bIns="0" rtlCol="0" anchor="ctr"/>
          <a:lstStyle/>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Spending Score</a:t>
            </a:r>
            <a:endParaRPr lang="en-US" sz="1000" dirty="0"/>
          </a:p>
        </p:txBody>
      </p:sp>
      <p:sp>
        <p:nvSpPr>
          <p:cNvPr id="22" name="Text"/>
          <p:cNvSpPr/>
          <p:nvPr/>
        </p:nvSpPr>
        <p:spPr>
          <a:xfrm>
            <a:off x="6411772" y="2544672"/>
            <a:ext cx="819302" cy="420000"/>
          </a:xfrm>
          <a:prstGeom prst="rect">
            <a:avLst/>
          </a:prstGeom>
          <a:noFill/>
        </p:spPr>
        <p:txBody>
          <a:bodyPr wrap="square" lIns="0" tIns="0" rIns="0" bIns="0" rtlCol="0" anchor="ctr"/>
          <a:lstStyle/>
          <a:p>
            <a:pPr marL="0" indent="0" algn="ctr">
              <a:buNone/>
            </a:pPr>
            <a:r>
              <a:rPr lang="en-US" sz="950" dirty="0">
                <a:solidFill>
                  <a:srgbClr val="C4B5FD"/>
                </a:solidFill>
                <a:latin typeface="Calibri" panose="020F0502020204030204" pitchFamily="34" charset="0"/>
                <a:ea typeface="Calibri" panose="020F0502020204030204" pitchFamily="34" charset="-122"/>
                <a:cs typeface="Calibri" panose="020F0502020204030204" pitchFamily="34" charset="-120"/>
              </a:rPr>
              <a:t>1</a:t>
            </a:r>
            <a:endParaRPr lang="en-US" sz="1000" dirty="0"/>
          </a:p>
        </p:txBody>
      </p:sp>
      <p:sp>
        <p:nvSpPr>
          <p:cNvPr id="23" name="Text"/>
          <p:cNvSpPr/>
          <p:nvPr/>
        </p:nvSpPr>
        <p:spPr>
          <a:xfrm>
            <a:off x="7231074" y="2544672"/>
            <a:ext cx="819302" cy="420000"/>
          </a:xfrm>
          <a:prstGeom prst="rect">
            <a:avLst/>
          </a:prstGeom>
          <a:noFill/>
        </p:spPr>
        <p:txBody>
          <a:bodyPr wrap="square" lIns="0" tIns="0" rIns="0" bIns="0" rtlCol="0" anchor="ctr"/>
          <a:lstStyle/>
          <a:p>
            <a:pPr marL="0" indent="0" algn="ctr">
              <a:buNone/>
            </a:pPr>
            <a:r>
              <a:rPr lang="en-US" sz="950" dirty="0">
                <a:solidFill>
                  <a:srgbClr val="C4B5FD"/>
                </a:solidFill>
                <a:latin typeface="Calibri" panose="020F0502020204030204" pitchFamily="34" charset="0"/>
                <a:ea typeface="Calibri" panose="020F0502020204030204" pitchFamily="34" charset="-122"/>
                <a:cs typeface="Calibri" panose="020F0502020204030204" pitchFamily="34" charset="-120"/>
              </a:rPr>
              <a:t>99</a:t>
            </a:r>
            <a:endParaRPr lang="en-US" sz="1000" dirty="0"/>
          </a:p>
        </p:txBody>
      </p:sp>
      <p:sp>
        <p:nvSpPr>
          <p:cNvPr id="24" name="Text"/>
          <p:cNvSpPr/>
          <p:nvPr/>
        </p:nvSpPr>
        <p:spPr>
          <a:xfrm>
            <a:off x="8050376" y="2544672"/>
            <a:ext cx="819302" cy="420000"/>
          </a:xfrm>
          <a:prstGeom prst="rect">
            <a:avLst/>
          </a:prstGeom>
          <a:noFill/>
        </p:spPr>
        <p:txBody>
          <a:bodyPr wrap="square" lIns="0" tIns="0" rIns="0" bIns="0" rtlCol="0" anchor="ctr"/>
          <a:lstStyle/>
          <a:p>
            <a:pPr marL="0" indent="0" algn="ctr">
              <a:buNone/>
            </a:pPr>
            <a:r>
              <a:rPr lang="en-US" sz="950" dirty="0">
                <a:solidFill>
                  <a:srgbClr val="C4B5FD"/>
                </a:solidFill>
                <a:latin typeface="Calibri" panose="020F0502020204030204" pitchFamily="34" charset="0"/>
                <a:ea typeface="Calibri" panose="020F0502020204030204" pitchFamily="34" charset="-122"/>
                <a:cs typeface="Calibri" panose="020F0502020204030204" pitchFamily="34" charset="-120"/>
              </a:rPr>
              <a:t>50.20</a:t>
            </a:r>
            <a:endParaRPr lang="en-US" sz="1000" dirty="0"/>
          </a:p>
        </p:txBody>
      </p:sp>
      <p:sp>
        <p:nvSpPr>
          <p:cNvPr id="25" name="Text"/>
          <p:cNvSpPr/>
          <p:nvPr/>
        </p:nvSpPr>
        <p:spPr>
          <a:xfrm>
            <a:off x="4864608" y="3064672"/>
            <a:ext cx="3913632" cy="700000"/>
          </a:xfrm>
          <a:prstGeom prst="rect">
            <a:avLst/>
          </a:prstGeom>
          <a:noFill/>
        </p:spPr>
        <p:txBody>
          <a:bodyPr wrap="square" lIns="0" tIns="0" rIns="0" bIns="0" rtlCol="0" anchor="t"/>
          <a:lstStyle/>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Tidak ada missing value pada seluruh kolom</a:t>
            </a:r>
            <a:endParaRPr lang="en-US" sz="1000" dirty="0"/>
          </a:p>
          <a:p>
            <a:pPr marL="0" indent="0">
              <a:buNone/>
            </a:pPr>
            <a:r>
              <a:rPr lang="en-US" sz="900" dirty="0">
                <a:solidFill>
                  <a:srgbClr val="6D6D8A"/>
                </a:solidFill>
                <a:latin typeface="Calibri" panose="020F0502020204030204" pitchFamily="34" charset="0"/>
                <a:ea typeface="Calibri" panose="020F0502020204030204" pitchFamily="34" charset="-122"/>
                <a:cs typeface="Calibri" panose="020F0502020204030204" pitchFamily="34" charset="-120"/>
              </a:rPr>
              <a:t>sehingga tidak diperlukan imputasi data.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10" name="HeaderBg"/>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11" name="HeaderLine"/>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12" name="Text"/>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Tahap 3 — Visualisasi Data (Histogram)</a:t>
            </a:r>
            <a:endParaRPr lang="en-US" sz="1000" dirty="0"/>
          </a:p>
        </p:txBody>
      </p:sp>
      <p:sp>
        <p:nvSpPr>
          <p:cNvPr id="13" name="FooterBg"/>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14" name="FooterLine"/>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15" name="Text"/>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1000" dirty="0"/>
          </a:p>
        </p:txBody>
      </p:sp>
      <p:sp>
        <p:nvSpPr>
          <p:cNvPr id="16" name="Text"/>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11</a:t>
            </a:r>
            <a:endParaRPr lang="en-US" sz="1000" dirty="0"/>
          </a:p>
        </p:txBody>
      </p:sp>
      <p:sp>
        <p:nvSpPr>
          <p:cNvPr id="2" name="Panel"/>
          <p:cNvSpPr/>
          <p:nvPr/>
        </p:nvSpPr>
        <p:spPr>
          <a:xfrm>
            <a:off x="274320" y="804672"/>
            <a:ext cx="4297680" cy="2450000"/>
          </a:xfrm>
          <a:prstGeom prst="roundRect">
            <a:avLst>
              <a:gd name="adj" fmla="val 1800"/>
            </a:avLst>
          </a:prstGeom>
          <a:solidFill>
            <a:srgbClr val="0D0A1F"/>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3" name="Text"/>
          <p:cNvSpPr/>
          <p:nvPr/>
        </p:nvSpPr>
        <p:spPr>
          <a:xfrm>
            <a:off x="365760" y="841248"/>
            <a:ext cx="4114800" cy="256032"/>
          </a:xfrm>
          <a:prstGeom prst="rect">
            <a:avLst/>
          </a:prstGeom>
          <a:noFill/>
        </p:spPr>
        <p:txBody>
          <a:bodyPr wrap="square" lIns="0" tIns="0" rIns="0" bIns="0" rtlCol="0" anchor="ctr"/>
          <a:lstStyle/>
          <a:p>
            <a:pPr marL="0" indent="0">
              <a:buNone/>
            </a:pPr>
            <a:r>
              <a:rPr lang="en-US" sz="800" dirty="0">
                <a:solidFill>
                  <a:srgbClr val="6D6D8A"/>
                </a:solidFill>
                <a:latin typeface="Courier New" panose="02070309020205020404" pitchFamily="34" charset="0"/>
                <a:ea typeface="Courier New" panose="02070309020205020404" pitchFamily="34" charset="-122"/>
                <a:cs typeface="Courier New" panose="02070309020205020404" pitchFamily="34" charset="-120"/>
              </a:rPr>
              <a:t># Visualisasi Histogram</a:t>
            </a:r>
            <a:endParaRPr lang="en-US" sz="1000" dirty="0"/>
          </a:p>
        </p:txBody>
      </p:sp>
      <p:sp>
        <p:nvSpPr>
          <p:cNvPr id="4" name="Text"/>
          <p:cNvSpPr/>
          <p:nvPr/>
        </p:nvSpPr>
        <p:spPr>
          <a:xfrm>
            <a:off x="365760" y="1114672"/>
            <a:ext cx="4114800" cy="2100000"/>
          </a:xfrm>
          <a:prstGeom prst="rect">
            <a:avLst/>
          </a:prstGeom>
          <a:noFill/>
        </p:spPr>
        <p:txBody>
          <a:bodyPr wrap="square" lIns="50800" tIns="30000" rIns="50800" bIns="30000" rtlCol="0" anchor="t"/>
          <a:lstStyle/>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fig, axes = plt.subplots(</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1, 3, figsize=(18,5))</a:t>
            </a:r>
            <a:endParaRPr lang="en-US" sz="1000" dirty="0"/>
          </a:p>
          <a:p>
            <a:pPr marL="0" indent="0">
              <a:buNone/>
            </a:pPr>
            <a:endParaRPr lang="en-US" sz="1000" dirty="0"/>
          </a:p>
          <a:p>
            <a:pPr marL="0" indent="0">
              <a:buNone/>
            </a:pPr>
            <a:r>
              <a:rPr lang="en-US" sz="8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sns</a:t>
            </a: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.histplot(</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df[</a:t>
            </a:r>
            <a:r>
              <a:rPr lang="en-US" sz="800" dirty="0">
                <a:solidFill>
                  <a:srgbClr val="34D399"/>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bins=20, ax=axes[0])</a:t>
            </a:r>
            <a:endParaRPr lang="en-US" sz="1000" dirty="0"/>
          </a:p>
          <a:p>
            <a:pPr marL="0" indent="0">
              <a:buNone/>
            </a:pPr>
            <a:r>
              <a:rPr lang="en-US" sz="8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sns</a:t>
            </a: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.histplot(</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df[</a:t>
            </a:r>
            <a:r>
              <a:rPr lang="en-US" sz="800" dirty="0">
                <a:solidFill>
                  <a:srgbClr val="34D399"/>
                </a:solidFill>
                <a:latin typeface="Courier New" panose="02070309020205020404" pitchFamily="34" charset="0"/>
                <a:ea typeface="Courier New" panose="02070309020205020404" pitchFamily="34" charset="-122"/>
                <a:cs typeface="Courier New" panose="02070309020205020404" pitchFamily="34" charset="-120"/>
              </a:rPr>
              <a:t>"Annual Income (k$)"</a:t>
            </a: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bins=20, ax=axes[1])</a:t>
            </a:r>
            <a:endParaRPr lang="en-US" sz="1000" dirty="0"/>
          </a:p>
          <a:p>
            <a:pPr marL="0" indent="0">
              <a:buNone/>
            </a:pPr>
            <a:r>
              <a:rPr lang="en-US" sz="8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sns</a:t>
            </a: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.histplot(</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df[</a:t>
            </a:r>
            <a:r>
              <a:rPr lang="en-US" sz="800" dirty="0">
                <a:solidFill>
                  <a:srgbClr val="34D399"/>
                </a:solidFill>
                <a:latin typeface="Courier New" panose="02070309020205020404" pitchFamily="34" charset="0"/>
                <a:ea typeface="Courier New" panose="02070309020205020404" pitchFamily="34" charset="-122"/>
                <a:cs typeface="Courier New" panose="02070309020205020404" pitchFamily="34" charset="-120"/>
              </a:rPr>
              <a:t>"Spending Score (1-100)"</a:t>
            </a: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bins=20, ax=axes[2])</a:t>
            </a:r>
            <a:endParaRPr lang="en-US" sz="1000" dirty="0"/>
          </a:p>
          <a:p>
            <a:pPr marL="0" indent="0">
              <a:buNone/>
            </a:pPr>
            <a:endParaRPr lang="en-US" sz="1000" dirty="0"/>
          </a:p>
          <a:p>
            <a:pPr marL="0" indent="0">
              <a:buNone/>
            </a:pPr>
            <a:r>
              <a:rPr lang="en-US" sz="8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plt</a:t>
            </a: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.tight_layout(); plt.show()</a:t>
            </a:r>
            <a:endParaRPr lang="en-US" sz="1000" dirty="0"/>
          </a:p>
        </p:txBody>
      </p:sp>
      <p:sp>
        <p:nvSpPr>
          <p:cNvPr id="5" name="Panel"/>
          <p:cNvSpPr/>
          <p:nvPr/>
        </p:nvSpPr>
        <p:spPr>
          <a:xfrm>
            <a:off x="274320" y="3404672"/>
            <a:ext cx="4297680" cy="1380000"/>
          </a:xfrm>
          <a:prstGeom prst="roundRect">
            <a:avLst>
              <a:gd name="adj" fmla="val 23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6" name="Text"/>
          <p:cNvSpPr/>
          <p:nvPr/>
        </p:nvSpPr>
        <p:spPr>
          <a:xfrm>
            <a:off x="274320" y="3404672"/>
            <a:ext cx="4297680" cy="1380000"/>
          </a:xfrm>
          <a:prstGeom prst="rect">
            <a:avLst/>
          </a:prstGeom>
          <a:noFill/>
        </p:spPr>
        <p:txBody>
          <a:bodyPr wrap="square" lIns="177800" tIns="177800" rIns="177800" bIns="101600" rtlCol="0" anchor="t"/>
          <a:lstStyle/>
          <a:p>
            <a:pPr marL="0" indent="0">
              <a:buNone/>
            </a:pPr>
            <a:r>
              <a:rPr lang="en-US" sz="1300" b="1" dirty="0">
                <a:solidFill>
                  <a:srgbClr val="A78BFA"/>
                </a:solidFill>
                <a:latin typeface="Calibri" panose="020F0502020204030204" pitchFamily="34" charset="0"/>
                <a:ea typeface="Calibri" panose="020F0502020204030204" pitchFamily="34" charset="-122"/>
                <a:cs typeface="Calibri" panose="020F0502020204030204" pitchFamily="34" charset="-120"/>
              </a:rPr>
              <a:t>Interpretasi</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Usia pelanggan tersebar pada rentang 18–70 tahun.</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Pendapatan tahunan tersebar sekitar $15K–$137K.</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Skor pengeluaran tersebar pada rentang 1–99.</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Sebaran ketiga fitur relatif merata tanpa nilai ekstrem yang dominan.</a:t>
            </a:r>
            <a:endParaRPr lang="en-US" sz="1000" dirty="0"/>
          </a:p>
        </p:txBody>
      </p:sp>
      <p:sp>
        <p:nvSpPr>
          <p:cNvPr id="7" name="Panel"/>
          <p:cNvSpPr/>
          <p:nvPr/>
        </p:nvSpPr>
        <p:spPr>
          <a:xfrm>
            <a:off x="4773168" y="804672"/>
            <a:ext cx="4096512" cy="3977640"/>
          </a:xfrm>
          <a:prstGeom prst="roundRect">
            <a:avLst>
              <a:gd name="adj" fmla="val 1200"/>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pic>
        <p:nvPicPr>
          <p:cNvPr id="8" name="Picture"/>
          <p:cNvPicPr>
            <a:picLocks noChangeAspect="1"/>
          </p:cNvPicPr>
          <p:nvPr/>
        </p:nvPicPr>
        <p:blipFill>
          <a:blip r:embed="rId1"/>
          <a:stretch>
            <a:fillRect/>
          </a:stretch>
        </p:blipFill>
        <p:spPr>
          <a:xfrm>
            <a:off x="4833168" y="2232796"/>
            <a:ext cx="3976512" cy="1054107"/>
          </a:xfrm>
          <a:prstGeom prst="rect">
            <a:avLst/>
          </a:prstGeom>
        </p:spPr>
      </p:pic>
      <p:sp>
        <p:nvSpPr>
          <p:cNvPr id="9" name="Text"/>
          <p:cNvSpPr/>
          <p:nvPr/>
        </p:nvSpPr>
        <p:spPr>
          <a:xfrm>
            <a:off x="4773168" y="4402312"/>
            <a:ext cx="4096512" cy="320000"/>
          </a:xfrm>
          <a:prstGeom prst="rect">
            <a:avLst/>
          </a:prstGeom>
          <a:noFill/>
        </p:spPr>
        <p:txBody>
          <a:bodyPr wrap="square" lIns="0" tIns="0" rIns="0" bIns="0" rtlCol="0" anchor="ctr"/>
          <a:lstStyle/>
          <a:p>
            <a:pPr marL="0" indent="0" algn="ctr">
              <a:buNone/>
            </a:pPr>
            <a:r>
              <a:rPr lang="en-US" sz="850" dirty="0">
                <a:solidFill>
                  <a:srgbClr val="6D6D8A"/>
                </a:solidFill>
                <a:latin typeface="Calibri" panose="020F0502020204030204" pitchFamily="34" charset="0"/>
                <a:ea typeface="Calibri" panose="020F0502020204030204" pitchFamily="34" charset="-122"/>
                <a:cs typeface="Calibri" panose="020F0502020204030204" pitchFamily="34" charset="-120"/>
              </a:rPr>
              <a:t>Histogram Age, Annual Income, Spending Score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9" name="HeaderBg"/>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10" name="HeaderLine"/>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11" name="Text"/>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Tahap 4 — Preprocessing Data</a:t>
            </a:r>
            <a:endParaRPr lang="en-US" sz="1000" dirty="0"/>
          </a:p>
        </p:txBody>
      </p:sp>
      <p:sp>
        <p:nvSpPr>
          <p:cNvPr id="12" name="FooterBg"/>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13" name="FooterLine"/>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14" name="Text"/>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1000" dirty="0"/>
          </a:p>
        </p:txBody>
      </p:sp>
      <p:sp>
        <p:nvSpPr>
          <p:cNvPr id="15" name="Text"/>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12</a:t>
            </a:r>
            <a:endParaRPr lang="en-US" sz="1000" dirty="0"/>
          </a:p>
        </p:txBody>
      </p:sp>
      <p:sp>
        <p:nvSpPr>
          <p:cNvPr id="2" name="Panel"/>
          <p:cNvSpPr/>
          <p:nvPr/>
        </p:nvSpPr>
        <p:spPr>
          <a:xfrm>
            <a:off x="274320" y="804672"/>
            <a:ext cx="4297680" cy="2100000"/>
          </a:xfrm>
          <a:prstGeom prst="roundRect">
            <a:avLst>
              <a:gd name="adj" fmla="val 1800"/>
            </a:avLst>
          </a:prstGeom>
          <a:solidFill>
            <a:srgbClr val="0D0A1F"/>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3" name="Text"/>
          <p:cNvSpPr/>
          <p:nvPr/>
        </p:nvSpPr>
        <p:spPr>
          <a:xfrm>
            <a:off x="365760" y="841248"/>
            <a:ext cx="4114800" cy="256032"/>
          </a:xfrm>
          <a:prstGeom prst="rect">
            <a:avLst/>
          </a:prstGeom>
          <a:noFill/>
        </p:spPr>
        <p:txBody>
          <a:bodyPr wrap="square" lIns="0" tIns="0" rIns="0" bIns="0" rtlCol="0" anchor="ctr"/>
          <a:lstStyle/>
          <a:p>
            <a:pPr marL="0" indent="0">
              <a:buNone/>
            </a:pPr>
            <a:r>
              <a:rPr lang="en-US" sz="800" dirty="0">
                <a:solidFill>
                  <a:srgbClr val="6D6D8A"/>
                </a:solidFill>
                <a:latin typeface="Courier New" panose="02070309020205020404" pitchFamily="34" charset="0"/>
                <a:ea typeface="Courier New" panose="02070309020205020404" pitchFamily="34" charset="-122"/>
                <a:cs typeface="Courier New" panose="02070309020205020404" pitchFamily="34" charset="-120"/>
              </a:rPr>
              <a:t># Feature Selection + StandardScaler</a:t>
            </a:r>
            <a:endParaRPr lang="en-US" sz="1000" dirty="0"/>
          </a:p>
        </p:txBody>
      </p:sp>
      <p:sp>
        <p:nvSpPr>
          <p:cNvPr id="4" name="Text"/>
          <p:cNvSpPr/>
          <p:nvPr/>
        </p:nvSpPr>
        <p:spPr>
          <a:xfrm>
            <a:off x="365760" y="1114672"/>
            <a:ext cx="4114800" cy="1750000"/>
          </a:xfrm>
          <a:prstGeom prst="rect">
            <a:avLst/>
          </a:prstGeom>
          <a:noFill/>
        </p:spPr>
        <p:txBody>
          <a:bodyPr wrap="square" lIns="50800" tIns="30000" rIns="50800" bIns="30000" rtlCol="0" anchor="t"/>
          <a:lstStyle/>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X = df[[</a:t>
            </a: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34D399"/>
                </a:solidFill>
                <a:latin typeface="Courier New" panose="02070309020205020404" pitchFamily="34" charset="0"/>
                <a:ea typeface="Courier New" panose="02070309020205020404" pitchFamily="34" charset="-122"/>
                <a:cs typeface="Courier New" panose="02070309020205020404" pitchFamily="34" charset="-120"/>
              </a:rPr>
              <a:t>'Age'</a:t>
            </a: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a:t>
            </a: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34D399"/>
                </a:solidFill>
                <a:latin typeface="Courier New" panose="02070309020205020404" pitchFamily="34" charset="0"/>
                <a:ea typeface="Courier New" panose="02070309020205020404" pitchFamily="34" charset="-122"/>
                <a:cs typeface="Courier New" panose="02070309020205020404" pitchFamily="34" charset="-120"/>
              </a:rPr>
              <a:t>'Annual Income (k$)'</a:t>
            </a: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a:t>
            </a: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34D399"/>
                </a:solidFill>
                <a:latin typeface="Courier New" panose="02070309020205020404" pitchFamily="34" charset="0"/>
                <a:ea typeface="Courier New" panose="02070309020205020404" pitchFamily="34" charset="-122"/>
                <a:cs typeface="Courier New" panose="02070309020205020404" pitchFamily="34" charset="-120"/>
              </a:rPr>
              <a:t>'Spending Score (1-100)'</a:t>
            </a: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a:t>
            </a:r>
            <a:endParaRPr lang="en-US" sz="1000" dirty="0"/>
          </a:p>
          <a:p>
            <a:pPr marL="0" indent="0">
              <a:buNone/>
            </a:pPr>
            <a:endParaRPr lang="en-US" sz="1000" dirty="0"/>
          </a:p>
          <a:p>
            <a:pPr marL="0" indent="0">
              <a:buNone/>
            </a:pPr>
            <a:r>
              <a:rPr lang="en-US" sz="9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scaler</a:t>
            </a: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 StandardScaler()</a:t>
            </a:r>
            <a:endParaRPr lang="en-US" sz="1000" dirty="0"/>
          </a:p>
          <a:p>
            <a:pPr marL="0" indent="0">
              <a:buNone/>
            </a:pPr>
            <a:r>
              <a:rPr lang="en-US" sz="9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X_scaled</a:t>
            </a: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 scaler.fit_transform(X)</a:t>
            </a:r>
            <a:endParaRPr lang="en-US" sz="1000" dirty="0"/>
          </a:p>
        </p:txBody>
      </p:sp>
      <p:sp>
        <p:nvSpPr>
          <p:cNvPr id="5" name="Panel"/>
          <p:cNvSpPr/>
          <p:nvPr/>
        </p:nvSpPr>
        <p:spPr>
          <a:xfrm>
            <a:off x="274320" y="3054672"/>
            <a:ext cx="4297680" cy="1730000"/>
          </a:xfrm>
          <a:prstGeom prst="roundRect">
            <a:avLst>
              <a:gd name="adj" fmla="val 23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6" name="Text"/>
          <p:cNvSpPr/>
          <p:nvPr/>
        </p:nvSpPr>
        <p:spPr>
          <a:xfrm>
            <a:off x="274320" y="3054672"/>
            <a:ext cx="4297680" cy="1730000"/>
          </a:xfrm>
          <a:prstGeom prst="rect">
            <a:avLst/>
          </a:prstGeom>
          <a:noFill/>
        </p:spPr>
        <p:txBody>
          <a:bodyPr wrap="square" lIns="177800" tIns="177800" rIns="177800" bIns="101600" rtlCol="0" anchor="t"/>
          <a:lstStyle/>
          <a:p>
            <a:pPr marL="0" indent="0">
              <a:buNone/>
            </a:pPr>
            <a:r>
              <a:rPr lang="en-US" sz="1300" b="1" dirty="0">
                <a:solidFill>
                  <a:srgbClr val="A78BFA"/>
                </a:solidFill>
                <a:latin typeface="Calibri" panose="020F0502020204030204" pitchFamily="34" charset="0"/>
                <a:ea typeface="Calibri" panose="020F0502020204030204" pitchFamily="34" charset="-122"/>
                <a:cs typeface="Calibri" panose="020F0502020204030204" pitchFamily="34" charset="-120"/>
              </a:rPr>
              <a:t>Feature Selection</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Dipilih 3 fitur numerik: Age, Annual Income (k$), Spending Score (1-100).</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CustomerID dan Gender tidak digunakan dalam proses clustering.</a:t>
            </a:r>
            <a:endParaRPr lang="en-US" sz="1000" dirty="0"/>
          </a:p>
        </p:txBody>
      </p:sp>
      <p:sp>
        <p:nvSpPr>
          <p:cNvPr id="7" name="Panel"/>
          <p:cNvSpPr/>
          <p:nvPr/>
        </p:nvSpPr>
        <p:spPr>
          <a:xfrm>
            <a:off x="4773168" y="804672"/>
            <a:ext cx="4096512" cy="3977640"/>
          </a:xfrm>
          <a:prstGeom prst="roundRect">
            <a:avLst>
              <a:gd name="adj" fmla="val 2300"/>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8" name="Text"/>
          <p:cNvSpPr/>
          <p:nvPr/>
        </p:nvSpPr>
        <p:spPr>
          <a:xfrm>
            <a:off x="4773168" y="804672"/>
            <a:ext cx="4096512" cy="3977640"/>
          </a:xfrm>
          <a:prstGeom prst="rect">
            <a:avLst/>
          </a:prstGeom>
          <a:noFill/>
        </p:spPr>
        <p:txBody>
          <a:bodyPr wrap="square" lIns="177800" tIns="177800" rIns="177800" bIns="101600" rtlCol="0" anchor="t"/>
          <a:lstStyle/>
          <a:p>
            <a:pPr marL="0" indent="0">
              <a:buNone/>
            </a:pPr>
            <a:r>
              <a:rPr lang="en-US" sz="1200" b="1" dirty="0">
                <a:solidFill>
                  <a:srgbClr val="A78BFA"/>
                </a:solidFill>
                <a:latin typeface="Calibri" panose="020F0502020204030204" pitchFamily="34" charset="0"/>
                <a:ea typeface="Calibri" panose="020F0502020204030204" pitchFamily="34" charset="-122"/>
                <a:cs typeface="Calibri" panose="020F0502020204030204" pitchFamily="34" charset="-120"/>
              </a:rPr>
              <a:t>Standardisasi (StandardScaler)</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Menyamakan skala tiap fitur agar memiliki:</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 Rata-rata (mean) ≈ 0</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 Standar deviasi (std) ≈ 1</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Tujuan: mencegah fitur dengan rentang nilai besar (mis. Annual Income) mendominasi proses clustering dibanding fitur lain.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10" name="HeaderBg"/>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11" name="HeaderLine"/>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12" name="Text"/>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Tahap 5 — Menentukan Jumlah Cluster (BIC &amp; AIC)</a:t>
            </a:r>
            <a:endParaRPr lang="en-US" sz="1000" dirty="0"/>
          </a:p>
        </p:txBody>
      </p:sp>
      <p:sp>
        <p:nvSpPr>
          <p:cNvPr id="13" name="FooterBg"/>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14" name="FooterLine"/>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15" name="Text"/>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1000" dirty="0"/>
          </a:p>
        </p:txBody>
      </p:sp>
      <p:sp>
        <p:nvSpPr>
          <p:cNvPr id="16" name="Text"/>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13</a:t>
            </a:r>
            <a:endParaRPr lang="en-US" sz="1000" dirty="0"/>
          </a:p>
        </p:txBody>
      </p:sp>
      <p:sp>
        <p:nvSpPr>
          <p:cNvPr id="2" name="Panel"/>
          <p:cNvSpPr/>
          <p:nvPr/>
        </p:nvSpPr>
        <p:spPr>
          <a:xfrm>
            <a:off x="274320" y="804672"/>
            <a:ext cx="4297680" cy="2550000"/>
          </a:xfrm>
          <a:prstGeom prst="roundRect">
            <a:avLst>
              <a:gd name="adj" fmla="val 1800"/>
            </a:avLst>
          </a:prstGeom>
          <a:solidFill>
            <a:srgbClr val="0D0A1F"/>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3" name="Text"/>
          <p:cNvSpPr/>
          <p:nvPr/>
        </p:nvSpPr>
        <p:spPr>
          <a:xfrm>
            <a:off x="365760" y="841248"/>
            <a:ext cx="4114800" cy="256032"/>
          </a:xfrm>
          <a:prstGeom prst="rect">
            <a:avLst/>
          </a:prstGeom>
          <a:noFill/>
        </p:spPr>
        <p:txBody>
          <a:bodyPr wrap="square" lIns="0" tIns="0" rIns="0" bIns="0" rtlCol="0" anchor="ctr"/>
          <a:lstStyle/>
          <a:p>
            <a:pPr marL="0" indent="0">
              <a:buNone/>
            </a:pPr>
            <a:r>
              <a:rPr lang="en-US" sz="800" dirty="0">
                <a:solidFill>
                  <a:srgbClr val="6D6D8A"/>
                </a:solidFill>
                <a:latin typeface="Courier New" panose="02070309020205020404" pitchFamily="34" charset="0"/>
                <a:ea typeface="Courier New" panose="02070309020205020404" pitchFamily="34" charset="-122"/>
                <a:cs typeface="Courier New" panose="02070309020205020404" pitchFamily="34" charset="-120"/>
              </a:rPr>
              <a:t># Evaluasi BIC &amp; AIC (k = 1..10)</a:t>
            </a:r>
            <a:endParaRPr lang="en-US" sz="1000" dirty="0"/>
          </a:p>
        </p:txBody>
      </p:sp>
      <p:sp>
        <p:nvSpPr>
          <p:cNvPr id="4" name="Text"/>
          <p:cNvSpPr/>
          <p:nvPr/>
        </p:nvSpPr>
        <p:spPr>
          <a:xfrm>
            <a:off x="365760" y="1114672"/>
            <a:ext cx="4114800" cy="2200000"/>
          </a:xfrm>
          <a:prstGeom prst="rect">
            <a:avLst/>
          </a:prstGeom>
          <a:noFill/>
        </p:spPr>
        <p:txBody>
          <a:bodyPr wrap="square" lIns="50800" tIns="30000" rIns="50800" bIns="30000" rtlCol="0" anchor="t"/>
          <a:lstStyle/>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bic_scores, aic_scores = [], []</a:t>
            </a:r>
            <a:endParaRPr lang="en-US" sz="1000" dirty="0"/>
          </a:p>
          <a:p>
            <a:pPr marL="0" indent="0">
              <a:buNone/>
            </a:pPr>
            <a:endParaRPr lang="en-US" sz="1000" dirty="0"/>
          </a:p>
          <a:p>
            <a:pPr marL="0" indent="0">
              <a:buNone/>
            </a:pPr>
            <a:r>
              <a:rPr lang="en-US" sz="8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for</a:t>
            </a: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n in range(1, 11):</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gmm = </a:t>
            </a:r>
            <a:r>
              <a:rPr lang="en-US" sz="8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GaussianMixture</a:t>
            </a: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n_components=n,</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random_state=42)</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gmm.fit(X_scaled)</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bic_scores.append(</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gmm.bic(X_scaled))</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aic_scores.append(</a:t>
            </a:r>
            <a:endParaRPr lang="en-US" sz="1000" dirty="0"/>
          </a:p>
          <a:p>
            <a:pPr marL="0" indent="0">
              <a:buNone/>
            </a:pPr>
            <a:r>
              <a:rPr lang="en-US" sz="8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gmm.aic(X_scaled))</a:t>
            </a:r>
            <a:endParaRPr lang="en-US" sz="1000" dirty="0"/>
          </a:p>
        </p:txBody>
      </p:sp>
      <p:sp>
        <p:nvSpPr>
          <p:cNvPr id="5" name="Panel"/>
          <p:cNvSpPr/>
          <p:nvPr/>
        </p:nvSpPr>
        <p:spPr>
          <a:xfrm>
            <a:off x="274320" y="3504672"/>
            <a:ext cx="4297680" cy="1280000"/>
          </a:xfrm>
          <a:prstGeom prst="roundRect">
            <a:avLst>
              <a:gd name="adj" fmla="val 23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6" name="Text"/>
          <p:cNvSpPr/>
          <p:nvPr/>
        </p:nvSpPr>
        <p:spPr>
          <a:xfrm>
            <a:off x="274320" y="3504672"/>
            <a:ext cx="4297680" cy="1280000"/>
          </a:xfrm>
          <a:prstGeom prst="rect">
            <a:avLst/>
          </a:prstGeom>
          <a:noFill/>
        </p:spPr>
        <p:txBody>
          <a:bodyPr wrap="square" lIns="177800" tIns="177800" rIns="177800" bIns="101600" rtlCol="0" anchor="t"/>
          <a:lstStyle/>
          <a:p>
            <a:pPr marL="0" indent="0">
              <a:buNone/>
            </a:pPr>
            <a:r>
              <a:rPr lang="en-US" sz="1150" b="1" dirty="0">
                <a:solidFill>
                  <a:srgbClr val="A78BFA"/>
                </a:solidFill>
                <a:latin typeface="Calibri" panose="020F0502020204030204" pitchFamily="34" charset="0"/>
                <a:ea typeface="Calibri" panose="020F0502020204030204" pitchFamily="34" charset="-122"/>
                <a:cs typeface="Calibri" panose="020F0502020204030204" pitchFamily="34" charset="-120"/>
              </a:rPr>
              <a:t>Mengapa BIC?</a:t>
            </a:r>
            <a:endParaRPr lang="en-US" sz="1000" dirty="0"/>
          </a:p>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BIC &amp; AIC dihitung untuk tiap k (1–10) via bic() dan aic().</a:t>
            </a:r>
            <a:endParaRPr lang="en-US" sz="1000" dirty="0"/>
          </a:p>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BIC dipilih karena penalti kompleksitas lebih besar dari AIC.</a:t>
            </a:r>
            <a:endParaRPr lang="en-US" sz="1000" dirty="0"/>
          </a:p>
        </p:txBody>
      </p:sp>
      <p:sp>
        <p:nvSpPr>
          <p:cNvPr id="7" name="Panel"/>
          <p:cNvSpPr/>
          <p:nvPr/>
        </p:nvSpPr>
        <p:spPr>
          <a:xfrm>
            <a:off x="4773168" y="804672"/>
            <a:ext cx="4096512" cy="3977640"/>
          </a:xfrm>
          <a:prstGeom prst="roundRect">
            <a:avLst>
              <a:gd name="adj" fmla="val 1200"/>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pic>
        <p:nvPicPr>
          <p:cNvPr id="8" name="Picture"/>
          <p:cNvPicPr>
            <a:picLocks noChangeAspect="1"/>
          </p:cNvPicPr>
          <p:nvPr/>
        </p:nvPicPr>
        <p:blipFill>
          <a:blip r:embed="rId1"/>
          <a:stretch>
            <a:fillRect/>
          </a:stretch>
        </p:blipFill>
        <p:spPr>
          <a:xfrm>
            <a:off x="4873168" y="894672"/>
            <a:ext cx="3896512" cy="2601364"/>
          </a:xfrm>
          <a:prstGeom prst="rect">
            <a:avLst/>
          </a:prstGeom>
        </p:spPr>
      </p:pic>
      <p:sp>
        <p:nvSpPr>
          <p:cNvPr id="9" name="Text"/>
          <p:cNvSpPr/>
          <p:nvPr/>
        </p:nvSpPr>
        <p:spPr>
          <a:xfrm>
            <a:off x="4864608" y="3536036"/>
            <a:ext cx="3913632" cy="700000"/>
          </a:xfrm>
          <a:prstGeom prst="rect">
            <a:avLst/>
          </a:prstGeom>
          <a:noFill/>
        </p:spPr>
        <p:txBody>
          <a:bodyPr wrap="square" lIns="0" tIns="0" rIns="0" bIns="0" rtlCol="0" anchor="t"/>
          <a:lstStyle/>
          <a:p>
            <a:pPr marL="0" indent="0" algn="ctr">
              <a:buNone/>
            </a:pPr>
            <a:r>
              <a:rPr lang="en-US" sz="900" b="1" dirty="0">
                <a:solidFill>
                  <a:srgbClr val="C4B5FD"/>
                </a:solidFill>
                <a:latin typeface="Calibri" panose="020F0502020204030204" pitchFamily="34" charset="0"/>
                <a:ea typeface="Calibri" panose="020F0502020204030204" pitchFamily="34" charset="-122"/>
                <a:cs typeface="Calibri" panose="020F0502020204030204" pitchFamily="34" charset="-120"/>
              </a:rPr>
              <a:t>BIC minimum = 1596,999 pada k = 4  →  jumlah cluster optimal</a:t>
            </a:r>
            <a:endParaRPr lang="en-US" sz="1000" dirty="0"/>
          </a:p>
          <a:p>
            <a:pPr marL="0" indent="0" algn="ctr">
              <a:buNone/>
            </a:pPr>
            <a:r>
              <a:rPr lang="en-US" sz="850" dirty="0">
                <a:solidFill>
                  <a:srgbClr val="6D6D8A"/>
                </a:solidFill>
                <a:latin typeface="Calibri" panose="020F0502020204030204" pitchFamily="34" charset="0"/>
                <a:ea typeface="Calibri" panose="020F0502020204030204" pitchFamily="34" charset="-122"/>
                <a:cs typeface="Calibri" panose="020F0502020204030204" pitchFamily="34" charset="-120"/>
              </a:rPr>
              <a:t>AIC minimum = 1399,992 pada k = 9 (lebih fleksibel, tidak dipilih)</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17" name="HeaderBg"/>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18" name="HeaderLine"/>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19" name="Text"/>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Tahap 6 — Implementasi Gaussian Mixture Model</a:t>
            </a:r>
            <a:endParaRPr lang="en-US" sz="1000" dirty="0"/>
          </a:p>
        </p:txBody>
      </p:sp>
      <p:sp>
        <p:nvSpPr>
          <p:cNvPr id="20" name="FooterBg"/>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21" name="FooterLine"/>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22" name="Text"/>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1000" dirty="0"/>
          </a:p>
        </p:txBody>
      </p:sp>
      <p:sp>
        <p:nvSpPr>
          <p:cNvPr id="23" name="Text"/>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14</a:t>
            </a:r>
            <a:endParaRPr lang="en-US" sz="1000" dirty="0"/>
          </a:p>
        </p:txBody>
      </p:sp>
      <p:sp>
        <p:nvSpPr>
          <p:cNvPr id="2" name="Panel"/>
          <p:cNvSpPr/>
          <p:nvPr/>
        </p:nvSpPr>
        <p:spPr>
          <a:xfrm>
            <a:off x="274320" y="804672"/>
            <a:ext cx="4297680" cy="2350000"/>
          </a:xfrm>
          <a:prstGeom prst="roundRect">
            <a:avLst>
              <a:gd name="adj" fmla="val 1800"/>
            </a:avLst>
          </a:prstGeom>
          <a:solidFill>
            <a:srgbClr val="0D0A1F"/>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3" name="Text"/>
          <p:cNvSpPr/>
          <p:nvPr/>
        </p:nvSpPr>
        <p:spPr>
          <a:xfrm>
            <a:off x="365760" y="841248"/>
            <a:ext cx="4114800" cy="256032"/>
          </a:xfrm>
          <a:prstGeom prst="rect">
            <a:avLst/>
          </a:prstGeom>
          <a:noFill/>
        </p:spPr>
        <p:txBody>
          <a:bodyPr wrap="square" lIns="0" tIns="0" rIns="0" bIns="0" rtlCol="0" anchor="ctr"/>
          <a:lstStyle/>
          <a:p>
            <a:pPr marL="0" indent="0">
              <a:buNone/>
            </a:pPr>
            <a:r>
              <a:rPr lang="en-US" sz="800" dirty="0">
                <a:solidFill>
                  <a:srgbClr val="6D6D8A"/>
                </a:solidFill>
                <a:latin typeface="Courier New" panose="02070309020205020404" pitchFamily="34" charset="0"/>
                <a:ea typeface="Courier New" panose="02070309020205020404" pitchFamily="34" charset="-122"/>
                <a:cs typeface="Courier New" panose="02070309020205020404" pitchFamily="34" charset="-120"/>
              </a:rPr>
              <a:t># Inisialisasi &amp; fit_predict()</a:t>
            </a:r>
            <a:endParaRPr lang="en-US" sz="1000" dirty="0"/>
          </a:p>
        </p:txBody>
      </p:sp>
      <p:sp>
        <p:nvSpPr>
          <p:cNvPr id="4" name="Text"/>
          <p:cNvSpPr/>
          <p:nvPr/>
        </p:nvSpPr>
        <p:spPr>
          <a:xfrm>
            <a:off x="365760" y="1114672"/>
            <a:ext cx="4114800" cy="2000000"/>
          </a:xfrm>
          <a:prstGeom prst="rect">
            <a:avLst/>
          </a:prstGeom>
          <a:noFill/>
        </p:spPr>
        <p:txBody>
          <a:bodyPr wrap="square" lIns="50800" tIns="30000" rIns="50800" bIns="30000" rtlCol="0" anchor="t"/>
          <a:lstStyle/>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gmm = </a:t>
            </a:r>
            <a:r>
              <a:rPr lang="en-US" sz="900" dirty="0">
                <a:solidFill>
                  <a:srgbClr val="C4B5FD"/>
                </a:solidFill>
                <a:latin typeface="Courier New" panose="02070309020205020404" pitchFamily="34" charset="0"/>
                <a:ea typeface="Courier New" panose="02070309020205020404" pitchFamily="34" charset="-122"/>
                <a:cs typeface="Courier New" panose="02070309020205020404" pitchFamily="34" charset="-120"/>
              </a:rPr>
              <a:t>GaussianMixture</a:t>
            </a: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a:t>
            </a: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n_components=</a:t>
            </a:r>
            <a:r>
              <a:rPr lang="en-US" sz="900" dirty="0">
                <a:solidFill>
                  <a:srgbClr val="34D399"/>
                </a:solidFill>
                <a:latin typeface="Courier New" panose="02070309020205020404" pitchFamily="34" charset="0"/>
                <a:ea typeface="Courier New" panose="02070309020205020404" pitchFamily="34" charset="-122"/>
                <a:cs typeface="Courier New" panose="02070309020205020404" pitchFamily="34" charset="-120"/>
              </a:rPr>
              <a:t>4</a:t>
            </a: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a:t>
            </a: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random_state=</a:t>
            </a:r>
            <a:r>
              <a:rPr lang="en-US" sz="900" dirty="0">
                <a:solidFill>
                  <a:srgbClr val="34D399"/>
                </a:solidFill>
                <a:latin typeface="Courier New" panose="02070309020205020404" pitchFamily="34" charset="0"/>
                <a:ea typeface="Courier New" panose="02070309020205020404" pitchFamily="34" charset="-122"/>
                <a:cs typeface="Courier New" panose="02070309020205020404" pitchFamily="34" charset="-120"/>
              </a:rPr>
              <a:t>42</a:t>
            </a: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a:t>
            </a:r>
            <a:endParaRPr lang="en-US" sz="1000" dirty="0"/>
          </a:p>
          <a:p>
            <a:pPr marL="0" indent="0">
              <a:buNone/>
            </a:pP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gmm.fit(X_scaled)</a:t>
            </a:r>
            <a:endParaRPr lang="en-US" sz="1000" dirty="0"/>
          </a:p>
          <a:p>
            <a:pPr marL="0" indent="0">
              <a:buNone/>
            </a:pPr>
            <a:endParaRPr lang="en-US" sz="1000" dirty="0"/>
          </a:p>
          <a:p>
            <a:pPr marL="0" indent="0">
              <a:buNone/>
            </a:pP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df[</a:t>
            </a:r>
            <a:r>
              <a:rPr lang="en-US" sz="900" dirty="0">
                <a:solidFill>
                  <a:srgbClr val="34D399"/>
                </a:solidFill>
                <a:latin typeface="Courier New" panose="02070309020205020404" pitchFamily="34" charset="0"/>
                <a:ea typeface="Courier New" panose="02070309020205020404" pitchFamily="34" charset="-122"/>
                <a:cs typeface="Courier New" panose="02070309020205020404" pitchFamily="34" charset="-120"/>
              </a:rPr>
              <a:t>'Cluster'</a:t>
            </a:r>
            <a:r>
              <a:rPr lang="en-US" sz="900" dirty="0">
                <a:solidFill>
                  <a:srgbClr val="F5F3FF"/>
                </a:solidFill>
                <a:latin typeface="Courier New" panose="02070309020205020404" pitchFamily="34" charset="0"/>
                <a:ea typeface="Courier New" panose="02070309020205020404" pitchFamily="34" charset="-122"/>
                <a:cs typeface="Courier New" panose="02070309020205020404" pitchFamily="34" charset="-120"/>
              </a:rPr>
              <a:t>] = gmm.predict(X_scaled)</a:t>
            </a:r>
            <a:endParaRPr lang="en-US" sz="1000" dirty="0"/>
          </a:p>
        </p:txBody>
      </p:sp>
      <p:sp>
        <p:nvSpPr>
          <p:cNvPr id="5" name="Panel"/>
          <p:cNvSpPr/>
          <p:nvPr/>
        </p:nvSpPr>
        <p:spPr>
          <a:xfrm>
            <a:off x="274320" y="3304672"/>
            <a:ext cx="4297680" cy="1480000"/>
          </a:xfrm>
          <a:prstGeom prst="roundRect">
            <a:avLst>
              <a:gd name="adj" fmla="val 23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6" name="Text"/>
          <p:cNvSpPr/>
          <p:nvPr/>
        </p:nvSpPr>
        <p:spPr>
          <a:xfrm>
            <a:off x="274320" y="3304672"/>
            <a:ext cx="4297680" cy="1480000"/>
          </a:xfrm>
          <a:prstGeom prst="rect">
            <a:avLst/>
          </a:prstGeom>
          <a:noFill/>
        </p:spPr>
        <p:txBody>
          <a:bodyPr wrap="square" lIns="177800" tIns="177800" rIns="177800" bIns="101600" rtlCol="0" anchor="t"/>
          <a:lstStyle/>
          <a:p>
            <a:pPr marL="0" indent="0">
              <a:buNone/>
            </a:pPr>
            <a:r>
              <a:rPr lang="en-US" sz="1300" b="1" dirty="0">
                <a:solidFill>
                  <a:srgbClr val="A78BFA"/>
                </a:solidFill>
                <a:latin typeface="Calibri" panose="020F0502020204030204" pitchFamily="34" charset="0"/>
                <a:ea typeface="Calibri" panose="020F0502020204030204" pitchFamily="34" charset="-122"/>
                <a:cs typeface="Calibri" panose="020F0502020204030204" pitchFamily="34" charset="-120"/>
              </a:rPr>
              <a:t>Penjelasan Implementasi</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Model GaussianMixture dibangun dengan n_components=4 (hasil BIC terendah) dan random_state=42 untuk reproducibility.</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Model dilatih (fit) pada data terstandarisasi, lalu predict() memberi label cluster tiap pelanggan pada kolom baru 'Cluster'.</a:t>
            </a:r>
            <a:endParaRPr lang="en-US" sz="1000" dirty="0"/>
          </a:p>
        </p:txBody>
      </p:sp>
      <p:sp>
        <p:nvSpPr>
          <p:cNvPr id="7" name="Panel"/>
          <p:cNvSpPr/>
          <p:nvPr/>
        </p:nvSpPr>
        <p:spPr>
          <a:xfrm>
            <a:off x="4773168" y="804672"/>
            <a:ext cx="4096512" cy="3977640"/>
          </a:xfrm>
          <a:prstGeom prst="roundRect">
            <a:avLst>
              <a:gd name="adj" fmla="val 1800"/>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8" name="Text"/>
          <p:cNvSpPr/>
          <p:nvPr/>
        </p:nvSpPr>
        <p:spPr>
          <a:xfrm>
            <a:off x="4864608" y="864672"/>
            <a:ext cx="3913632" cy="350000"/>
          </a:xfrm>
          <a:prstGeom prst="rect">
            <a:avLst/>
          </a:prstGeom>
          <a:noFill/>
        </p:spPr>
        <p:txBody>
          <a:bodyPr wrap="square" lIns="0" tIns="0" rIns="0" bIns="0" rtlCol="0" anchor="ctr"/>
          <a:lstStyle/>
          <a:p>
            <a:pPr marL="0" indent="0" algn="ctr">
              <a:buNone/>
            </a:pPr>
            <a:r>
              <a:rPr lang="en-US" sz="1150" b="1" dirty="0">
                <a:solidFill>
                  <a:srgbClr val="A78BFA"/>
                </a:solidFill>
                <a:latin typeface="Calibri" panose="020F0502020204030204" pitchFamily="34" charset="0"/>
                <a:ea typeface="Calibri" panose="020F0502020204030204" pitchFamily="34" charset="-122"/>
                <a:cs typeface="Calibri" panose="020F0502020204030204" pitchFamily="34" charset="-120"/>
              </a:rPr>
              <a:t>Distribusi Anggota Cluster</a:t>
            </a:r>
            <a:endParaRPr lang="en-US" sz="1000" dirty="0"/>
          </a:p>
        </p:txBody>
      </p:sp>
      <p:sp>
        <p:nvSpPr>
          <p:cNvPr id="9" name="Text"/>
          <p:cNvSpPr/>
          <p:nvPr/>
        </p:nvSpPr>
        <p:spPr>
          <a:xfrm>
            <a:off x="4864608" y="1284672"/>
            <a:ext cx="2048256" cy="720000"/>
          </a:xfrm>
          <a:prstGeom prst="rect">
            <a:avLst/>
          </a:prstGeom>
          <a:noFill/>
        </p:spPr>
        <p:txBody>
          <a:bodyPr wrap="square" lIns="0" tIns="0" rIns="0" bIns="0" rtlCol="0" anchor="ctr"/>
          <a:lstStyle/>
          <a:p>
            <a:pPr marL="0" indent="0">
              <a:buNone/>
            </a:pPr>
            <a:r>
              <a:rPr lang="en-US" sz="1050" b="1" dirty="0">
                <a:solidFill>
                  <a:srgbClr val="F5F3FF"/>
                </a:solidFill>
                <a:latin typeface="Calibri" panose="020F0502020204030204" pitchFamily="34" charset="0"/>
                <a:ea typeface="Calibri" panose="020F0502020204030204" pitchFamily="34" charset="-122"/>
                <a:cs typeface="Calibri" panose="020F0502020204030204" pitchFamily="34" charset="-120"/>
              </a:rPr>
              <a:t>Cluster 0</a:t>
            </a:r>
            <a:endParaRPr lang="en-US" sz="1000" dirty="0"/>
          </a:p>
        </p:txBody>
      </p:sp>
      <p:sp>
        <p:nvSpPr>
          <p:cNvPr id="10" name="Text"/>
          <p:cNvSpPr/>
          <p:nvPr/>
        </p:nvSpPr>
        <p:spPr>
          <a:xfrm>
            <a:off x="6821424" y="1284672"/>
            <a:ext cx="1956816" cy="720000"/>
          </a:xfrm>
          <a:prstGeom prst="rect">
            <a:avLst/>
          </a:prstGeom>
          <a:noFill/>
        </p:spPr>
        <p:txBody>
          <a:bodyPr wrap="square" lIns="0" tIns="0" rIns="0" bIns="0" rtlCol="0" anchor="ctr"/>
          <a:lstStyle/>
          <a:p>
            <a:pPr marL="0" indent="0" algn="r">
              <a:buNone/>
            </a:pPr>
            <a:r>
              <a:rPr lang="en-US" sz="1050" dirty="0">
                <a:solidFill>
                  <a:srgbClr val="C4B5FD"/>
                </a:solidFill>
                <a:latin typeface="Calibri" panose="020F0502020204030204" pitchFamily="34" charset="0"/>
                <a:ea typeface="Calibri" panose="020F0502020204030204" pitchFamily="34" charset="-122"/>
                <a:cs typeface="Calibri" panose="020F0502020204030204" pitchFamily="34" charset="-120"/>
              </a:rPr>
              <a:t>76 pelanggan</a:t>
            </a:r>
            <a:endParaRPr lang="en-US" sz="1000" dirty="0"/>
          </a:p>
        </p:txBody>
      </p:sp>
      <p:sp>
        <p:nvSpPr>
          <p:cNvPr id="11" name="Text"/>
          <p:cNvSpPr/>
          <p:nvPr/>
        </p:nvSpPr>
        <p:spPr>
          <a:xfrm>
            <a:off x="4864608" y="2004672"/>
            <a:ext cx="2048256" cy="720000"/>
          </a:xfrm>
          <a:prstGeom prst="rect">
            <a:avLst/>
          </a:prstGeom>
          <a:noFill/>
        </p:spPr>
        <p:txBody>
          <a:bodyPr wrap="square" lIns="0" tIns="0" rIns="0" bIns="0" rtlCol="0" anchor="ctr"/>
          <a:lstStyle/>
          <a:p>
            <a:pPr marL="0" indent="0">
              <a:buNone/>
            </a:pPr>
            <a:r>
              <a:rPr lang="en-US" sz="1050" b="1" dirty="0">
                <a:solidFill>
                  <a:srgbClr val="F5F3FF"/>
                </a:solidFill>
                <a:latin typeface="Calibri" panose="020F0502020204030204" pitchFamily="34" charset="0"/>
                <a:ea typeface="Calibri" panose="020F0502020204030204" pitchFamily="34" charset="-122"/>
                <a:cs typeface="Calibri" panose="020F0502020204030204" pitchFamily="34" charset="-120"/>
              </a:rPr>
              <a:t>Cluster 1</a:t>
            </a:r>
            <a:endParaRPr lang="en-US" sz="1000" dirty="0"/>
          </a:p>
        </p:txBody>
      </p:sp>
      <p:sp>
        <p:nvSpPr>
          <p:cNvPr id="12" name="Text"/>
          <p:cNvSpPr/>
          <p:nvPr/>
        </p:nvSpPr>
        <p:spPr>
          <a:xfrm>
            <a:off x="6821424" y="2004672"/>
            <a:ext cx="1956816" cy="720000"/>
          </a:xfrm>
          <a:prstGeom prst="rect">
            <a:avLst/>
          </a:prstGeom>
          <a:noFill/>
        </p:spPr>
        <p:txBody>
          <a:bodyPr wrap="square" lIns="0" tIns="0" rIns="0" bIns="0" rtlCol="0" anchor="ctr"/>
          <a:lstStyle/>
          <a:p>
            <a:pPr marL="0" indent="0" algn="r">
              <a:buNone/>
            </a:pPr>
            <a:r>
              <a:rPr lang="en-US" sz="1050" dirty="0">
                <a:solidFill>
                  <a:srgbClr val="C4B5FD"/>
                </a:solidFill>
                <a:latin typeface="Calibri" panose="020F0502020204030204" pitchFamily="34" charset="0"/>
                <a:ea typeface="Calibri" panose="020F0502020204030204" pitchFamily="34" charset="-122"/>
                <a:cs typeface="Calibri" panose="020F0502020204030204" pitchFamily="34" charset="-120"/>
              </a:rPr>
              <a:t>39 pelanggan</a:t>
            </a:r>
            <a:endParaRPr lang="en-US" sz="1000" dirty="0"/>
          </a:p>
        </p:txBody>
      </p:sp>
      <p:sp>
        <p:nvSpPr>
          <p:cNvPr id="13" name="Text"/>
          <p:cNvSpPr/>
          <p:nvPr/>
        </p:nvSpPr>
        <p:spPr>
          <a:xfrm>
            <a:off x="4864608" y="2724672"/>
            <a:ext cx="2048256" cy="720000"/>
          </a:xfrm>
          <a:prstGeom prst="rect">
            <a:avLst/>
          </a:prstGeom>
          <a:noFill/>
        </p:spPr>
        <p:txBody>
          <a:bodyPr wrap="square" lIns="0" tIns="0" rIns="0" bIns="0" rtlCol="0" anchor="ctr"/>
          <a:lstStyle/>
          <a:p>
            <a:pPr marL="0" indent="0">
              <a:buNone/>
            </a:pPr>
            <a:r>
              <a:rPr lang="en-US" sz="1050" b="1" dirty="0">
                <a:solidFill>
                  <a:srgbClr val="F5F3FF"/>
                </a:solidFill>
                <a:latin typeface="Calibri" panose="020F0502020204030204" pitchFamily="34" charset="0"/>
                <a:ea typeface="Calibri" panose="020F0502020204030204" pitchFamily="34" charset="-122"/>
                <a:cs typeface="Calibri" panose="020F0502020204030204" pitchFamily="34" charset="-120"/>
              </a:rPr>
              <a:t>Cluster 2</a:t>
            </a:r>
            <a:endParaRPr lang="en-US" sz="1000" dirty="0"/>
          </a:p>
        </p:txBody>
      </p:sp>
      <p:sp>
        <p:nvSpPr>
          <p:cNvPr id="14" name="Text"/>
          <p:cNvSpPr/>
          <p:nvPr/>
        </p:nvSpPr>
        <p:spPr>
          <a:xfrm>
            <a:off x="6821424" y="2724672"/>
            <a:ext cx="1956816" cy="720000"/>
          </a:xfrm>
          <a:prstGeom prst="rect">
            <a:avLst/>
          </a:prstGeom>
          <a:noFill/>
        </p:spPr>
        <p:txBody>
          <a:bodyPr wrap="square" lIns="0" tIns="0" rIns="0" bIns="0" rtlCol="0" anchor="ctr"/>
          <a:lstStyle/>
          <a:p>
            <a:pPr marL="0" indent="0" algn="r">
              <a:buNone/>
            </a:pPr>
            <a:r>
              <a:rPr lang="en-US" sz="1050" dirty="0">
                <a:solidFill>
                  <a:srgbClr val="C4B5FD"/>
                </a:solidFill>
                <a:latin typeface="Calibri" panose="020F0502020204030204" pitchFamily="34" charset="0"/>
                <a:ea typeface="Calibri" panose="020F0502020204030204" pitchFamily="34" charset="-122"/>
                <a:cs typeface="Calibri" panose="020F0502020204030204" pitchFamily="34" charset="-120"/>
              </a:rPr>
              <a:t>51 pelanggan</a:t>
            </a:r>
            <a:endParaRPr lang="en-US" sz="1000" dirty="0"/>
          </a:p>
        </p:txBody>
      </p:sp>
      <p:sp>
        <p:nvSpPr>
          <p:cNvPr id="15" name="Text"/>
          <p:cNvSpPr/>
          <p:nvPr/>
        </p:nvSpPr>
        <p:spPr>
          <a:xfrm>
            <a:off x="4864608" y="3444672"/>
            <a:ext cx="2048256" cy="720000"/>
          </a:xfrm>
          <a:prstGeom prst="rect">
            <a:avLst/>
          </a:prstGeom>
          <a:noFill/>
        </p:spPr>
        <p:txBody>
          <a:bodyPr wrap="square" lIns="0" tIns="0" rIns="0" bIns="0" rtlCol="0" anchor="ctr"/>
          <a:lstStyle/>
          <a:p>
            <a:pPr marL="0" indent="0">
              <a:buNone/>
            </a:pPr>
            <a:r>
              <a:rPr lang="en-US" sz="1050" b="1" dirty="0">
                <a:solidFill>
                  <a:srgbClr val="F5F3FF"/>
                </a:solidFill>
                <a:latin typeface="Calibri" panose="020F0502020204030204" pitchFamily="34" charset="0"/>
                <a:ea typeface="Calibri" panose="020F0502020204030204" pitchFamily="34" charset="-122"/>
                <a:cs typeface="Calibri" panose="020F0502020204030204" pitchFamily="34" charset="-120"/>
              </a:rPr>
              <a:t>Cluster 3</a:t>
            </a:r>
            <a:endParaRPr lang="en-US" sz="1000" dirty="0"/>
          </a:p>
        </p:txBody>
      </p:sp>
      <p:sp>
        <p:nvSpPr>
          <p:cNvPr id="16" name="Text"/>
          <p:cNvSpPr/>
          <p:nvPr/>
        </p:nvSpPr>
        <p:spPr>
          <a:xfrm>
            <a:off x="6821424" y="3444672"/>
            <a:ext cx="1956816" cy="720000"/>
          </a:xfrm>
          <a:prstGeom prst="rect">
            <a:avLst/>
          </a:prstGeom>
          <a:noFill/>
        </p:spPr>
        <p:txBody>
          <a:bodyPr wrap="square" lIns="0" tIns="0" rIns="0" bIns="0" rtlCol="0" anchor="ctr"/>
          <a:lstStyle/>
          <a:p>
            <a:pPr marL="0" indent="0" algn="r">
              <a:buNone/>
            </a:pPr>
            <a:r>
              <a:rPr lang="en-US" sz="1050" dirty="0">
                <a:solidFill>
                  <a:srgbClr val="C4B5FD"/>
                </a:solidFill>
                <a:latin typeface="Calibri" panose="020F0502020204030204" pitchFamily="34" charset="0"/>
                <a:ea typeface="Calibri" panose="020F0502020204030204" pitchFamily="34" charset="-122"/>
                <a:cs typeface="Calibri" panose="020F0502020204030204" pitchFamily="34" charset="-120"/>
              </a:rPr>
              <a:t>34 pelanggan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11" name="HeaderBg"/>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12" name="HeaderLine"/>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13" name="Text"/>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Tahap 7 — Hasil Implementasi GMM</a:t>
            </a:r>
            <a:endParaRPr lang="en-US" sz="1000" dirty="0"/>
          </a:p>
        </p:txBody>
      </p:sp>
      <p:sp>
        <p:nvSpPr>
          <p:cNvPr id="14" name="FooterBg"/>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15" name="FooterLine"/>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16" name="Text"/>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1000" dirty="0"/>
          </a:p>
        </p:txBody>
      </p:sp>
      <p:sp>
        <p:nvSpPr>
          <p:cNvPr id="17" name="Text"/>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15</a:t>
            </a:r>
            <a:endParaRPr lang="en-US" sz="1000" dirty="0"/>
          </a:p>
        </p:txBody>
      </p:sp>
      <p:sp>
        <p:nvSpPr>
          <p:cNvPr id="2" name="Panel"/>
          <p:cNvSpPr/>
          <p:nvPr/>
        </p:nvSpPr>
        <p:spPr>
          <a:xfrm>
            <a:off x="274320" y="804672"/>
            <a:ext cx="4297680" cy="3977640"/>
          </a:xfrm>
          <a:prstGeom prst="roundRect">
            <a:avLst>
              <a:gd name="adj" fmla="val 1200"/>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pic>
        <p:nvPicPr>
          <p:cNvPr id="3" name="Picture"/>
          <p:cNvPicPr>
            <a:picLocks noChangeAspect="1"/>
          </p:cNvPicPr>
          <p:nvPr/>
        </p:nvPicPr>
        <p:blipFill>
          <a:blip r:embed="rId1"/>
          <a:stretch>
            <a:fillRect/>
          </a:stretch>
        </p:blipFill>
        <p:spPr>
          <a:xfrm>
            <a:off x="324320" y="864672"/>
            <a:ext cx="4197680" cy="2838718"/>
          </a:xfrm>
          <a:prstGeom prst="rect">
            <a:avLst/>
          </a:prstGeom>
        </p:spPr>
      </p:pic>
      <p:sp>
        <p:nvSpPr>
          <p:cNvPr id="4" name="Text"/>
          <p:cNvSpPr/>
          <p:nvPr/>
        </p:nvSpPr>
        <p:spPr>
          <a:xfrm>
            <a:off x="274320" y="4442312"/>
            <a:ext cx="4297680" cy="300000"/>
          </a:xfrm>
          <a:prstGeom prst="rect">
            <a:avLst/>
          </a:prstGeom>
          <a:noFill/>
        </p:spPr>
        <p:txBody>
          <a:bodyPr wrap="square" lIns="0" tIns="0" rIns="0" bIns="0" rtlCol="0" anchor="ctr"/>
          <a:lstStyle/>
          <a:p>
            <a:pPr marL="0" indent="0" algn="ctr">
              <a:buNone/>
            </a:pPr>
            <a:r>
              <a:rPr lang="en-US" sz="850" dirty="0">
                <a:solidFill>
                  <a:srgbClr val="6D6D8A"/>
                </a:solidFill>
                <a:latin typeface="Calibri" panose="020F0502020204030204" pitchFamily="34" charset="0"/>
                <a:ea typeface="Calibri" panose="020F0502020204030204" pitchFamily="34" charset="-122"/>
                <a:cs typeface="Calibri" panose="020F0502020204030204" pitchFamily="34" charset="-120"/>
              </a:rPr>
              <a:t>Scatter Plot: Annual Income vs Spending Score</a:t>
            </a:r>
            <a:endParaRPr lang="en-US" sz="1000" dirty="0"/>
          </a:p>
        </p:txBody>
      </p:sp>
      <p:sp>
        <p:nvSpPr>
          <p:cNvPr id="5" name="Panel"/>
          <p:cNvSpPr/>
          <p:nvPr/>
        </p:nvSpPr>
        <p:spPr>
          <a:xfrm>
            <a:off x="4773168" y="804672"/>
            <a:ext cx="4096512" cy="1550000"/>
          </a:xfrm>
          <a:prstGeom prst="roundRect">
            <a:avLst>
              <a:gd name="adj" fmla="val 25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6" name="Text"/>
          <p:cNvSpPr/>
          <p:nvPr/>
        </p:nvSpPr>
        <p:spPr>
          <a:xfrm>
            <a:off x="4773168" y="864672"/>
            <a:ext cx="4096512" cy="350000"/>
          </a:xfrm>
          <a:prstGeom prst="rect">
            <a:avLst/>
          </a:prstGeom>
          <a:noFill/>
        </p:spPr>
        <p:txBody>
          <a:bodyPr wrap="square" lIns="0" tIns="0" rIns="0" bIns="0" rtlCol="0" anchor="ctr"/>
          <a:lstStyle/>
          <a:p>
            <a:pPr marL="0" indent="0" algn="ctr">
              <a:buNone/>
            </a:pPr>
            <a:r>
              <a:rPr lang="en-US" sz="1100" b="1" dirty="0">
                <a:solidFill>
                  <a:srgbClr val="A78BFA"/>
                </a:solidFill>
                <a:latin typeface="Calibri" panose="020F0502020204030204" pitchFamily="34" charset="0"/>
                <a:ea typeface="Calibri" panose="020F0502020204030204" pitchFamily="34" charset="-122"/>
                <a:cs typeface="Calibri" panose="020F0502020204030204" pitchFamily="34" charset="-120"/>
              </a:rPr>
              <a:t>Silhouette Score</a:t>
            </a:r>
            <a:endParaRPr lang="en-US" sz="1000" dirty="0"/>
          </a:p>
        </p:txBody>
      </p:sp>
      <p:sp>
        <p:nvSpPr>
          <p:cNvPr id="7" name="Text"/>
          <p:cNvSpPr/>
          <p:nvPr/>
        </p:nvSpPr>
        <p:spPr>
          <a:xfrm>
            <a:off x="4773168" y="1184672"/>
            <a:ext cx="4096512" cy="700000"/>
          </a:xfrm>
          <a:prstGeom prst="rect">
            <a:avLst/>
          </a:prstGeom>
          <a:noFill/>
        </p:spPr>
        <p:txBody>
          <a:bodyPr wrap="square" lIns="0" tIns="0" rIns="0" bIns="0" rtlCol="0" anchor="ctr"/>
          <a:lstStyle/>
          <a:p>
            <a:pPr marL="0" indent="0" algn="ctr">
              <a:buNone/>
            </a:pPr>
            <a:r>
              <a:rPr lang="en-US" sz="3600" b="1" dirty="0">
                <a:solidFill>
                  <a:srgbClr val="F5F3FF"/>
                </a:solidFill>
                <a:latin typeface="Calibri" panose="020F0502020204030204" pitchFamily="34" charset="0"/>
                <a:ea typeface="Calibri" panose="020F0502020204030204" pitchFamily="34" charset="-122"/>
                <a:cs typeface="Calibri" panose="020F0502020204030204" pitchFamily="34" charset="-120"/>
              </a:rPr>
              <a:t>0.3734</a:t>
            </a:r>
            <a:endParaRPr lang="en-US" sz="1000" dirty="0"/>
          </a:p>
        </p:txBody>
      </p:sp>
      <p:sp>
        <p:nvSpPr>
          <p:cNvPr id="8" name="Text"/>
          <p:cNvSpPr/>
          <p:nvPr/>
        </p:nvSpPr>
        <p:spPr>
          <a:xfrm>
            <a:off x="4773168" y="1954672"/>
            <a:ext cx="4096512" cy="350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GMM · 4 Cluster · Kategori: Lemah–Cukup</a:t>
            </a:r>
            <a:endParaRPr lang="en-US" sz="1000" dirty="0"/>
          </a:p>
        </p:txBody>
      </p:sp>
      <p:sp>
        <p:nvSpPr>
          <p:cNvPr id="9" name="Panel"/>
          <p:cNvSpPr/>
          <p:nvPr/>
        </p:nvSpPr>
        <p:spPr>
          <a:xfrm>
            <a:off x="4773168" y="2454672"/>
            <a:ext cx="4096512" cy="2327640"/>
          </a:xfrm>
          <a:prstGeom prst="roundRect">
            <a:avLst>
              <a:gd name="adj" fmla="val 23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0" name="Text"/>
          <p:cNvSpPr/>
          <p:nvPr/>
        </p:nvSpPr>
        <p:spPr>
          <a:xfrm>
            <a:off x="4773168" y="2454672"/>
            <a:ext cx="4096512" cy="2327640"/>
          </a:xfrm>
          <a:prstGeom prst="rect">
            <a:avLst/>
          </a:prstGeom>
          <a:noFill/>
        </p:spPr>
        <p:txBody>
          <a:bodyPr wrap="square" lIns="177800" tIns="177800" rIns="177800" bIns="101600" rtlCol="0" anchor="t"/>
          <a:lstStyle/>
          <a:p>
            <a:pPr marL="0" indent="0">
              <a:buNone/>
            </a:pPr>
            <a:r>
              <a:rPr lang="en-US" sz="1150" b="1" dirty="0">
                <a:solidFill>
                  <a:srgbClr val="A78BFA"/>
                </a:solidFill>
                <a:latin typeface="Calibri" panose="020F0502020204030204" pitchFamily="34" charset="0"/>
                <a:ea typeface="Calibri" panose="020F0502020204030204" pitchFamily="34" charset="-122"/>
                <a:cs typeface="Calibri" panose="020F0502020204030204" pitchFamily="34" charset="-120"/>
              </a:rPr>
              <a:t>Interpretasi Kualitas Clustering</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Nilai 0.3734 berada pada rentang 0.25–0.50 (Kaufman &amp; Rousseeuw, 1990), menunjukkan struktur clustering lemah hingga cukup.</a:t>
            </a:r>
            <a:endParaRPr lang="en-US" sz="1000" dirty="0"/>
          </a:p>
          <a:p>
            <a:pPr marL="0" indent="0">
              <a:buNone/>
            </a:pPr>
            <a:r>
              <a:rPr lang="en-US" sz="1050" dirty="0">
                <a:solidFill>
                  <a:srgbClr val="F5F3FF"/>
                </a:solidFill>
                <a:latin typeface="Calibri" panose="020F0502020204030204" pitchFamily="34" charset="0"/>
                <a:ea typeface="Calibri" panose="020F0502020204030204" pitchFamily="34" charset="-122"/>
                <a:cs typeface="Calibri" panose="020F0502020204030204" pitchFamily="34" charset="-120"/>
              </a:rPr>
              <a:t>Keempat cluster dapat dibedakan, namun terdapat tumpang tindih pada data dengan pendapatan &amp; pengeluaran menengah.</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37" name="HeaderBg"/>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38" name="HeaderLine"/>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39" name="Text"/>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Tahap 8 — Karakteristik Cluster</a:t>
            </a:r>
            <a:endParaRPr lang="en-US" sz="1000" dirty="0"/>
          </a:p>
        </p:txBody>
      </p:sp>
      <p:sp>
        <p:nvSpPr>
          <p:cNvPr id="40" name="FooterBg"/>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41" name="FooterLine"/>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42" name="Text"/>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1000" dirty="0"/>
          </a:p>
        </p:txBody>
      </p:sp>
      <p:sp>
        <p:nvSpPr>
          <p:cNvPr id="43" name="Text"/>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16</a:t>
            </a:r>
            <a:endParaRPr lang="en-US" sz="1000" dirty="0"/>
          </a:p>
        </p:txBody>
      </p:sp>
      <p:sp>
        <p:nvSpPr>
          <p:cNvPr id="2" name="Panel"/>
          <p:cNvSpPr/>
          <p:nvPr/>
        </p:nvSpPr>
        <p:spPr>
          <a:xfrm>
            <a:off x="274320" y="804672"/>
            <a:ext cx="8595360" cy="1650000"/>
          </a:xfrm>
          <a:prstGeom prst="roundRect">
            <a:avLst>
              <a:gd name="adj" fmla="val 9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3" name="Text"/>
          <p:cNvSpPr/>
          <p:nvPr/>
        </p:nvSpPr>
        <p:spPr>
          <a:xfrm>
            <a:off x="334320" y="864672"/>
            <a:ext cx="713582" cy="275000"/>
          </a:xfrm>
          <a:prstGeom prst="rect">
            <a:avLst/>
          </a:prstGeom>
          <a:noFill/>
        </p:spPr>
        <p:txBody>
          <a:bodyPr wrap="square" lIns="0" tIns="0" rIns="0" bIns="0" rtlCol="0" anchor="ctr"/>
          <a:lstStyle/>
          <a:p>
            <a:pPr marL="0" indent="0">
              <a:buNone/>
            </a:pPr>
            <a:r>
              <a:rPr lang="en-US" sz="950" b="1" dirty="0">
                <a:solidFill>
                  <a:srgbClr val="A78BFA"/>
                </a:solidFill>
                <a:latin typeface="Calibri" panose="020F0502020204030204" pitchFamily="34" charset="0"/>
                <a:ea typeface="Calibri" panose="020F0502020204030204" pitchFamily="34" charset="-122"/>
                <a:cs typeface="Calibri" panose="020F0502020204030204" pitchFamily="34" charset="-120"/>
              </a:rPr>
              <a:t>Cluster</a:t>
            </a:r>
            <a:endParaRPr lang="en-US" sz="1000" dirty="0"/>
          </a:p>
        </p:txBody>
      </p:sp>
      <p:sp>
        <p:nvSpPr>
          <p:cNvPr id="4" name="Text"/>
          <p:cNvSpPr/>
          <p:nvPr/>
        </p:nvSpPr>
        <p:spPr>
          <a:xfrm>
            <a:off x="1047902" y="864672"/>
            <a:ext cx="773582" cy="275000"/>
          </a:xfrm>
          <a:prstGeom prst="rect">
            <a:avLst/>
          </a:prstGeom>
          <a:noFill/>
        </p:spPr>
        <p:txBody>
          <a:bodyPr wrap="square" lIns="0" tIns="0" rIns="0" bIns="0" rtlCol="0" anchor="ctr"/>
          <a:lstStyle/>
          <a:p>
            <a:pPr marL="0" indent="0" algn="ctr">
              <a:buNone/>
            </a:pPr>
            <a:r>
              <a:rPr lang="en-US" sz="950" b="1" dirty="0">
                <a:solidFill>
                  <a:srgbClr val="A78BFA"/>
                </a:solidFill>
                <a:latin typeface="Calibri" panose="020F0502020204030204" pitchFamily="34" charset="0"/>
                <a:ea typeface="Calibri" panose="020F0502020204030204" pitchFamily="34" charset="-122"/>
                <a:cs typeface="Calibri" panose="020F0502020204030204" pitchFamily="34" charset="-120"/>
              </a:rPr>
              <a:t>Usia</a:t>
            </a:r>
            <a:endParaRPr lang="en-US" sz="1000" dirty="0"/>
          </a:p>
        </p:txBody>
      </p:sp>
      <p:sp>
        <p:nvSpPr>
          <p:cNvPr id="5" name="Text"/>
          <p:cNvSpPr/>
          <p:nvPr/>
        </p:nvSpPr>
        <p:spPr>
          <a:xfrm>
            <a:off x="1821484" y="864672"/>
            <a:ext cx="1117396" cy="275000"/>
          </a:xfrm>
          <a:prstGeom prst="rect">
            <a:avLst/>
          </a:prstGeom>
          <a:noFill/>
        </p:spPr>
        <p:txBody>
          <a:bodyPr wrap="square" lIns="0" tIns="0" rIns="0" bIns="0" rtlCol="0" anchor="ctr"/>
          <a:lstStyle/>
          <a:p>
            <a:pPr marL="0" indent="0" algn="ctr">
              <a:buNone/>
            </a:pPr>
            <a:r>
              <a:rPr lang="en-US" sz="950" b="1" dirty="0">
                <a:solidFill>
                  <a:srgbClr val="A78BFA"/>
                </a:solidFill>
                <a:latin typeface="Calibri" panose="020F0502020204030204" pitchFamily="34" charset="0"/>
                <a:ea typeface="Calibri" panose="020F0502020204030204" pitchFamily="34" charset="-122"/>
                <a:cs typeface="Calibri" panose="020F0502020204030204" pitchFamily="34" charset="-120"/>
              </a:rPr>
              <a:t>Income (k$)</a:t>
            </a:r>
            <a:endParaRPr lang="en-US" sz="1000" dirty="0"/>
          </a:p>
        </p:txBody>
      </p:sp>
      <p:sp>
        <p:nvSpPr>
          <p:cNvPr id="6" name="Text"/>
          <p:cNvSpPr/>
          <p:nvPr/>
        </p:nvSpPr>
        <p:spPr>
          <a:xfrm>
            <a:off x="2938880" y="864672"/>
            <a:ext cx="945489" cy="275000"/>
          </a:xfrm>
          <a:prstGeom prst="rect">
            <a:avLst/>
          </a:prstGeom>
          <a:noFill/>
        </p:spPr>
        <p:txBody>
          <a:bodyPr wrap="square" lIns="0" tIns="0" rIns="0" bIns="0" rtlCol="0" anchor="ctr"/>
          <a:lstStyle/>
          <a:p>
            <a:pPr marL="0" indent="0" algn="ctr">
              <a:buNone/>
            </a:pPr>
            <a:r>
              <a:rPr lang="en-US" sz="950" b="1" dirty="0">
                <a:solidFill>
                  <a:srgbClr val="A78BFA"/>
                </a:solidFill>
                <a:latin typeface="Calibri" panose="020F0502020204030204" pitchFamily="34" charset="0"/>
                <a:ea typeface="Calibri" panose="020F0502020204030204" pitchFamily="34" charset="-122"/>
                <a:cs typeface="Calibri" panose="020F0502020204030204" pitchFamily="34" charset="-120"/>
              </a:rPr>
              <a:t>Spending</a:t>
            </a:r>
            <a:endParaRPr lang="en-US" sz="1000" dirty="0"/>
          </a:p>
        </p:txBody>
      </p:sp>
      <p:sp>
        <p:nvSpPr>
          <p:cNvPr id="7" name="Text"/>
          <p:cNvSpPr/>
          <p:nvPr/>
        </p:nvSpPr>
        <p:spPr>
          <a:xfrm>
            <a:off x="3884369" y="864672"/>
            <a:ext cx="773582" cy="275000"/>
          </a:xfrm>
          <a:prstGeom prst="rect">
            <a:avLst/>
          </a:prstGeom>
          <a:noFill/>
        </p:spPr>
        <p:txBody>
          <a:bodyPr wrap="square" lIns="0" tIns="0" rIns="0" bIns="0" rtlCol="0" anchor="ctr"/>
          <a:lstStyle/>
          <a:p>
            <a:pPr marL="0" indent="0" algn="ctr">
              <a:buNone/>
            </a:pPr>
            <a:r>
              <a:rPr lang="en-US" sz="950" b="1" dirty="0">
                <a:solidFill>
                  <a:srgbClr val="A78BFA"/>
                </a:solidFill>
                <a:latin typeface="Calibri" panose="020F0502020204030204" pitchFamily="34" charset="0"/>
                <a:ea typeface="Calibri" panose="020F0502020204030204" pitchFamily="34" charset="-122"/>
                <a:cs typeface="Calibri" panose="020F0502020204030204" pitchFamily="34" charset="-120"/>
              </a:rPr>
              <a:t>Jumlah</a:t>
            </a:r>
            <a:endParaRPr lang="en-US" sz="1000" dirty="0"/>
          </a:p>
        </p:txBody>
      </p:sp>
      <p:sp>
        <p:nvSpPr>
          <p:cNvPr id="8" name="Text"/>
          <p:cNvSpPr/>
          <p:nvPr/>
        </p:nvSpPr>
        <p:spPr>
          <a:xfrm>
            <a:off x="4717951" y="864672"/>
            <a:ext cx="4211726" cy="275000"/>
          </a:xfrm>
          <a:prstGeom prst="rect">
            <a:avLst/>
          </a:prstGeom>
          <a:noFill/>
        </p:spPr>
        <p:txBody>
          <a:bodyPr wrap="square" lIns="0" tIns="0" rIns="0" bIns="0" rtlCol="0" anchor="ctr"/>
          <a:lstStyle/>
          <a:p>
            <a:pPr marL="0" indent="0">
              <a:buNone/>
            </a:pPr>
            <a:r>
              <a:rPr lang="en-US" sz="950" b="1" dirty="0">
                <a:solidFill>
                  <a:srgbClr val="A78BFA"/>
                </a:solidFill>
                <a:latin typeface="Calibri" panose="020F0502020204030204" pitchFamily="34" charset="0"/>
                <a:ea typeface="Calibri" panose="020F0502020204030204" pitchFamily="34" charset="-122"/>
                <a:cs typeface="Calibri" panose="020F0502020204030204" pitchFamily="34" charset="-120"/>
              </a:rPr>
              <a:t>Interpretasi</a:t>
            </a:r>
            <a:endParaRPr lang="en-US" sz="1000" dirty="0"/>
          </a:p>
        </p:txBody>
      </p:sp>
      <p:sp>
        <p:nvSpPr>
          <p:cNvPr id="9" name="Text"/>
          <p:cNvSpPr/>
          <p:nvPr/>
        </p:nvSpPr>
        <p:spPr>
          <a:xfrm>
            <a:off x="334320" y="1169672"/>
            <a:ext cx="713582" cy="275000"/>
          </a:xfrm>
          <a:prstGeom prst="rect">
            <a:avLst/>
          </a:prstGeom>
          <a:noFill/>
        </p:spPr>
        <p:txBody>
          <a:bodyPr wrap="square" lIns="0" tIns="0" rIns="0" bIns="0" rtlCol="0" anchor="ctr"/>
          <a:lstStyle/>
          <a:p>
            <a:pPr marL="0" indent="0">
              <a:buNone/>
            </a:pPr>
            <a:r>
              <a:rPr lang="en-US" sz="900" b="1" dirty="0">
                <a:solidFill>
                  <a:srgbClr val="F5F3FF"/>
                </a:solidFill>
                <a:latin typeface="Calibri" panose="020F0502020204030204" pitchFamily="34" charset="0"/>
                <a:ea typeface="Calibri" panose="020F0502020204030204" pitchFamily="34" charset="-122"/>
                <a:cs typeface="Calibri" panose="020F0502020204030204" pitchFamily="34" charset="-120"/>
              </a:rPr>
              <a:t>0</a:t>
            </a:r>
            <a:endParaRPr lang="en-US" sz="1000" dirty="0"/>
          </a:p>
        </p:txBody>
      </p:sp>
      <p:sp>
        <p:nvSpPr>
          <p:cNvPr id="10" name="Text"/>
          <p:cNvSpPr/>
          <p:nvPr/>
        </p:nvSpPr>
        <p:spPr>
          <a:xfrm>
            <a:off x="1047902" y="1169672"/>
            <a:ext cx="773582"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50.18</a:t>
            </a:r>
            <a:endParaRPr lang="en-US" sz="1000" dirty="0"/>
          </a:p>
        </p:txBody>
      </p:sp>
      <p:sp>
        <p:nvSpPr>
          <p:cNvPr id="11" name="Text"/>
          <p:cNvSpPr/>
          <p:nvPr/>
        </p:nvSpPr>
        <p:spPr>
          <a:xfrm>
            <a:off x="1821484" y="1169672"/>
            <a:ext cx="1117396"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45.84</a:t>
            </a:r>
            <a:endParaRPr lang="en-US" sz="1000" dirty="0"/>
          </a:p>
        </p:txBody>
      </p:sp>
      <p:sp>
        <p:nvSpPr>
          <p:cNvPr id="12" name="Text"/>
          <p:cNvSpPr/>
          <p:nvPr/>
        </p:nvSpPr>
        <p:spPr>
          <a:xfrm>
            <a:off x="2938880" y="1169672"/>
            <a:ext cx="945489"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40.70</a:t>
            </a:r>
            <a:endParaRPr lang="en-US" sz="1000" dirty="0"/>
          </a:p>
        </p:txBody>
      </p:sp>
      <p:sp>
        <p:nvSpPr>
          <p:cNvPr id="13" name="Text"/>
          <p:cNvSpPr/>
          <p:nvPr/>
        </p:nvSpPr>
        <p:spPr>
          <a:xfrm>
            <a:off x="3884369" y="1169672"/>
            <a:ext cx="773582"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76</a:t>
            </a:r>
            <a:endParaRPr lang="en-US" sz="1000" dirty="0"/>
          </a:p>
        </p:txBody>
      </p:sp>
      <p:sp>
        <p:nvSpPr>
          <p:cNvPr id="14" name="Text"/>
          <p:cNvSpPr/>
          <p:nvPr/>
        </p:nvSpPr>
        <p:spPr>
          <a:xfrm>
            <a:off x="4717951" y="1169672"/>
            <a:ext cx="4211726" cy="275000"/>
          </a:xfrm>
          <a:prstGeom prst="rect">
            <a:avLst/>
          </a:prstGeom>
          <a:noFill/>
        </p:spPr>
        <p:txBody>
          <a:bodyPr wrap="square" lIns="0" tIns="0" rIns="0" bIns="0" rtlCol="0" anchor="ctr"/>
          <a:lstStyle/>
          <a:p>
            <a:pPr marL="0" indent="0">
              <a:buNone/>
            </a:pPr>
            <a:r>
              <a:rPr lang="en-US" sz="900" dirty="0">
                <a:solidFill>
                  <a:srgbClr val="F5F3FF"/>
                </a:solidFill>
                <a:latin typeface="Calibri" panose="020F0502020204030204" pitchFamily="34" charset="0"/>
                <a:ea typeface="Calibri" panose="020F0502020204030204" pitchFamily="34" charset="-122"/>
                <a:cs typeface="Calibri" panose="020F0502020204030204" pitchFamily="34" charset="-120"/>
              </a:rPr>
              <a:t>Usia tua, pengeluaran sedang</a:t>
            </a:r>
            <a:endParaRPr lang="en-US" sz="1000" dirty="0"/>
          </a:p>
        </p:txBody>
      </p:sp>
      <p:sp>
        <p:nvSpPr>
          <p:cNvPr id="15" name="Text"/>
          <p:cNvSpPr/>
          <p:nvPr/>
        </p:nvSpPr>
        <p:spPr>
          <a:xfrm>
            <a:off x="334320" y="1444672"/>
            <a:ext cx="713582" cy="275000"/>
          </a:xfrm>
          <a:prstGeom prst="rect">
            <a:avLst/>
          </a:prstGeom>
          <a:noFill/>
        </p:spPr>
        <p:txBody>
          <a:bodyPr wrap="square" lIns="0" tIns="0" rIns="0" bIns="0" rtlCol="0" anchor="ctr"/>
          <a:lstStyle/>
          <a:p>
            <a:pPr marL="0" indent="0">
              <a:buNone/>
            </a:pPr>
            <a:r>
              <a:rPr lang="en-US" sz="900" b="1" dirty="0">
                <a:solidFill>
                  <a:srgbClr val="F5F3FF"/>
                </a:solidFill>
                <a:latin typeface="Calibri" panose="020F0502020204030204" pitchFamily="34" charset="0"/>
                <a:ea typeface="Calibri" panose="020F0502020204030204" pitchFamily="34" charset="-122"/>
                <a:cs typeface="Calibri" panose="020F0502020204030204" pitchFamily="34" charset="-120"/>
              </a:rPr>
              <a:t>1</a:t>
            </a:r>
            <a:endParaRPr lang="en-US" sz="1000" dirty="0"/>
          </a:p>
        </p:txBody>
      </p:sp>
      <p:sp>
        <p:nvSpPr>
          <p:cNvPr id="16" name="Text"/>
          <p:cNvSpPr/>
          <p:nvPr/>
        </p:nvSpPr>
        <p:spPr>
          <a:xfrm>
            <a:off x="1047902" y="1444672"/>
            <a:ext cx="773582"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32.69</a:t>
            </a:r>
            <a:endParaRPr lang="en-US" sz="1000" dirty="0"/>
          </a:p>
        </p:txBody>
      </p:sp>
      <p:sp>
        <p:nvSpPr>
          <p:cNvPr id="17" name="Text"/>
          <p:cNvSpPr/>
          <p:nvPr/>
        </p:nvSpPr>
        <p:spPr>
          <a:xfrm>
            <a:off x="1821484" y="1444672"/>
            <a:ext cx="1117396"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86.54</a:t>
            </a:r>
            <a:endParaRPr lang="en-US" sz="1000" dirty="0"/>
          </a:p>
        </p:txBody>
      </p:sp>
      <p:sp>
        <p:nvSpPr>
          <p:cNvPr id="18" name="Text"/>
          <p:cNvSpPr/>
          <p:nvPr/>
        </p:nvSpPr>
        <p:spPr>
          <a:xfrm>
            <a:off x="2938880" y="1444672"/>
            <a:ext cx="945489"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82.13</a:t>
            </a:r>
            <a:endParaRPr lang="en-US" sz="1000" dirty="0"/>
          </a:p>
        </p:txBody>
      </p:sp>
      <p:sp>
        <p:nvSpPr>
          <p:cNvPr id="19" name="Text"/>
          <p:cNvSpPr/>
          <p:nvPr/>
        </p:nvSpPr>
        <p:spPr>
          <a:xfrm>
            <a:off x="3884369" y="1444672"/>
            <a:ext cx="773582"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39</a:t>
            </a:r>
            <a:endParaRPr lang="en-US" sz="1000" dirty="0"/>
          </a:p>
        </p:txBody>
      </p:sp>
      <p:sp>
        <p:nvSpPr>
          <p:cNvPr id="20" name="Text"/>
          <p:cNvSpPr/>
          <p:nvPr/>
        </p:nvSpPr>
        <p:spPr>
          <a:xfrm>
            <a:off x="4717951" y="1444672"/>
            <a:ext cx="4211726" cy="275000"/>
          </a:xfrm>
          <a:prstGeom prst="rect">
            <a:avLst/>
          </a:prstGeom>
          <a:noFill/>
        </p:spPr>
        <p:txBody>
          <a:bodyPr wrap="square" lIns="0" tIns="0" rIns="0" bIns="0" rtlCol="0" anchor="ctr"/>
          <a:lstStyle/>
          <a:p>
            <a:pPr marL="0" indent="0">
              <a:buNone/>
            </a:pPr>
            <a:r>
              <a:rPr lang="en-US" sz="900" dirty="0">
                <a:solidFill>
                  <a:srgbClr val="F5F3FF"/>
                </a:solidFill>
                <a:latin typeface="Calibri" panose="020F0502020204030204" pitchFamily="34" charset="0"/>
                <a:ea typeface="Calibri" panose="020F0502020204030204" pitchFamily="34" charset="-122"/>
                <a:cs typeface="Calibri" panose="020F0502020204030204" pitchFamily="34" charset="-120"/>
              </a:rPr>
              <a:t>Income &amp; spending tinggi</a:t>
            </a:r>
            <a:endParaRPr lang="en-US" sz="1000" dirty="0"/>
          </a:p>
        </p:txBody>
      </p:sp>
      <p:sp>
        <p:nvSpPr>
          <p:cNvPr id="21" name="Text"/>
          <p:cNvSpPr/>
          <p:nvPr/>
        </p:nvSpPr>
        <p:spPr>
          <a:xfrm>
            <a:off x="334320" y="1719672"/>
            <a:ext cx="713582" cy="275000"/>
          </a:xfrm>
          <a:prstGeom prst="rect">
            <a:avLst/>
          </a:prstGeom>
          <a:noFill/>
        </p:spPr>
        <p:txBody>
          <a:bodyPr wrap="square" lIns="0" tIns="0" rIns="0" bIns="0" rtlCol="0" anchor="ctr"/>
          <a:lstStyle/>
          <a:p>
            <a:pPr marL="0" indent="0">
              <a:buNone/>
            </a:pPr>
            <a:r>
              <a:rPr lang="en-US" sz="900" b="1" dirty="0">
                <a:solidFill>
                  <a:srgbClr val="F5F3FF"/>
                </a:solidFill>
                <a:latin typeface="Calibri" panose="020F0502020204030204" pitchFamily="34" charset="0"/>
                <a:ea typeface="Calibri" panose="020F0502020204030204" pitchFamily="34" charset="-122"/>
                <a:cs typeface="Calibri" panose="020F0502020204030204" pitchFamily="34" charset="-120"/>
              </a:rPr>
              <a:t>2</a:t>
            </a:r>
            <a:endParaRPr lang="en-US" sz="1000" dirty="0"/>
          </a:p>
        </p:txBody>
      </p:sp>
      <p:sp>
        <p:nvSpPr>
          <p:cNvPr id="22" name="Text"/>
          <p:cNvSpPr/>
          <p:nvPr/>
        </p:nvSpPr>
        <p:spPr>
          <a:xfrm>
            <a:off x="1047902" y="1719672"/>
            <a:ext cx="773582"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24.33</a:t>
            </a:r>
            <a:endParaRPr lang="en-US" sz="1000" dirty="0"/>
          </a:p>
        </p:txBody>
      </p:sp>
      <p:sp>
        <p:nvSpPr>
          <p:cNvPr id="23" name="Text"/>
          <p:cNvSpPr/>
          <p:nvPr/>
        </p:nvSpPr>
        <p:spPr>
          <a:xfrm>
            <a:off x="1821484" y="1719672"/>
            <a:ext cx="1117396"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43.90</a:t>
            </a:r>
            <a:endParaRPr lang="en-US" sz="1000" dirty="0"/>
          </a:p>
        </p:txBody>
      </p:sp>
      <p:sp>
        <p:nvSpPr>
          <p:cNvPr id="24" name="Text"/>
          <p:cNvSpPr/>
          <p:nvPr/>
        </p:nvSpPr>
        <p:spPr>
          <a:xfrm>
            <a:off x="2938880" y="1719672"/>
            <a:ext cx="945489"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61.75</a:t>
            </a:r>
            <a:endParaRPr lang="en-US" sz="1000" dirty="0"/>
          </a:p>
        </p:txBody>
      </p:sp>
      <p:sp>
        <p:nvSpPr>
          <p:cNvPr id="25" name="Text"/>
          <p:cNvSpPr/>
          <p:nvPr/>
        </p:nvSpPr>
        <p:spPr>
          <a:xfrm>
            <a:off x="3884369" y="1719672"/>
            <a:ext cx="773582"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51</a:t>
            </a:r>
            <a:endParaRPr lang="en-US" sz="1000" dirty="0"/>
          </a:p>
        </p:txBody>
      </p:sp>
      <p:sp>
        <p:nvSpPr>
          <p:cNvPr id="26" name="Text"/>
          <p:cNvSpPr/>
          <p:nvPr/>
        </p:nvSpPr>
        <p:spPr>
          <a:xfrm>
            <a:off x="4717951" y="1719672"/>
            <a:ext cx="4211726" cy="275000"/>
          </a:xfrm>
          <a:prstGeom prst="rect">
            <a:avLst/>
          </a:prstGeom>
          <a:noFill/>
        </p:spPr>
        <p:txBody>
          <a:bodyPr wrap="square" lIns="0" tIns="0" rIns="0" bIns="0" rtlCol="0" anchor="ctr"/>
          <a:lstStyle/>
          <a:p>
            <a:pPr marL="0" indent="0">
              <a:buNone/>
            </a:pPr>
            <a:r>
              <a:rPr lang="en-US" sz="900" dirty="0">
                <a:solidFill>
                  <a:srgbClr val="F5F3FF"/>
                </a:solidFill>
                <a:latin typeface="Calibri" panose="020F0502020204030204" pitchFamily="34" charset="0"/>
                <a:ea typeface="Calibri" panose="020F0502020204030204" pitchFamily="34" charset="-122"/>
                <a:cs typeface="Calibri" panose="020F0502020204030204" pitchFamily="34" charset="-120"/>
              </a:rPr>
              <a:t>Usia muda, aktif belanja</a:t>
            </a:r>
            <a:endParaRPr lang="en-US" sz="1000" dirty="0"/>
          </a:p>
        </p:txBody>
      </p:sp>
      <p:sp>
        <p:nvSpPr>
          <p:cNvPr id="27" name="Text"/>
          <p:cNvSpPr/>
          <p:nvPr/>
        </p:nvSpPr>
        <p:spPr>
          <a:xfrm>
            <a:off x="334320" y="1994672"/>
            <a:ext cx="713582" cy="275000"/>
          </a:xfrm>
          <a:prstGeom prst="rect">
            <a:avLst/>
          </a:prstGeom>
          <a:noFill/>
        </p:spPr>
        <p:txBody>
          <a:bodyPr wrap="square" lIns="0" tIns="0" rIns="0" bIns="0" rtlCol="0" anchor="ctr"/>
          <a:lstStyle/>
          <a:p>
            <a:pPr marL="0" indent="0">
              <a:buNone/>
            </a:pPr>
            <a:r>
              <a:rPr lang="en-US" sz="900" b="1" dirty="0">
                <a:solidFill>
                  <a:srgbClr val="F5F3FF"/>
                </a:solidFill>
                <a:latin typeface="Calibri" panose="020F0502020204030204" pitchFamily="34" charset="0"/>
                <a:ea typeface="Calibri" panose="020F0502020204030204" pitchFamily="34" charset="-122"/>
                <a:cs typeface="Calibri" panose="020F0502020204030204" pitchFamily="34" charset="-120"/>
              </a:rPr>
              <a:t>3</a:t>
            </a:r>
            <a:endParaRPr lang="en-US" sz="1000" dirty="0"/>
          </a:p>
        </p:txBody>
      </p:sp>
      <p:sp>
        <p:nvSpPr>
          <p:cNvPr id="28" name="Text"/>
          <p:cNvSpPr/>
          <p:nvPr/>
        </p:nvSpPr>
        <p:spPr>
          <a:xfrm>
            <a:off x="1047902" y="1994672"/>
            <a:ext cx="773582"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42.35</a:t>
            </a:r>
            <a:endParaRPr lang="en-US" sz="1000" dirty="0"/>
          </a:p>
        </p:txBody>
      </p:sp>
      <p:sp>
        <p:nvSpPr>
          <p:cNvPr id="29" name="Text"/>
          <p:cNvSpPr/>
          <p:nvPr/>
        </p:nvSpPr>
        <p:spPr>
          <a:xfrm>
            <a:off x="1821484" y="1994672"/>
            <a:ext cx="1117396"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88.65</a:t>
            </a:r>
            <a:endParaRPr lang="en-US" sz="1000" dirty="0"/>
          </a:p>
        </p:txBody>
      </p:sp>
      <p:sp>
        <p:nvSpPr>
          <p:cNvPr id="30" name="Text"/>
          <p:cNvSpPr/>
          <p:nvPr/>
        </p:nvSpPr>
        <p:spPr>
          <a:xfrm>
            <a:off x="2938880" y="1994672"/>
            <a:ext cx="945489"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17.50</a:t>
            </a:r>
            <a:endParaRPr lang="en-US" sz="1000" dirty="0"/>
          </a:p>
        </p:txBody>
      </p:sp>
      <p:sp>
        <p:nvSpPr>
          <p:cNvPr id="31" name="Text"/>
          <p:cNvSpPr/>
          <p:nvPr/>
        </p:nvSpPr>
        <p:spPr>
          <a:xfrm>
            <a:off x="3884369" y="1994672"/>
            <a:ext cx="773582" cy="275000"/>
          </a:xfrm>
          <a:prstGeom prst="rect">
            <a:avLst/>
          </a:prstGeom>
          <a:noFill/>
        </p:spPr>
        <p:txBody>
          <a:bodyPr wrap="square" lIns="0" tIns="0" rIns="0" bIns="0" rtlCol="0" anchor="ctr"/>
          <a:lstStyle/>
          <a:p>
            <a:pPr marL="0" indent="0" algn="ctr">
              <a:buNone/>
            </a:pPr>
            <a:r>
              <a:rPr lang="en-US" sz="900" dirty="0">
                <a:solidFill>
                  <a:srgbClr val="C4B5FD"/>
                </a:solidFill>
                <a:latin typeface="Calibri" panose="020F0502020204030204" pitchFamily="34" charset="0"/>
                <a:ea typeface="Calibri" panose="020F0502020204030204" pitchFamily="34" charset="-122"/>
                <a:cs typeface="Calibri" panose="020F0502020204030204" pitchFamily="34" charset="-120"/>
              </a:rPr>
              <a:t>34</a:t>
            </a:r>
            <a:endParaRPr lang="en-US" sz="1000" dirty="0"/>
          </a:p>
        </p:txBody>
      </p:sp>
      <p:sp>
        <p:nvSpPr>
          <p:cNvPr id="32" name="Text"/>
          <p:cNvSpPr/>
          <p:nvPr/>
        </p:nvSpPr>
        <p:spPr>
          <a:xfrm>
            <a:off x="4717951" y="1994672"/>
            <a:ext cx="4211726" cy="275000"/>
          </a:xfrm>
          <a:prstGeom prst="rect">
            <a:avLst/>
          </a:prstGeom>
          <a:noFill/>
        </p:spPr>
        <p:txBody>
          <a:bodyPr wrap="square" lIns="0" tIns="0" rIns="0" bIns="0" rtlCol="0" anchor="ctr"/>
          <a:lstStyle/>
          <a:p>
            <a:pPr marL="0" indent="0">
              <a:buNone/>
            </a:pPr>
            <a:r>
              <a:rPr lang="en-US" sz="900" dirty="0">
                <a:solidFill>
                  <a:srgbClr val="F5F3FF"/>
                </a:solidFill>
                <a:latin typeface="Calibri" panose="020F0502020204030204" pitchFamily="34" charset="0"/>
                <a:ea typeface="Calibri" panose="020F0502020204030204" pitchFamily="34" charset="-122"/>
                <a:cs typeface="Calibri" panose="020F0502020204030204" pitchFamily="34" charset="-120"/>
              </a:rPr>
              <a:t>Income tinggi, spending rendah</a:t>
            </a:r>
            <a:endParaRPr lang="en-US" sz="1000" dirty="0"/>
          </a:p>
        </p:txBody>
      </p:sp>
      <p:sp>
        <p:nvSpPr>
          <p:cNvPr id="33" name="Panel"/>
          <p:cNvSpPr/>
          <p:nvPr/>
        </p:nvSpPr>
        <p:spPr>
          <a:xfrm>
            <a:off x="274320" y="2584672"/>
            <a:ext cx="3400000" cy="2304236"/>
          </a:xfrm>
          <a:prstGeom prst="roundRect">
            <a:avLst>
              <a:gd name="adj" fmla="val 1500"/>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pic>
        <p:nvPicPr>
          <p:cNvPr id="34" name="Picture"/>
          <p:cNvPicPr>
            <a:picLocks noChangeAspect="1"/>
          </p:cNvPicPr>
          <p:nvPr/>
        </p:nvPicPr>
        <p:blipFill>
          <a:blip r:embed="rId1"/>
          <a:stretch>
            <a:fillRect/>
          </a:stretch>
        </p:blipFill>
        <p:spPr>
          <a:xfrm>
            <a:off x="374320" y="2604672"/>
            <a:ext cx="3200000" cy="2022306"/>
          </a:xfrm>
          <a:prstGeom prst="rect">
            <a:avLst/>
          </a:prstGeom>
        </p:spPr>
      </p:pic>
      <p:sp>
        <p:nvSpPr>
          <p:cNvPr id="35" name="Panel"/>
          <p:cNvSpPr/>
          <p:nvPr/>
        </p:nvSpPr>
        <p:spPr>
          <a:xfrm>
            <a:off x="3774320" y="2584672"/>
            <a:ext cx="5095360" cy="2304236"/>
          </a:xfrm>
          <a:prstGeom prst="roundRect">
            <a:avLst>
              <a:gd name="adj" fmla="val 2300"/>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36" name="Text"/>
          <p:cNvSpPr/>
          <p:nvPr/>
        </p:nvSpPr>
        <p:spPr>
          <a:xfrm>
            <a:off x="3774320" y="2584672"/>
            <a:ext cx="5095360" cy="2304236"/>
          </a:xfrm>
          <a:prstGeom prst="rect">
            <a:avLst/>
          </a:prstGeom>
          <a:noFill/>
        </p:spPr>
        <p:txBody>
          <a:bodyPr wrap="square" lIns="177800" tIns="177800" rIns="177800" bIns="101600" rtlCol="0" anchor="t"/>
          <a:lstStyle/>
          <a:p>
            <a:pPr marL="0" indent="0">
              <a:buNone/>
            </a:pPr>
            <a:r>
              <a:rPr lang="en-US" sz="1100" b="1" dirty="0">
                <a:solidFill>
                  <a:srgbClr val="A78BFA"/>
                </a:solidFill>
                <a:latin typeface="Calibri" panose="020F0502020204030204" pitchFamily="34" charset="0"/>
                <a:ea typeface="Calibri" panose="020F0502020204030204" pitchFamily="34" charset="-122"/>
                <a:cs typeface="Calibri" panose="020F0502020204030204" pitchFamily="34" charset="-120"/>
              </a:rPr>
              <a:t>Ringkasan Interpretasi</a:t>
            </a:r>
            <a:endParaRPr lang="en-US" sz="1000" dirty="0"/>
          </a:p>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Cluster 1 (income &amp; spending tinggi) berpotensi menjadi target program loyalitas premium.</a:t>
            </a:r>
            <a:endParaRPr lang="en-US" sz="1000" dirty="0"/>
          </a:p>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Cluster 3 (income tinggi, spending rendah) bersifat selektif — cocok untuk promosi personal.</a:t>
            </a:r>
            <a:endParaRPr lang="en-US" sz="1000" dirty="0"/>
          </a:p>
          <a:p>
            <a:pPr marL="0" indent="0">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Cluster 2 (usia muda, aktif belanja) sesuai untuk promosi produk tren.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3" name="Shape 1"/>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4" name="Text 2"/>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Kesimpulan</a:t>
            </a:r>
            <a:endParaRPr lang="en-US" sz="2200" dirty="0"/>
          </a:p>
        </p:txBody>
      </p:sp>
      <p:sp>
        <p:nvSpPr>
          <p:cNvPr id="5" name="Shape 3"/>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6" name="Shape 4"/>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7" name="Text 5"/>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750" dirty="0"/>
          </a:p>
        </p:txBody>
      </p:sp>
      <p:sp>
        <p:nvSpPr>
          <p:cNvPr id="8" name="Text 6"/>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17</a:t>
            </a:r>
            <a:endParaRPr lang="en-US" sz="750" dirty="0"/>
          </a:p>
        </p:txBody>
      </p:sp>
      <p:sp>
        <p:nvSpPr>
          <p:cNvPr id="9" name="Shape 7"/>
          <p:cNvSpPr/>
          <p:nvPr/>
        </p:nvSpPr>
        <p:spPr>
          <a:xfrm>
            <a:off x="274320" y="868680"/>
            <a:ext cx="8595360" cy="1170432"/>
          </a:xfrm>
          <a:prstGeom prst="roundRect">
            <a:avLst>
              <a:gd name="adj" fmla="val 7813"/>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0" name="Text 8"/>
          <p:cNvSpPr/>
          <p:nvPr/>
        </p:nvSpPr>
        <p:spPr>
          <a:xfrm>
            <a:off x="365760" y="868680"/>
            <a:ext cx="685800" cy="1170432"/>
          </a:xfrm>
          <a:prstGeom prst="rect">
            <a:avLst/>
          </a:prstGeom>
          <a:noFill/>
        </p:spPr>
        <p:txBody>
          <a:bodyPr wrap="square" lIns="0" tIns="0" rIns="0" bIns="0" rtlCol="0" anchor="ctr"/>
          <a:lstStyle/>
          <a:p>
            <a:pPr marL="0" indent="0" algn="ctr">
              <a:buNone/>
            </a:pPr>
            <a:r>
              <a:rPr lang="en-US" sz="2400" b="1" dirty="0">
                <a:solidFill>
                  <a:srgbClr val="7C3AED"/>
                </a:solidFill>
                <a:latin typeface="Cambria" panose="02040503050406030204" pitchFamily="34" charset="0"/>
                <a:ea typeface="Cambria" panose="02040503050406030204" pitchFamily="34" charset="-122"/>
                <a:cs typeface="Cambria" panose="02040503050406030204" pitchFamily="34" charset="-120"/>
              </a:rPr>
              <a:t>01</a:t>
            </a:r>
            <a:endParaRPr lang="en-US" sz="2400" dirty="0"/>
          </a:p>
        </p:txBody>
      </p:sp>
      <p:sp>
        <p:nvSpPr>
          <p:cNvPr id="11" name="Text 9"/>
          <p:cNvSpPr/>
          <p:nvPr/>
        </p:nvSpPr>
        <p:spPr>
          <a:xfrm>
            <a:off x="1143000" y="868680"/>
            <a:ext cx="7589520" cy="1170432"/>
          </a:xfrm>
          <a:prstGeom prst="rect">
            <a:avLst/>
          </a:prstGeom>
          <a:noFill/>
        </p:spPr>
        <p:txBody>
          <a:bodyPr wrap="square" lIns="101600" tIns="0" rIns="0" bIns="101600" rtlCol="0" anchor="ctr"/>
          <a:lstStyle/>
          <a:p>
            <a:pPr marL="0" indent="0">
              <a:buNone/>
            </a:pPr>
            <a:r>
              <a:rPr lang="en-US" sz="1200" b="1" dirty="0">
                <a:solidFill>
                  <a:srgbClr val="A78BFA"/>
                </a:solidFill>
                <a:latin typeface="Calibri" panose="020F0502020204030204" pitchFamily="34" charset="0"/>
                <a:ea typeface="Calibri" panose="020F0502020204030204" pitchFamily="34" charset="-122"/>
                <a:cs typeface="Calibri" panose="020F0502020204030204" pitchFamily="34" charset="-120"/>
              </a:rPr>
              <a:t>Cluster Optimal: 4 Cluster
</a:t>
            </a:r>
            <a:endParaRPr lang="en-US" sz="1200" dirty="0"/>
          </a:p>
          <a:p>
            <a:pPr marL="0" indent="0">
              <a:buNone/>
            </a:pPr>
            <a:r>
              <a:rPr lang="en-US" sz="1000" dirty="0">
                <a:solidFill>
                  <a:srgbClr val="F5F3FF"/>
                </a:solidFill>
                <a:latin typeface="Calibri" panose="020F0502020204030204" pitchFamily="34" charset="0"/>
                <a:ea typeface="Calibri" panose="020F0502020204030204" pitchFamily="34" charset="-122"/>
                <a:cs typeface="Calibri" panose="020F0502020204030204" pitchFamily="34" charset="-120"/>
              </a:rPr>
              <a:t>Jumlah cluster optimal ditentukan berdasarkan nilai BIC terendah sebesar 1.596,999 pada k=4, dari evaluasi rentang 1 hingga 10 cluster. BIC dipilih sebagai acuan karena memberikan keseimbangan antara kesesuaian model dan kompleksitas.</a:t>
            </a:r>
            <a:endParaRPr lang="en-US" sz="1200" dirty="0"/>
          </a:p>
        </p:txBody>
      </p:sp>
      <p:sp>
        <p:nvSpPr>
          <p:cNvPr id="12" name="Shape 10"/>
          <p:cNvSpPr/>
          <p:nvPr/>
        </p:nvSpPr>
        <p:spPr>
          <a:xfrm>
            <a:off x="274320" y="2221992"/>
            <a:ext cx="8595360" cy="1170432"/>
          </a:xfrm>
          <a:prstGeom prst="roundRect">
            <a:avLst>
              <a:gd name="adj" fmla="val 7813"/>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3" name="Text 11"/>
          <p:cNvSpPr/>
          <p:nvPr/>
        </p:nvSpPr>
        <p:spPr>
          <a:xfrm>
            <a:off x="365760" y="2221992"/>
            <a:ext cx="685800" cy="1170432"/>
          </a:xfrm>
          <a:prstGeom prst="rect">
            <a:avLst/>
          </a:prstGeom>
          <a:noFill/>
        </p:spPr>
        <p:txBody>
          <a:bodyPr wrap="square" lIns="0" tIns="0" rIns="0" bIns="0" rtlCol="0" anchor="ctr"/>
          <a:lstStyle/>
          <a:p>
            <a:pPr marL="0" indent="0" algn="ctr">
              <a:buNone/>
            </a:pPr>
            <a:r>
              <a:rPr lang="en-US" sz="2400" b="1" dirty="0">
                <a:solidFill>
                  <a:srgbClr val="7C3AED"/>
                </a:solidFill>
                <a:latin typeface="Cambria" panose="02040503050406030204" pitchFamily="34" charset="0"/>
                <a:ea typeface="Cambria" panose="02040503050406030204" pitchFamily="34" charset="-122"/>
                <a:cs typeface="Cambria" panose="02040503050406030204" pitchFamily="34" charset="-120"/>
              </a:rPr>
              <a:t>02</a:t>
            </a:r>
            <a:endParaRPr lang="en-US" sz="2400" dirty="0"/>
          </a:p>
        </p:txBody>
      </p:sp>
      <p:sp>
        <p:nvSpPr>
          <p:cNvPr id="14" name="Text 12"/>
          <p:cNvSpPr/>
          <p:nvPr/>
        </p:nvSpPr>
        <p:spPr>
          <a:xfrm>
            <a:off x="1143000" y="2221992"/>
            <a:ext cx="7589520" cy="1170432"/>
          </a:xfrm>
          <a:prstGeom prst="rect">
            <a:avLst/>
          </a:prstGeom>
          <a:noFill/>
        </p:spPr>
        <p:txBody>
          <a:bodyPr wrap="square" lIns="101600" tIns="0" rIns="0" bIns="101600" rtlCol="0" anchor="ctr"/>
          <a:lstStyle/>
          <a:p>
            <a:pPr marL="0" indent="0">
              <a:buNone/>
            </a:pPr>
            <a:r>
              <a:rPr lang="en-US" sz="1200" b="1" dirty="0">
                <a:solidFill>
                  <a:srgbClr val="A78BFA"/>
                </a:solidFill>
                <a:latin typeface="Calibri" panose="020F0502020204030204" pitchFamily="34" charset="0"/>
                <a:ea typeface="Calibri" panose="020F0502020204030204" pitchFamily="34" charset="-122"/>
                <a:cs typeface="Calibri" panose="020F0502020204030204" pitchFamily="34" charset="-120"/>
              </a:rPr>
              <a:t>Karakteristik 4 Segmen Pelanggan
</a:t>
            </a:r>
            <a:endParaRPr lang="en-US" sz="1200" dirty="0"/>
          </a:p>
          <a:p>
            <a:pPr marL="0" indent="0">
              <a:buNone/>
            </a:pPr>
            <a:r>
              <a:rPr lang="en-US" sz="1000" dirty="0">
                <a:solidFill>
                  <a:srgbClr val="F5F3FF"/>
                </a:solidFill>
                <a:latin typeface="Calibri" panose="020F0502020204030204" pitchFamily="34" charset="0"/>
                <a:ea typeface="Calibri" panose="020F0502020204030204" pitchFamily="34" charset="-122"/>
                <a:cs typeface="Calibri" panose="020F0502020204030204" pitchFamily="34" charset="-120"/>
              </a:rPr>
              <a:t>Cluster 0: usia tua, income &amp; spending sedang (76 orang). Cluster 1: income &amp; spending tinggi — target premium (39 orang). Cluster 2: usia muda, spending aktif — target tren (51 orang). Cluster 3: income tinggi, spending rendah — selektif (34 orang).</a:t>
            </a:r>
            <a:endParaRPr lang="en-US" sz="1200" dirty="0"/>
          </a:p>
        </p:txBody>
      </p:sp>
      <p:sp>
        <p:nvSpPr>
          <p:cNvPr id="15" name="Shape 13"/>
          <p:cNvSpPr/>
          <p:nvPr/>
        </p:nvSpPr>
        <p:spPr>
          <a:xfrm>
            <a:off x="274320" y="3575304"/>
            <a:ext cx="8595360" cy="1170432"/>
          </a:xfrm>
          <a:prstGeom prst="roundRect">
            <a:avLst>
              <a:gd name="adj" fmla="val 7813"/>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6" name="Text 14"/>
          <p:cNvSpPr/>
          <p:nvPr/>
        </p:nvSpPr>
        <p:spPr>
          <a:xfrm>
            <a:off x="365760" y="3575304"/>
            <a:ext cx="685800" cy="1170432"/>
          </a:xfrm>
          <a:prstGeom prst="rect">
            <a:avLst/>
          </a:prstGeom>
          <a:noFill/>
        </p:spPr>
        <p:txBody>
          <a:bodyPr wrap="square" lIns="0" tIns="0" rIns="0" bIns="0" rtlCol="0" anchor="ctr"/>
          <a:lstStyle/>
          <a:p>
            <a:pPr marL="0" indent="0" algn="ctr">
              <a:buNone/>
            </a:pPr>
            <a:r>
              <a:rPr lang="en-US" sz="2400" b="1" dirty="0">
                <a:solidFill>
                  <a:srgbClr val="7C3AED"/>
                </a:solidFill>
                <a:latin typeface="Cambria" panose="02040503050406030204" pitchFamily="34" charset="0"/>
                <a:ea typeface="Cambria" panose="02040503050406030204" pitchFamily="34" charset="-122"/>
                <a:cs typeface="Cambria" panose="02040503050406030204" pitchFamily="34" charset="-120"/>
              </a:rPr>
              <a:t>03</a:t>
            </a:r>
            <a:endParaRPr lang="en-US" sz="2400" dirty="0"/>
          </a:p>
        </p:txBody>
      </p:sp>
      <p:sp>
        <p:nvSpPr>
          <p:cNvPr id="17" name="Text 15"/>
          <p:cNvSpPr/>
          <p:nvPr/>
        </p:nvSpPr>
        <p:spPr>
          <a:xfrm>
            <a:off x="1143000" y="3575304"/>
            <a:ext cx="7589520" cy="1170432"/>
          </a:xfrm>
          <a:prstGeom prst="rect">
            <a:avLst/>
          </a:prstGeom>
          <a:noFill/>
        </p:spPr>
        <p:txBody>
          <a:bodyPr wrap="square" lIns="101600" tIns="0" rIns="0" bIns="101600" rtlCol="0" anchor="ctr"/>
          <a:lstStyle/>
          <a:p>
            <a:pPr marL="0" indent="0">
              <a:buNone/>
            </a:pPr>
            <a:r>
              <a:rPr lang="en-US" sz="1200" b="1" dirty="0">
                <a:solidFill>
                  <a:srgbClr val="A78BFA"/>
                </a:solidFill>
                <a:latin typeface="Calibri" panose="020F0502020204030204" pitchFamily="34" charset="0"/>
                <a:ea typeface="Calibri" panose="020F0502020204030204" pitchFamily="34" charset="-122"/>
                <a:cs typeface="Calibri" panose="020F0502020204030204" pitchFamily="34" charset="-120"/>
              </a:rPr>
              <a:t>Kualitas Clustering: Silhouette Score 0.3734
</a:t>
            </a:r>
            <a:endParaRPr lang="en-US" sz="1200" dirty="0"/>
          </a:p>
          <a:p>
            <a:pPr marL="0" indent="0">
              <a:buNone/>
            </a:pPr>
            <a:r>
              <a:rPr lang="en-US" sz="1000" dirty="0">
                <a:solidFill>
                  <a:srgbClr val="F5F3FF"/>
                </a:solidFill>
                <a:latin typeface="Calibri" panose="020F0502020204030204" pitchFamily="34" charset="0"/>
                <a:ea typeface="Calibri" panose="020F0502020204030204" pitchFamily="34" charset="-122"/>
                <a:cs typeface="Calibri" panose="020F0502020204030204" pitchFamily="34" charset="-120"/>
              </a:rPr>
              <a:t>Nilai 0.3734 (rentang 0.25–0.50) menurut skala Kaufman &amp; Rousseeuw (1990) menunjukkan struktur clustering weak-to-moderate. Keempat cluster dapat dibedakan meskipun terdapat tumpang tindih pada sebagian data antarcluster.</a:t>
            </a:r>
            <a:endParaRPr lang="en-US" sz="1200" dirty="0"/>
          </a:p>
        </p:txBody>
      </p:sp>
      <p:sp>
        <p:nvSpPr>
          <p:cNvPr id="18" name="Shape 16"/>
          <p:cNvSpPr/>
          <p:nvPr/>
        </p:nvSpPr>
        <p:spPr>
          <a:xfrm>
            <a:off x="274320" y="4645152"/>
            <a:ext cx="8595360" cy="256032"/>
          </a:xfrm>
          <a:prstGeom prst="roundRect">
            <a:avLst>
              <a:gd name="adj" fmla="val 21429"/>
            </a:avLst>
          </a:prstGeom>
          <a:solidFill>
            <a:srgbClr val="1A0D3E"/>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9" name="Text 17"/>
          <p:cNvSpPr/>
          <p:nvPr/>
        </p:nvSpPr>
        <p:spPr>
          <a:xfrm>
            <a:off x="274320" y="4645152"/>
            <a:ext cx="8595360" cy="256032"/>
          </a:xfrm>
          <a:prstGeom prst="rect">
            <a:avLst/>
          </a:prstGeom>
          <a:noFill/>
        </p:spPr>
        <p:txBody>
          <a:bodyPr wrap="square" lIns="0" tIns="0" rIns="0" bIns="0" rtlCol="0" anchor="ctr"/>
          <a:lstStyle/>
          <a:p>
            <a:pPr marL="0" indent="0" algn="ctr">
              <a:buNone/>
            </a:pPr>
            <a:r>
              <a:rPr lang="en-US" sz="950" i="1" dirty="0">
                <a:solidFill>
                  <a:srgbClr val="A78BFA"/>
                </a:solidFill>
                <a:latin typeface="Calibri" panose="020F0502020204030204" pitchFamily="34" charset="0"/>
                <a:ea typeface="Calibri" panose="020F0502020204030204" pitchFamily="34" charset="-122"/>
                <a:cs typeface="Calibri" panose="020F0502020204030204" pitchFamily="34" charset="-120"/>
              </a:rPr>
              <a:t>Seluruh rumusan masalah penelitian telah terjawab dan tujuan penelitian telah tercapai sesuai BAB I.</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0C22"/>
          </a:solidFill>
          <a:ln w="12700">
            <a:solidFill>
              <a:srgbClr val="000000">
                <a:alpha val="0"/>
              </a:srgbClr>
            </a:solidFill>
            <a:prstDash val="solid"/>
          </a:ln>
        </p:spPr>
      </p:sp>
      <p:sp>
        <p:nvSpPr>
          <p:cNvPr id="3" name="Shape 1"/>
          <p:cNvSpPr/>
          <p:nvPr/>
        </p:nvSpPr>
        <p:spPr>
          <a:xfrm>
            <a:off x="0" y="667512"/>
            <a:ext cx="9144000" cy="22860"/>
          </a:xfrm>
          <a:prstGeom prst="rect">
            <a:avLst/>
          </a:prstGeom>
          <a:solidFill>
            <a:srgbClr val="7C3AED">
              <a:alpha val="80000"/>
            </a:srgbClr>
          </a:solidFill>
          <a:ln w="12700">
            <a:solidFill>
              <a:srgbClr val="000000">
                <a:alpha val="0"/>
              </a:srgbClr>
            </a:solidFill>
            <a:prstDash val="solid"/>
          </a:ln>
        </p:spPr>
      </p:sp>
      <p:sp>
        <p:nvSpPr>
          <p:cNvPr id="4" name="Text 2"/>
          <p:cNvSpPr/>
          <p:nvPr/>
        </p:nvSpPr>
        <p:spPr>
          <a:xfrm>
            <a:off x="365760" y="0"/>
            <a:ext cx="8229600" cy="685800"/>
          </a:xfrm>
          <a:prstGeom prst="rect">
            <a:avLst/>
          </a:prstGeom>
          <a:noFill/>
        </p:spPr>
        <p:txBody>
          <a:bodyPr wrap="square" lIns="0" tIns="0" rIns="0" bIns="0" rtlCol="0" anchor="ctr"/>
          <a:lstStyle/>
          <a:p>
            <a:pPr marL="0" indent="0">
              <a:buNone/>
            </a:pPr>
            <a:r>
              <a:rPr lang="en-US" sz="2200" b="1" dirty="0">
                <a:solidFill>
                  <a:srgbClr val="F5F3FF"/>
                </a:solidFill>
                <a:latin typeface="Calibri" panose="020F0502020204030204" pitchFamily="34" charset="0"/>
                <a:ea typeface="Calibri" panose="020F0502020204030204" pitchFamily="34" charset="-122"/>
                <a:cs typeface="Calibri" panose="020F0502020204030204" pitchFamily="34" charset="-120"/>
              </a:rPr>
              <a:t>Saran untuk Penelitian Selanjutnya</a:t>
            </a:r>
            <a:endParaRPr lang="en-US" sz="2200" dirty="0"/>
          </a:p>
        </p:txBody>
      </p:sp>
      <p:sp>
        <p:nvSpPr>
          <p:cNvPr id="5" name="Shape 3"/>
          <p:cNvSpPr/>
          <p:nvPr/>
        </p:nvSpPr>
        <p:spPr>
          <a:xfrm>
            <a:off x="0" y="4983480"/>
            <a:ext cx="9144000" cy="164592"/>
          </a:xfrm>
          <a:prstGeom prst="rect">
            <a:avLst/>
          </a:prstGeom>
          <a:solidFill>
            <a:srgbClr val="13102A"/>
          </a:solidFill>
          <a:ln w="12700">
            <a:solidFill>
              <a:srgbClr val="000000">
                <a:alpha val="0"/>
              </a:srgbClr>
            </a:solidFill>
            <a:prstDash val="solid"/>
          </a:ln>
        </p:spPr>
      </p:sp>
      <p:sp>
        <p:nvSpPr>
          <p:cNvPr id="6" name="Shape 4"/>
          <p:cNvSpPr/>
          <p:nvPr/>
        </p:nvSpPr>
        <p:spPr>
          <a:xfrm>
            <a:off x="0" y="4983480"/>
            <a:ext cx="9144000" cy="18288"/>
          </a:xfrm>
          <a:prstGeom prst="rect">
            <a:avLst/>
          </a:prstGeom>
          <a:solidFill>
            <a:srgbClr val="7C3AED">
              <a:alpha val="70000"/>
            </a:srgbClr>
          </a:solidFill>
          <a:ln w="12700">
            <a:solidFill>
              <a:srgbClr val="000000">
                <a:alpha val="0"/>
              </a:srgbClr>
            </a:solidFill>
            <a:prstDash val="solid"/>
          </a:ln>
        </p:spPr>
      </p:sp>
      <p:sp>
        <p:nvSpPr>
          <p:cNvPr id="7" name="Text 5"/>
          <p:cNvSpPr/>
          <p:nvPr/>
        </p:nvSpPr>
        <p:spPr>
          <a:xfrm>
            <a:off x="274320" y="4983480"/>
            <a:ext cx="7772400" cy="164592"/>
          </a:xfrm>
          <a:prstGeom prst="rect">
            <a:avLst/>
          </a:prstGeom>
          <a:noFill/>
        </p:spPr>
        <p:txBody>
          <a:bodyPr wrap="square" lIns="0" tIns="0" rIns="0" bIns="0" rtlCol="0" anchor="ctr"/>
          <a:lstStyle/>
          <a:p>
            <a:pPr marL="0" indent="0">
              <a:buNone/>
            </a:pPr>
            <a:r>
              <a:rPr lang="en-US" sz="750" dirty="0">
                <a:solidFill>
                  <a:srgbClr val="6D6D8A"/>
                </a:solidFill>
                <a:latin typeface="Calibri" panose="020F0502020204030204" pitchFamily="34" charset="0"/>
                <a:ea typeface="Calibri" panose="020F0502020204030204" pitchFamily="34" charset="-122"/>
                <a:cs typeface="Calibri" panose="020F0502020204030204" pitchFamily="34" charset="-120"/>
              </a:rPr>
              <a:t>Shela Rahma Fitri · 24260012 · Teknik Informatika · UNUSIA Jakarta</a:t>
            </a:r>
            <a:endParaRPr lang="en-US" sz="750" dirty="0"/>
          </a:p>
        </p:txBody>
      </p:sp>
      <p:sp>
        <p:nvSpPr>
          <p:cNvPr id="8" name="Text 6"/>
          <p:cNvSpPr/>
          <p:nvPr/>
        </p:nvSpPr>
        <p:spPr>
          <a:xfrm>
            <a:off x="8503920" y="4983480"/>
            <a:ext cx="457200" cy="164592"/>
          </a:xfrm>
          <a:prstGeom prst="rect">
            <a:avLst/>
          </a:prstGeom>
          <a:noFill/>
        </p:spPr>
        <p:txBody>
          <a:bodyPr wrap="square" lIns="0" tIns="0" rIns="0" bIns="0" rtlCol="0" anchor="ctr"/>
          <a:lstStyle/>
          <a:p>
            <a:pPr marL="0" indent="0" algn="r">
              <a:buNone/>
            </a:pPr>
            <a:r>
              <a:rPr lang="en-US" sz="750" dirty="0">
                <a:solidFill>
                  <a:srgbClr val="A78BFA"/>
                </a:solidFill>
                <a:latin typeface="Calibri" panose="020F0502020204030204" pitchFamily="34" charset="0"/>
                <a:ea typeface="Calibri" panose="020F0502020204030204" pitchFamily="34" charset="-122"/>
                <a:cs typeface="Calibri" panose="020F0502020204030204" pitchFamily="34" charset="-120"/>
              </a:rPr>
              <a:t>18</a:t>
            </a:r>
            <a:endParaRPr lang="en-US" sz="750" dirty="0"/>
          </a:p>
        </p:txBody>
      </p:sp>
      <p:sp>
        <p:nvSpPr>
          <p:cNvPr id="9" name="Shape 7"/>
          <p:cNvSpPr/>
          <p:nvPr/>
        </p:nvSpPr>
        <p:spPr>
          <a:xfrm>
            <a:off x="274320" y="804672"/>
            <a:ext cx="4206240" cy="1965960"/>
          </a:xfrm>
          <a:prstGeom prst="roundRect">
            <a:avLst>
              <a:gd name="adj" fmla="val 4651"/>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0" name="Text 8"/>
          <p:cNvSpPr/>
          <p:nvPr/>
        </p:nvSpPr>
        <p:spPr>
          <a:xfrm>
            <a:off x="274320" y="877824"/>
            <a:ext cx="4206240" cy="50292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1" name="Text 9"/>
          <p:cNvSpPr/>
          <p:nvPr/>
        </p:nvSpPr>
        <p:spPr>
          <a:xfrm>
            <a:off x="274320" y="1371600"/>
            <a:ext cx="4206240" cy="347472"/>
          </a:xfrm>
          <a:prstGeom prst="rect">
            <a:avLst/>
          </a:prstGeom>
          <a:noFill/>
        </p:spPr>
        <p:txBody>
          <a:bodyPr wrap="square" lIns="0" tIns="0" rIns="0" bIns="0" rtlCol="0" anchor="ctr"/>
          <a:lstStyle/>
          <a:p>
            <a:pPr marL="0" indent="0" algn="ctr">
              <a:buNone/>
            </a:pPr>
            <a:r>
              <a:rPr lang="en-US" sz="1200" b="1" dirty="0">
                <a:solidFill>
                  <a:srgbClr val="A78BFA"/>
                </a:solidFill>
                <a:latin typeface="Calibri" panose="020F0502020204030204" pitchFamily="34" charset="0"/>
                <a:ea typeface="Calibri" panose="020F0502020204030204" pitchFamily="34" charset="-122"/>
                <a:cs typeface="Calibri" panose="020F0502020204030204" pitchFamily="34" charset="-120"/>
              </a:rPr>
              <a:t>Penambahan Fitur</a:t>
            </a:r>
            <a:endParaRPr lang="en-US" sz="1200" dirty="0"/>
          </a:p>
        </p:txBody>
      </p:sp>
      <p:sp>
        <p:nvSpPr>
          <p:cNvPr id="12" name="Shape 10"/>
          <p:cNvSpPr/>
          <p:nvPr/>
        </p:nvSpPr>
        <p:spPr>
          <a:xfrm>
            <a:off x="731520" y="1719072"/>
            <a:ext cx="3291840" cy="18288"/>
          </a:xfrm>
          <a:prstGeom prst="rect">
            <a:avLst/>
          </a:prstGeom>
          <a:solidFill>
            <a:srgbClr val="7C3AED">
              <a:alpha val="50000"/>
            </a:srgbClr>
          </a:solidFill>
          <a:ln w="12700">
            <a:solidFill>
              <a:srgbClr val="000000">
                <a:alpha val="0"/>
              </a:srgbClr>
            </a:solidFill>
            <a:prstDash val="solid"/>
          </a:ln>
        </p:spPr>
      </p:sp>
      <p:sp>
        <p:nvSpPr>
          <p:cNvPr id="13" name="Text 11"/>
          <p:cNvSpPr/>
          <p:nvPr/>
        </p:nvSpPr>
        <p:spPr>
          <a:xfrm>
            <a:off x="274320" y="1773936"/>
            <a:ext cx="4206240" cy="914400"/>
          </a:xfrm>
          <a:prstGeom prst="rect">
            <a:avLst/>
          </a:prstGeom>
          <a:noFill/>
        </p:spPr>
        <p:txBody>
          <a:bodyPr wrap="square" lIns="50800" tIns="127000" rIns="127000" bIns="50800" rtlCol="0" anchor="t"/>
          <a:lstStyle/>
          <a:p>
            <a:pPr marL="0" indent="0" algn="ctr">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Penelitian selanjutnya dapat menambahkan fitur Gender atau data transaksi yang lebih detail untuk memperkaya hasil segmentasi dan meningkatkan kualitas clustering.</a:t>
            </a:r>
            <a:endParaRPr lang="en-US" sz="950" dirty="0"/>
          </a:p>
        </p:txBody>
      </p:sp>
      <p:sp>
        <p:nvSpPr>
          <p:cNvPr id="14" name="Shape 12"/>
          <p:cNvSpPr/>
          <p:nvPr/>
        </p:nvSpPr>
        <p:spPr>
          <a:xfrm>
            <a:off x="4709160" y="804672"/>
            <a:ext cx="4206240" cy="1965960"/>
          </a:xfrm>
          <a:prstGeom prst="roundRect">
            <a:avLst>
              <a:gd name="adj" fmla="val 4651"/>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15" name="Text 13"/>
          <p:cNvSpPr/>
          <p:nvPr/>
        </p:nvSpPr>
        <p:spPr>
          <a:xfrm>
            <a:off x="4709160" y="877824"/>
            <a:ext cx="4206240" cy="50292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4709160" y="1371600"/>
            <a:ext cx="4206240" cy="347472"/>
          </a:xfrm>
          <a:prstGeom prst="rect">
            <a:avLst/>
          </a:prstGeom>
          <a:noFill/>
        </p:spPr>
        <p:txBody>
          <a:bodyPr wrap="square" lIns="0" tIns="0" rIns="0" bIns="0" rtlCol="0" anchor="ctr"/>
          <a:lstStyle/>
          <a:p>
            <a:pPr marL="0" indent="0" algn="ctr">
              <a:buNone/>
            </a:pPr>
            <a:r>
              <a:rPr lang="en-US" sz="1200" b="1" dirty="0">
                <a:solidFill>
                  <a:srgbClr val="A78BFA"/>
                </a:solidFill>
                <a:latin typeface="Calibri" panose="020F0502020204030204" pitchFamily="34" charset="0"/>
                <a:ea typeface="Calibri" panose="020F0502020204030204" pitchFamily="34" charset="-122"/>
                <a:cs typeface="Calibri" panose="020F0502020204030204" pitchFamily="34" charset="-120"/>
              </a:rPr>
              <a:t>Perbandingan Metode</a:t>
            </a:r>
            <a:endParaRPr lang="en-US" sz="1200" dirty="0"/>
          </a:p>
        </p:txBody>
      </p:sp>
      <p:sp>
        <p:nvSpPr>
          <p:cNvPr id="17" name="Shape 15"/>
          <p:cNvSpPr/>
          <p:nvPr/>
        </p:nvSpPr>
        <p:spPr>
          <a:xfrm>
            <a:off x="5166360" y="1719072"/>
            <a:ext cx="3291840" cy="18288"/>
          </a:xfrm>
          <a:prstGeom prst="rect">
            <a:avLst/>
          </a:prstGeom>
          <a:solidFill>
            <a:srgbClr val="7C3AED">
              <a:alpha val="50000"/>
            </a:srgbClr>
          </a:solidFill>
          <a:ln w="12700">
            <a:solidFill>
              <a:srgbClr val="000000">
                <a:alpha val="0"/>
              </a:srgbClr>
            </a:solidFill>
            <a:prstDash val="solid"/>
          </a:ln>
        </p:spPr>
      </p:sp>
      <p:sp>
        <p:nvSpPr>
          <p:cNvPr id="18" name="Text 16"/>
          <p:cNvSpPr/>
          <p:nvPr/>
        </p:nvSpPr>
        <p:spPr>
          <a:xfrm>
            <a:off x="4709160" y="1773936"/>
            <a:ext cx="4206240" cy="914400"/>
          </a:xfrm>
          <a:prstGeom prst="rect">
            <a:avLst/>
          </a:prstGeom>
          <a:noFill/>
        </p:spPr>
        <p:txBody>
          <a:bodyPr wrap="square" lIns="50800" tIns="127000" rIns="127000" bIns="50800" rtlCol="0" anchor="t"/>
          <a:lstStyle/>
          <a:p>
            <a:pPr marL="0" indent="0" algn="ctr">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Membandingkan performa GMM dengan metode clustering lain seperti K-Means atau DBSCAN untuk mengetahui metode yang paling optimal pada dataset serupa.</a:t>
            </a:r>
            <a:endParaRPr lang="en-US" sz="950" dirty="0"/>
          </a:p>
        </p:txBody>
      </p:sp>
      <p:sp>
        <p:nvSpPr>
          <p:cNvPr id="19" name="Shape 17"/>
          <p:cNvSpPr/>
          <p:nvPr/>
        </p:nvSpPr>
        <p:spPr>
          <a:xfrm>
            <a:off x="274320" y="2953512"/>
            <a:ext cx="4206240" cy="1965960"/>
          </a:xfrm>
          <a:prstGeom prst="roundRect">
            <a:avLst>
              <a:gd name="adj" fmla="val 4651"/>
            </a:avLst>
          </a:prstGeom>
          <a:solidFill>
            <a:srgbClr val="13102A"/>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20" name="Text 18"/>
          <p:cNvSpPr/>
          <p:nvPr/>
        </p:nvSpPr>
        <p:spPr>
          <a:xfrm>
            <a:off x="274320" y="3026664"/>
            <a:ext cx="4206240" cy="50292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1" name="Text 19"/>
          <p:cNvSpPr/>
          <p:nvPr/>
        </p:nvSpPr>
        <p:spPr>
          <a:xfrm>
            <a:off x="274320" y="3520440"/>
            <a:ext cx="4206240" cy="347472"/>
          </a:xfrm>
          <a:prstGeom prst="rect">
            <a:avLst/>
          </a:prstGeom>
          <a:noFill/>
        </p:spPr>
        <p:txBody>
          <a:bodyPr wrap="square" lIns="0" tIns="0" rIns="0" bIns="0" rtlCol="0" anchor="ctr"/>
          <a:lstStyle/>
          <a:p>
            <a:pPr marL="0" indent="0" algn="ctr">
              <a:buNone/>
            </a:pPr>
            <a:r>
              <a:rPr lang="en-US" sz="1200" b="1" dirty="0">
                <a:solidFill>
                  <a:srgbClr val="A78BFA"/>
                </a:solidFill>
                <a:latin typeface="Calibri" panose="020F0502020204030204" pitchFamily="34" charset="0"/>
                <a:ea typeface="Calibri" panose="020F0502020204030204" pitchFamily="34" charset="-122"/>
                <a:cs typeface="Calibri" panose="020F0502020204030204" pitchFamily="34" charset="-120"/>
              </a:rPr>
              <a:t>Implementasi Strategi Pemasaran</a:t>
            </a:r>
            <a:endParaRPr lang="en-US" sz="1200" dirty="0"/>
          </a:p>
        </p:txBody>
      </p:sp>
      <p:sp>
        <p:nvSpPr>
          <p:cNvPr id="22" name="Shape 20"/>
          <p:cNvSpPr/>
          <p:nvPr/>
        </p:nvSpPr>
        <p:spPr>
          <a:xfrm>
            <a:off x="731520" y="3867912"/>
            <a:ext cx="3291840" cy="18288"/>
          </a:xfrm>
          <a:prstGeom prst="rect">
            <a:avLst/>
          </a:prstGeom>
          <a:solidFill>
            <a:srgbClr val="7C3AED">
              <a:alpha val="50000"/>
            </a:srgbClr>
          </a:solidFill>
          <a:ln w="12700">
            <a:solidFill>
              <a:srgbClr val="000000">
                <a:alpha val="0"/>
              </a:srgbClr>
            </a:solidFill>
            <a:prstDash val="solid"/>
          </a:ln>
        </p:spPr>
      </p:sp>
      <p:sp>
        <p:nvSpPr>
          <p:cNvPr id="23" name="Text 21"/>
          <p:cNvSpPr/>
          <p:nvPr/>
        </p:nvSpPr>
        <p:spPr>
          <a:xfrm>
            <a:off x="274320" y="3922776"/>
            <a:ext cx="4206240" cy="914400"/>
          </a:xfrm>
          <a:prstGeom prst="rect">
            <a:avLst/>
          </a:prstGeom>
          <a:noFill/>
        </p:spPr>
        <p:txBody>
          <a:bodyPr wrap="square" lIns="50800" tIns="127000" rIns="127000" bIns="50800" rtlCol="0" anchor="t"/>
          <a:lstStyle/>
          <a:p>
            <a:pPr marL="0" indent="0" algn="ctr">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Hasil segmentasi dapat ditindaklanjuti dengan penyusunan strategi pemasaran spesifik per cluster dan diuji dampaknya terhadap peningkatan penjualan atau loyalitas pelanggan.</a:t>
            </a:r>
            <a:endParaRPr lang="en-US" sz="950" dirty="0"/>
          </a:p>
        </p:txBody>
      </p:sp>
      <p:sp>
        <p:nvSpPr>
          <p:cNvPr id="24" name="Shape 22"/>
          <p:cNvSpPr/>
          <p:nvPr/>
        </p:nvSpPr>
        <p:spPr>
          <a:xfrm>
            <a:off x="4709160" y="2953512"/>
            <a:ext cx="4206240" cy="1965960"/>
          </a:xfrm>
          <a:prstGeom prst="roundRect">
            <a:avLst>
              <a:gd name="adj" fmla="val 4651"/>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25" name="Text 23"/>
          <p:cNvSpPr/>
          <p:nvPr/>
        </p:nvSpPr>
        <p:spPr>
          <a:xfrm>
            <a:off x="4709160" y="3026664"/>
            <a:ext cx="4206240" cy="50292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4709160" y="3520440"/>
            <a:ext cx="4206240" cy="347472"/>
          </a:xfrm>
          <a:prstGeom prst="rect">
            <a:avLst/>
          </a:prstGeom>
          <a:noFill/>
        </p:spPr>
        <p:txBody>
          <a:bodyPr wrap="square" lIns="0" tIns="0" rIns="0" bIns="0" rtlCol="0" anchor="ctr"/>
          <a:lstStyle/>
          <a:p>
            <a:pPr marL="0" indent="0" algn="ctr">
              <a:buNone/>
            </a:pPr>
            <a:r>
              <a:rPr lang="en-US" sz="1200" b="1" dirty="0">
                <a:solidFill>
                  <a:srgbClr val="A78BFA"/>
                </a:solidFill>
                <a:latin typeface="Calibri" panose="020F0502020204030204" pitchFamily="34" charset="0"/>
                <a:ea typeface="Calibri" panose="020F0502020204030204" pitchFamily="34" charset="-122"/>
                <a:cs typeface="Calibri" panose="020F0502020204030204" pitchFamily="34" charset="-120"/>
              </a:rPr>
              <a:t>Reduksi Dimensi (PCA)</a:t>
            </a:r>
            <a:endParaRPr lang="en-US" sz="1200" dirty="0"/>
          </a:p>
        </p:txBody>
      </p:sp>
      <p:sp>
        <p:nvSpPr>
          <p:cNvPr id="27" name="Shape 25"/>
          <p:cNvSpPr/>
          <p:nvPr/>
        </p:nvSpPr>
        <p:spPr>
          <a:xfrm>
            <a:off x="5166360" y="3867912"/>
            <a:ext cx="3291840" cy="18288"/>
          </a:xfrm>
          <a:prstGeom prst="rect">
            <a:avLst/>
          </a:prstGeom>
          <a:solidFill>
            <a:srgbClr val="7C3AED">
              <a:alpha val="50000"/>
            </a:srgbClr>
          </a:solidFill>
          <a:ln w="12700">
            <a:solidFill>
              <a:srgbClr val="000000">
                <a:alpha val="0"/>
              </a:srgbClr>
            </a:solidFill>
            <a:prstDash val="solid"/>
          </a:ln>
        </p:spPr>
      </p:sp>
      <p:sp>
        <p:nvSpPr>
          <p:cNvPr id="28" name="Text 26"/>
          <p:cNvSpPr/>
          <p:nvPr/>
        </p:nvSpPr>
        <p:spPr>
          <a:xfrm>
            <a:off x="4709160" y="3922776"/>
            <a:ext cx="4206240" cy="914400"/>
          </a:xfrm>
          <a:prstGeom prst="rect">
            <a:avLst/>
          </a:prstGeom>
          <a:noFill/>
        </p:spPr>
        <p:txBody>
          <a:bodyPr wrap="square" lIns="50800" tIns="127000" rIns="127000" bIns="50800" rtlCol="0" anchor="t"/>
          <a:lstStyle/>
          <a:p>
            <a:pPr marL="0" indent="0" algn="ctr">
              <a:buNone/>
            </a:pPr>
            <a:r>
              <a:rPr lang="en-US" sz="950" dirty="0">
                <a:solidFill>
                  <a:srgbClr val="F5F3FF"/>
                </a:solidFill>
                <a:latin typeface="Calibri" panose="020F0502020204030204" pitchFamily="34" charset="0"/>
                <a:ea typeface="Calibri" panose="020F0502020204030204" pitchFamily="34" charset="-122"/>
                <a:cs typeface="Calibri" panose="020F0502020204030204" pitchFamily="34" charset="-120"/>
              </a:rPr>
              <a:t>Mengeksplorasi penggunaan Principal Component Analysis (PCA) sebelum proses clustering untuk mengetahui pengaruhnya terhadap kualitas segmentasi pelanggan.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80816"/>
        </a:solidFill>
        <a:effectLst/>
      </p:bgPr>
    </p:bg>
    <p:spTree>
      <p:nvGrpSpPr>
        <p:cNvPr id="1" name=""/>
        <p:cNvGrpSpPr/>
        <p:nvPr/>
      </p:nvGrpSpPr>
      <p:grpSpPr>
        <a:xfrm>
          <a:off x="0" y="0"/>
          <a:ext cx="0" cy="0"/>
          <a:chOff x="0" y="0"/>
          <a:chExt cx="0" cy="0"/>
        </a:xfrm>
      </p:grpSpPr>
      <p:sp>
        <p:nvSpPr>
          <p:cNvPr id="2" name="Shape 0"/>
          <p:cNvSpPr/>
          <p:nvPr/>
        </p:nvSpPr>
        <p:spPr>
          <a:xfrm>
            <a:off x="-1828800" y="-1828800"/>
            <a:ext cx="7315200" cy="7315200"/>
          </a:xfrm>
          <a:prstGeom prst="ellipse">
            <a:avLst/>
          </a:prstGeom>
          <a:solidFill>
            <a:srgbClr val="4C1D95">
              <a:alpha val="20000"/>
            </a:srgbClr>
          </a:solidFill>
          <a:ln w="12700">
            <a:solidFill>
              <a:srgbClr val="000000">
                <a:alpha val="0"/>
              </a:srgbClr>
            </a:solidFill>
            <a:prstDash val="solid"/>
          </a:ln>
        </p:spPr>
      </p:sp>
      <p:sp>
        <p:nvSpPr>
          <p:cNvPr id="3" name="Shape 1"/>
          <p:cNvSpPr/>
          <p:nvPr/>
        </p:nvSpPr>
        <p:spPr>
          <a:xfrm>
            <a:off x="5029200" y="1371600"/>
            <a:ext cx="5486400" cy="5486400"/>
          </a:xfrm>
          <a:prstGeom prst="ellipse">
            <a:avLst/>
          </a:prstGeom>
          <a:solidFill>
            <a:srgbClr val="7C3AED">
              <a:alpha val="12000"/>
            </a:srgbClr>
          </a:solidFill>
          <a:ln w="12700">
            <a:solidFill>
              <a:srgbClr val="000000">
                <a:alpha val="0"/>
              </a:srgbClr>
            </a:solidFill>
            <a:prstDash val="solid"/>
          </a:ln>
        </p:spPr>
      </p:sp>
      <p:sp>
        <p:nvSpPr>
          <p:cNvPr id="4" name="Text 2"/>
          <p:cNvSpPr/>
          <p:nvPr/>
        </p:nvSpPr>
        <p:spPr>
          <a:xfrm>
            <a:off x="457200" y="731520"/>
            <a:ext cx="8229600" cy="914400"/>
          </a:xfrm>
          <a:prstGeom prst="rect">
            <a:avLst/>
          </a:prstGeom>
          <a:noFill/>
        </p:spPr>
        <p:txBody>
          <a:bodyPr wrap="square" lIns="0" tIns="0" rIns="0" bIns="0" rtlCol="0" anchor="ctr"/>
          <a:lstStyle/>
          <a:p>
            <a:pPr marL="0" indent="0" algn="ctr">
              <a:buNone/>
            </a:pPr>
            <a:r>
              <a:rPr lang="en-US" sz="4400" b="1" kern="0" spc="800" dirty="0">
                <a:solidFill>
                  <a:srgbClr val="F5F3FF"/>
                </a:solidFill>
                <a:latin typeface="Cambria" panose="02040503050406030204" pitchFamily="34" charset="0"/>
                <a:ea typeface="Cambria" panose="02040503050406030204" pitchFamily="34" charset="-122"/>
                <a:cs typeface="Cambria" panose="02040503050406030204" pitchFamily="34" charset="-120"/>
              </a:rPr>
              <a:t>TERIMA KASIH</a:t>
            </a:r>
            <a:endParaRPr lang="en-US" sz="4400" dirty="0"/>
          </a:p>
        </p:txBody>
      </p:sp>
      <p:sp>
        <p:nvSpPr>
          <p:cNvPr id="5" name="Shape 3"/>
          <p:cNvSpPr/>
          <p:nvPr/>
        </p:nvSpPr>
        <p:spPr>
          <a:xfrm>
            <a:off x="1828800" y="1755648"/>
            <a:ext cx="5486400" cy="36576"/>
          </a:xfrm>
          <a:prstGeom prst="rect">
            <a:avLst/>
          </a:prstGeom>
          <a:solidFill>
            <a:srgbClr val="7C3AED">
              <a:alpha val="70000"/>
            </a:srgbClr>
          </a:solidFill>
          <a:ln w="12700">
            <a:solidFill>
              <a:srgbClr val="000000">
                <a:alpha val="0"/>
              </a:srgbClr>
            </a:solidFill>
            <a:prstDash val="solid"/>
          </a:ln>
        </p:spPr>
      </p:sp>
      <p:sp>
        <p:nvSpPr>
          <p:cNvPr id="6" name="Text 4"/>
          <p:cNvSpPr/>
          <p:nvPr/>
        </p:nvSpPr>
        <p:spPr>
          <a:xfrm>
            <a:off x="457200" y="1828800"/>
            <a:ext cx="8229600" cy="411480"/>
          </a:xfrm>
          <a:prstGeom prst="rect">
            <a:avLst/>
          </a:prstGeom>
          <a:noFill/>
        </p:spPr>
        <p:txBody>
          <a:bodyPr wrap="square" lIns="0" tIns="0" rIns="0" bIns="0" rtlCol="0" anchor="ctr"/>
          <a:lstStyle/>
          <a:p>
            <a:pPr marL="0" indent="0" algn="ctr">
              <a:buNone/>
            </a:pPr>
            <a:r>
              <a:rPr lang="en-US" sz="1300" i="1" dirty="0">
                <a:solidFill>
                  <a:srgbClr val="A78BFA"/>
                </a:solidFill>
                <a:latin typeface="Calibri" panose="020F0502020204030204" pitchFamily="34" charset="0"/>
                <a:ea typeface="Calibri" panose="020F0502020204030204" pitchFamily="34" charset="-122"/>
                <a:cs typeface="Calibri" panose="020F0502020204030204" pitchFamily="34" charset="-120"/>
              </a:rPr>
              <a:t>Segmentasi Pelanggan Mall Menggunakan Gaussian Mixture Model (GMM)</a:t>
            </a:r>
            <a:endParaRPr lang="en-US" sz="1300" dirty="0"/>
          </a:p>
        </p:txBody>
      </p:sp>
      <p:sp>
        <p:nvSpPr>
          <p:cNvPr id="7" name="Text 5"/>
          <p:cNvSpPr/>
          <p:nvPr/>
        </p:nvSpPr>
        <p:spPr>
          <a:xfrm>
            <a:off x="457200" y="2240280"/>
            <a:ext cx="8229600" cy="320040"/>
          </a:xfrm>
          <a:prstGeom prst="rect">
            <a:avLst/>
          </a:prstGeom>
          <a:noFill/>
        </p:spPr>
        <p:txBody>
          <a:bodyPr wrap="square" lIns="0" tIns="0" rIns="0" bIns="0" rtlCol="0" anchor="ctr"/>
          <a:lstStyle/>
          <a:p>
            <a:pPr marL="0" indent="0" algn="ctr">
              <a:buNone/>
            </a:pPr>
            <a:r>
              <a:rPr lang="en-US" sz="1100" i="1" dirty="0">
                <a:solidFill>
                  <a:srgbClr val="6D6D8A"/>
                </a:solidFill>
                <a:latin typeface="Calibri" panose="020F0502020204030204" pitchFamily="34" charset="0"/>
                <a:ea typeface="Calibri" panose="020F0502020204030204" pitchFamily="34" charset="-122"/>
                <a:cs typeface="Calibri" panose="020F0502020204030204" pitchFamily="34" charset="-120"/>
              </a:rPr>
              <a:t>Berdasarkan Usia, Pendapatan Tahunan, dan Skor Pengeluaran</a:t>
            </a:r>
            <a:endParaRPr lang="en-US" sz="1100" dirty="0"/>
          </a:p>
        </p:txBody>
      </p:sp>
      <p:sp>
        <p:nvSpPr>
          <p:cNvPr id="8" name="Shape 6"/>
          <p:cNvSpPr/>
          <p:nvPr/>
        </p:nvSpPr>
        <p:spPr>
          <a:xfrm>
            <a:off x="2560320" y="2724912"/>
            <a:ext cx="4023360" cy="1417320"/>
          </a:xfrm>
          <a:prstGeom prst="roundRect">
            <a:avLst>
              <a:gd name="adj" fmla="val 7742"/>
            </a:avLst>
          </a:prstGeom>
          <a:solidFill>
            <a:srgbClr val="1E1540"/>
          </a:solidFill>
          <a:ln w="10160">
            <a:solidFill>
              <a:srgbClr val="7C3AED">
                <a:alpha val="50000"/>
              </a:srgbClr>
            </a:solidFill>
            <a:prstDash val="solid"/>
          </a:ln>
          <a:effectLst>
            <a:outerShdw blurRad="228600" dist="50800" dir="8100000" algn="bl" rotWithShape="0">
              <a:srgbClr val="000000">
                <a:alpha val="50000"/>
              </a:srgbClr>
            </a:outerShdw>
          </a:effectLst>
        </p:spPr>
      </p:sp>
      <p:sp>
        <p:nvSpPr>
          <p:cNvPr id="9" name="Text 7"/>
          <p:cNvSpPr/>
          <p:nvPr/>
        </p:nvSpPr>
        <p:spPr>
          <a:xfrm>
            <a:off x="2560320" y="2724912"/>
            <a:ext cx="4023360" cy="1417320"/>
          </a:xfrm>
          <a:prstGeom prst="rect">
            <a:avLst/>
          </a:prstGeom>
          <a:noFill/>
        </p:spPr>
        <p:txBody>
          <a:bodyPr wrap="square" rtlCol="0" anchor="ctr"/>
          <a:lstStyle/>
          <a:p>
            <a:pPr marL="0" indent="0" algn="ctr">
              <a:buNone/>
            </a:pPr>
            <a:r>
              <a:rPr lang="en-US" sz="1600" b="1" dirty="0">
                <a:solidFill>
                  <a:srgbClr val="F5F3FF"/>
                </a:solidFill>
                <a:latin typeface="Calibri" panose="020F0502020204030204" pitchFamily="34" charset="0"/>
                <a:ea typeface="Calibri" panose="020F0502020204030204" pitchFamily="34" charset="-122"/>
                <a:cs typeface="Calibri" panose="020F0502020204030204" pitchFamily="34" charset="-120"/>
              </a:rPr>
              <a:t>Shela Rahma Fitri
</a:t>
            </a:r>
            <a:endParaRPr lang="en-US" sz="1600" dirty="0"/>
          </a:p>
          <a:p>
            <a:pPr marL="0" indent="0" algn="ctr">
              <a:buNone/>
            </a:pPr>
            <a:r>
              <a:rPr lang="en-US" sz="1200" dirty="0">
                <a:solidFill>
                  <a:srgbClr val="A78BFA"/>
                </a:solidFill>
                <a:latin typeface="Calibri" panose="020F0502020204030204" pitchFamily="34" charset="0"/>
                <a:ea typeface="Calibri" panose="020F0502020204030204" pitchFamily="34" charset="-122"/>
                <a:cs typeface="Calibri" panose="020F0502020204030204" pitchFamily="34" charset="-120"/>
              </a:rPr>
              <a:t>NIM: 24260012
</a:t>
            </a:r>
            <a:endParaRPr lang="en-US" sz="1600" dirty="0"/>
          </a:p>
          <a:p>
            <a:pPr marL="0" indent="0" algn="ctr">
              <a:buNone/>
            </a:pPr>
            <a:r>
              <a:rPr lang="en-US" sz="1000" dirty="0">
                <a:solidFill>
                  <a:srgbClr val="6D6D8A"/>
                </a:solidFill>
                <a:latin typeface="Calibri" panose="020F0502020204030204" pitchFamily="34" charset="0"/>
                <a:ea typeface="Calibri" panose="020F0502020204030204" pitchFamily="34" charset="-122"/>
                <a:cs typeface="Calibri" panose="020F0502020204030204" pitchFamily="34" charset="-120"/>
              </a:rPr>
              <a:t>Program Studi Teknik Informatika
</a:t>
            </a:r>
            <a:endParaRPr lang="en-US" sz="1600" dirty="0"/>
          </a:p>
          <a:p>
            <a:pPr marL="0" indent="0" algn="ctr">
              <a:buNone/>
            </a:pPr>
            <a:r>
              <a:rPr lang="en-US" sz="1000" dirty="0">
                <a:solidFill>
                  <a:srgbClr val="6D6D8A"/>
                </a:solidFill>
                <a:latin typeface="Calibri" panose="020F0502020204030204" pitchFamily="34" charset="0"/>
                <a:ea typeface="Calibri" panose="020F0502020204030204" pitchFamily="34" charset="-122"/>
                <a:cs typeface="Calibri" panose="020F0502020204030204" pitchFamily="34" charset="-120"/>
              </a:rPr>
              <a:t>Universitas Nahdlatul Ulama Indonesia · Bogor· 2026</a:t>
            </a:r>
            <a:endParaRPr lang="en-US" sz="1600" dirty="0"/>
          </a:p>
        </p:txBody>
      </p:sp>
      <p:sp>
        <p:nvSpPr>
          <p:cNvPr id="10" name="Text 8"/>
          <p:cNvSpPr/>
          <p:nvPr/>
        </p:nvSpPr>
        <p:spPr>
          <a:xfrm>
            <a:off x="457200" y="4315968"/>
            <a:ext cx="8229600" cy="347472"/>
          </a:xfrm>
          <a:prstGeom prst="rect">
            <a:avLst/>
          </a:prstGeom>
          <a:noFill/>
        </p:spPr>
        <p:txBody>
          <a:bodyPr wrap="square" lIns="0" tIns="0" rIns="0" bIns="0" rtlCol="0" anchor="ctr"/>
          <a:lstStyle/>
          <a:p>
            <a:pPr marL="0" indent="0" algn="ctr">
              <a:buNone/>
            </a:pPr>
            <a:r>
              <a:rPr lang="en-US" sz="900" i="1" dirty="0">
                <a:solidFill>
                  <a:srgbClr val="6D6D8A"/>
                </a:solidFill>
                <a:latin typeface="Calibri" panose="020F0502020204030204" pitchFamily="34" charset="0"/>
                <a:ea typeface="Calibri" panose="020F0502020204030204" pitchFamily="34" charset="-122"/>
                <a:cs typeface="Calibri" panose="020F0502020204030204" pitchFamily="34" charset="-120"/>
              </a:rPr>
              <a:t>Keywords: Customer Segmentation  ·  Gaussian Mixture Model  ·  Clustering  ·  Silhouette Score  ·  Mall Customers</a:t>
            </a:r>
            <a:endParaRPr lang="en-US" sz="900" dirty="0"/>
          </a:p>
        </p:txBody>
      </p:sp>
      <p:sp>
        <p:nvSpPr>
          <p:cNvPr id="11" name="Text 9"/>
          <p:cNvSpPr/>
          <p:nvPr/>
        </p:nvSpPr>
        <p:spPr>
          <a:xfrm>
            <a:off x="457200" y="4681728"/>
            <a:ext cx="8229600" cy="256032"/>
          </a:xfrm>
          <a:prstGeom prst="rect">
            <a:avLst/>
          </a:prstGeom>
          <a:noFill/>
        </p:spPr>
        <p:txBody>
          <a:bodyPr wrap="square" lIns="0" tIns="0" rIns="0" bIns="0" rtlCol="0" anchor="ctr"/>
          <a:lstStyle/>
          <a:p>
            <a:pPr marL="0" indent="0" algn="ctr">
              <a:buNone/>
            </a:pPr>
            <a:r>
              <a:rPr lang="en-US" sz="850" dirty="0">
                <a:solidFill>
                  <a:srgbClr val="7C3AED"/>
                </a:solidFill>
                <a:latin typeface="Calibri" panose="020F0502020204030204" pitchFamily="34" charset="0"/>
                <a:ea typeface="Calibri" panose="020F0502020204030204" pitchFamily="34" charset="-122"/>
                <a:cs typeface="Calibri" panose="020F0502020204030204" pitchFamily="34" charset="-120"/>
              </a:rPr>
              <a:t>© 2024 · UNUSIA Jakarta</a:t>
            </a:r>
            <a:endParaRPr lang="en-US" sz="850" dirty="0"/>
          </a:p>
        </p:txBody>
      </p:sp>
      <p:sp>
        <p:nvSpPr>
          <p:cNvPr id="12" name="Shape 10"/>
          <p:cNvSpPr/>
          <p:nvPr/>
        </p:nvSpPr>
        <p:spPr>
          <a:xfrm>
            <a:off x="8503920" y="182880"/>
            <a:ext cx="54864" cy="54864"/>
          </a:xfrm>
          <a:prstGeom prst="ellipse">
            <a:avLst/>
          </a:prstGeom>
          <a:solidFill>
            <a:srgbClr val="A78BFA">
              <a:alpha val="60000"/>
            </a:srgbClr>
          </a:solidFill>
          <a:ln w="12700">
            <a:solidFill>
              <a:srgbClr val="000000">
                <a:alpha val="0"/>
              </a:srgbClr>
            </a:solidFill>
            <a:prstDash val="solid"/>
          </a:ln>
        </p:spPr>
      </p:sp>
      <p:sp>
        <p:nvSpPr>
          <p:cNvPr id="13" name="Shape 11"/>
          <p:cNvSpPr/>
          <p:nvPr/>
        </p:nvSpPr>
        <p:spPr>
          <a:xfrm>
            <a:off x="8686800" y="457200"/>
            <a:ext cx="54864" cy="54864"/>
          </a:xfrm>
          <a:prstGeom prst="ellipse">
            <a:avLst/>
          </a:prstGeom>
          <a:solidFill>
            <a:srgbClr val="A78BFA">
              <a:alpha val="60000"/>
            </a:srgbClr>
          </a:solidFill>
          <a:ln w="12700">
            <a:solidFill>
              <a:srgbClr val="000000">
                <a:alpha val="0"/>
              </a:srgbClr>
            </a:solidFill>
            <a:prstDash val="solid"/>
          </a:ln>
        </p:spPr>
      </p:sp>
      <p:sp>
        <p:nvSpPr>
          <p:cNvPr id="14" name="Shape 12"/>
          <p:cNvSpPr/>
          <p:nvPr/>
        </p:nvSpPr>
        <p:spPr>
          <a:xfrm>
            <a:off x="8321040" y="502920"/>
            <a:ext cx="54864" cy="54864"/>
          </a:xfrm>
          <a:prstGeom prst="ellipse">
            <a:avLst/>
          </a:prstGeom>
          <a:solidFill>
            <a:srgbClr val="A78BFA">
              <a:alpha val="60000"/>
            </a:srgbClr>
          </a:solidFill>
          <a:ln w="12700">
            <a:solidFill>
              <a:srgbClr val="000000">
                <a:alpha val="0"/>
              </a:srgbClr>
            </a:solidFill>
            <a:prstDash val="solid"/>
          </a:ln>
        </p:spPr>
      </p:sp>
      <p:sp>
        <p:nvSpPr>
          <p:cNvPr id="15" name="Shape 13"/>
          <p:cNvSpPr/>
          <p:nvPr/>
        </p:nvSpPr>
        <p:spPr>
          <a:xfrm>
            <a:off x="274320" y="4572000"/>
            <a:ext cx="54864" cy="54864"/>
          </a:xfrm>
          <a:prstGeom prst="ellipse">
            <a:avLst/>
          </a:prstGeom>
          <a:solidFill>
            <a:srgbClr val="A78BFA">
              <a:alpha val="60000"/>
            </a:srgbClr>
          </a:solidFill>
          <a:ln w="12700">
            <a:solidFill>
              <a:srgbClr val="000000">
                <a:alpha val="0"/>
              </a:srgbClr>
            </a:solidFill>
            <a:prstDash val="solid"/>
          </a:ln>
        </p:spPr>
      </p:sp>
      <p:sp>
        <p:nvSpPr>
          <p:cNvPr id="16" name="Shape 14"/>
          <p:cNvSpPr/>
          <p:nvPr/>
        </p:nvSpPr>
        <p:spPr>
          <a:xfrm>
            <a:off x="137160" y="4846320"/>
            <a:ext cx="54864" cy="54864"/>
          </a:xfrm>
          <a:prstGeom prst="ellipse">
            <a:avLst/>
          </a:prstGeom>
          <a:solidFill>
            <a:srgbClr val="A78BFA">
              <a:alpha val="60000"/>
            </a:srgbClr>
          </a:solidFill>
          <a:ln w="12700">
            <a:solidFill>
              <a:srgbClr val="000000">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12359</Words>
  <Application>WPS Presentation</Application>
  <PresentationFormat>On-screen Show (16:9)</PresentationFormat>
  <Paragraphs>669</Paragraphs>
  <Slides>19</Slides>
  <Notes>21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19</vt:i4>
      </vt:variant>
    </vt:vector>
  </HeadingPairs>
  <TitlesOfParts>
    <vt:vector size="34" baseType="lpstr">
      <vt:lpstr>Arial</vt:lpstr>
      <vt:lpstr>SimSun</vt:lpstr>
      <vt:lpstr>Wingdings</vt:lpstr>
      <vt:lpstr>Calibri</vt:lpstr>
      <vt:lpstr>Calibri</vt:lpstr>
      <vt:lpstr>Calibri</vt:lpstr>
      <vt:lpstr>Cambria</vt:lpstr>
      <vt:lpstr>Cambria</vt:lpstr>
      <vt:lpstr>Cambria</vt:lpstr>
      <vt:lpstr>Courier New</vt:lpstr>
      <vt:lpstr>Courier New</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Segmentasi Pelanggan Mall Menggunakan GMM</dc:title>
  <dc:creator>Shela Rahma Fitri</dc:creator>
  <dc:subject>PptxGenJS Presentation</dc:subject>
  <cp:lastModifiedBy>Shela Rahma</cp:lastModifiedBy>
  <cp:revision>3</cp:revision>
  <dcterms:created xsi:type="dcterms:W3CDTF">2026-07-02T11:37:00Z</dcterms:created>
  <dcterms:modified xsi:type="dcterms:W3CDTF">2026-07-08T10:03:48Z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3153E2C55111409DACC71E6446BDDC65_13</vt:lpwstr>
  </property>
</Properties>
</file>